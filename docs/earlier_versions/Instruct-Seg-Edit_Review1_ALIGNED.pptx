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   0:00 - 0:20   |   BOTH SPEAK
- - - AMRITHA   (0:00 - 0:10) - - -
"Good morning. We are Amritha and Yugeshwaran, and this is Instruct-Seg-Edit. In one line: today's image editors decide where to edit and what to edit inside a single network."
- - - YUGESHWARAN   (0:10 - 0:20) - - -
"And our project separates those two decisions. We will both speak throughout - Amritha leads the problem and the method, I lead the literature and the results."
DELIVERY - Amritha states the claim, Yugeshwaran states the fix and sets expectations. Do not read the title.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   0:20 - 0:55   |   BOTH SPEAK
- - - AMRITHA   (0:20 - 0:40) - - -
"Ask a diffusion editor to put a hat on someone and it often changes their shirt and the background too. Localization is implicit - it happens inside the same network that generates, and nothing requires the change to stay where you asked."
- - - YUGESHWARAN   (0:40 - 0:55) - - -
"The obvious fix is inpainting, but inpainting takes the mask as an input; it cannot work out which region an instruction means. So the user just rewords the prompt and tries again. That is our research question at the bottom."
DELIVERY - Amritha takes the first column, Yugeshwaran takes the second and third and lands the research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   0:55 - 1:35   |   BOTH SPEAK
- - - AMRITHA   (0:55 - 1:17) - - -
"Our answer is to split the problem in two. Stage one is a localization model - image and instruction in, an edit mask out, supervised on the region an edit changes. Stage two is mask-conditioned diffusion: the mask enters as a fourth channel, and the loss is computed only inside it."
- - - YUGESHWARAN   (1:17 - 1:35) - - -
"And between them, the mask is shown to the user and can be corrected. The whole design rests on one idea: the mask is an explicit object, not an activation inside a denoiser. That is what makes it supervisable, measurable and correctable."
DELIVERY - Amritha walks the two stages, Yugeshwaran owns the middle box and the thesis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   1:35 - 2:10   |   BOTH SPEAK
- - - AMRITHA   (1:35 - 1:55) - - -
"This next point is what everything rests on. Take 'put a hat on the man'. Ask CLIPSeg or Grounded-SAM and you get the man - the object the phrase denotes. But the pixels that must change are the space above his head."
- - - YUGESHWARAN   (1:55 - 2:10) - - -
"Those two regions barely overlap, and two things follow. No existing text-to-mask model can be our stage one. And a corpus like COCO cannot supply our training signal either, because its masks annotate referents too."
DELIVERY - The most important slide in the deck. Amritha sets the example, Yugeshwaran draws both consequences. Slow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   2:10 - 2:32   |   BOTH SPEAK
- - - AMRITHA   (2:10 - 2:22) - - -
"That gives us five objectives. Derive the supervision that does not exist, predict the edit region from language, and confine generation to that region."
- - - YUGESHWARAN   (2:22 - 2:32) - - -
"Then give the user a point of intervention, and prove the separation is worth it against a baseline. Note the third column - every objective has a measurement that closes it."
DELIVERY - Split the list: Amritha takes one to three, Yugeshwaran four and five plus the third column.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   2:32 - 3:12   |   BOTH SPEAK
- - - AMRITHA   (2:32 - 2:52) - - -
"Our base paper is InstructPix2Pix, CVPR 2023. It takes an image and a written instruction and produces the edited image in one pass, trained on about 450,000 synthetic before-and-after pairs built with GPT-3 and Prompt-to-Prompt."
- - - YUGESHWARAN   (2:52 - 3:12) - - -
"Its limitation is that localization is never represented anywhere - it is only trained to produce a correct output image. We adopt its task, use it as our dataset generator, and use it as the baseline we must beat."
DELIVERY - State clearly that this is THE base paper. Amritha gives the method, Yugeshwaran gives the limitation and why it is our 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   |   3:12 - 3:44   |   BOTH SPEAK
- - - AMRITHA   (3:12 - 3:28) - - -
"The closest existing work is DiffEdit, ICLR 2023 - the only prior work that also derives a mask automatically. It runs diffusion twice, on the source text and the target, and takes the difference between the two noise predictions."
- - - YUGESHWARAN   (3:28 - 3:44) - - -
"But that mask is a by-product of sampling. Never trained, so it cannot improve; never evaluated alone, so its quality is unknown; never shown, so it cannot be corrected. The table compares us line by line."
DELIVERY - Amritha explains the mechanism, Yugeshwaran delivers the three-part distinction and points at the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   |   3:44 - 4:16   |   BOTH SPEAK
- - - AMRITHA   (3:44 - 4:00) - - -
"Second, SAM and Grounded-SAM - the two highest scores in our survey, 0.822 and 0.833. SAM is promptable segmentation trained on a billion masks, but its prompts are geometric. Grounded-SAM reaches language by chaining GroundingDINO in front of it."
- - - YUGESHWARAN   (4:00 - 4:16) - - -
"They still do not close our gap. They ground on the object a phrase denotes, it is two frozen models in series, and neither performs any edit. What we borrow is the promptable framing - we replace the geometric prompt with an instruction."
DELIVERY - Amritha describes both models, Yugeshwaran gives the three reasons and what we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   |   4:16 - 4:46   |   BOTH SPEAK
- - - AMRITHA   (4:16 - 4:31) - - -
"Third, our architectural base. YOLACT predicts a small set of image-wide prototype masks once, plus a short coefficient vector per instance, so each mask is a linear combination of shared prototypes - 29.8 mask AP at 33.5 frames per second."
- - - YUGESHWARAN   (4:31 - 4:46) - - -
"YOLOv8-seg pairs that with a C2f backbone, a PAN neck and Distribution Focal Loss. Neither has any language pathway - they segment eighty fixed classes. Our contribution to this lineage is the instruction-conditioning pathway we add ahead of the head."
DELIVERY - Amritha explains prototypes, Yugeshwaran does the backbone and names the gap we fill.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   |   4:46 - 5:18   |   BOTH SPEAK
- - - AMRITHA   (4:46 - 5:02) - - -
"Here are all four scored on the capabilities we need. InstructPix2Pix edits but produces no mask. DiffEdit produces one but never supervises it. Grounded-SAM produces a supervised-quality mask but performs no edit. YOLOv8 has no language at all."
- - - YUGESHWARAN   (5:02 - 5:18) - - -
"The bottom row is ours, and no existing work fills it. So what we are planning to work on is exactly this: take the localization decision out of InstructPix2Pix's U-Net and give it to a dedicated supervised model, conditioned on the instruction."
DELIVERY - Amritha reads across the four rows, Yugeshwaran delivers the planned-work statement. Say it slowly - this is what the panel is listening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11   |   5:18 - 5:42   |   BOTH SPEAK
- - - AMRITHA   (5:18 - 5:30) - - -
"Five research gaps follow from that. Localization is implicit and cannot be inspected. Inpainting needs a mask it cannot derive. And referring segmentation is trained on the wrong objective."
- - - YUGESHWARAN   (5:30 - 5:42) - - -
"Fourth, no public dataset carries the image, instruction, edited image and mask together. And fifth, there is no point of user intervention. The right column is our technique against each one."
DELIVERY - Split the five: Amritha G1 to G3, Yugeshwaran G4, G5 and the right column.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12   |   5:42 - 6:12   |   BOTH SPEAK
- - - AMRITHA   (5:42 - 5:58) - - -
"Stage one derives from YOLOv8. An image encoder and a CLIP text encoder feed a hybrid attention module that fuses the image and text latents. We chose CLIP because it is already trained for image-text alignment."
- - - YUGESHWARAN   (5:58 - 6:12) - - -
"The backbone is CSP-style with C2f modules, the neck a PAN-style FPN, and the head YOLACT-style with thirty-two shared prototypes. We should be honest that the text encoder is specified but not yet implemented."
DELIVERY - Amritha does the conditioning path, Yugeshwaran does the vision path and volunteers the outstanding piece.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13   |   6:12 - 6:34   |   BOTH SPEAK
- - - AMRITHA   (6:12 - 6:24) - - -
"On capacity - 73.6 million parameters, itemised with subtotals so the total can be checked directly rather than taken on trust."
- - - YUGESHWARAN   (6:24 - 6:34) - - -
"The point is the ratio. Backbone and neck hold 87 percent; the head is deliberately cheap because prototypes are shared. Stock YOLOv8x-seg is 71.8 million - our difference is the instruction-conditioning pathway."
DELIVERY - Amritha states the total, Yugeshwaran explains the distribution and the comparison.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14   |   6:34 - 7:08   |   BOTH SPEAK
- - - AMRITHA   (6:34 - 6:52) - - -
"Now the dataset, and this is our most consequential decision. Stage one needs four fields: image, instruction, edited image, and mask. Public corpora give you the image and its captions, and stop there."
- - - YUGESHWARAN   (6:52 - 7:08) - - -
"The obvious challenge is why not MSCOCO-seg, with 118,000 images and 860,000 masks. The answer is the slide we saw earlier - a COCO mask annotates the referent, not the edit region. So COCO stays, strictly as detection pre-training."
DELIVERY - Amritha sets up the four fields, Yugeshwaran answers the COCO challenge. Pre-empt it before it is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15   |   7:08 - 7:32   |   BOTH SPEAK
- - - AMRITHA   (7:08 - 7:20) - - -
"The pipeline has four stages, each writing to disk so it is resumable. PixelProse supplies the image with a human caption and a machine caption, and a vision-language model emits one concrete edit instruction."
- - - YUGESHWARAN   (7:20 - 7:32) - - -
"A diffusion editor applies it, and then we recover the mask. Resumability matters - at twenty thousand records over URLs that rot, a pipeline that cannot resume never finishes. All four stages are running."
DELIVERY - Amritha takes steps one and two, Yugeshwaran three and four plus resumability.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16   |   7:32 - 8:06   |   BOTH SPEAK
- - - AMRITHA   (7:32 - 7:50) - - -
"Recovering the mask is the part we first got wrong. Our original method took a grayscale difference - but grayscale throws away hue. A mid-tone red car turned blue measures just 26, below our threshold, and vanishes entirely. In L a b it measures 105."
- - - YUGESHWARAN   (7:50 - 8:06) - - -
"That mattered because this corpus is dominated by colour words - we would have silently lost colour edits. The final method is CIE76 delta-E, threshold twelve, with morphological cleanup, and the cleanup is what makes that sensitivity usable."
DELIVERY - Amritha tells the failure, Yugeshwaran the consequence and the fix. Concede the threshold was tuned on synthetic noise.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17   |   8:06 - 8:40   |   BOTH SPEAK
- - - AMRITHA   (8:06 - 8:22) - - -
"We analysed all 1,290,861 source records. The headline is the figure on the right - the median similarity between an image's own two captions is 0.053. More than half of all images share essentially no vocabulary between their human and machine captions."
- - - YUGESHWARAN   (8:22 - 8:40) - - -
"That justifies a design decision. We feed the generator both captions, and this shows it is not redundancy - one carries framing, the other visual detail. The corpus is also dominated by colour words, which is why mask extraction moved to L a b."
DELIVERY - Our strongest original result. Amritha gives the number, Yugeshwaran gives what it justifies.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18   |   8:40 - 9:04   |   BOTH SPEAK
- - - AMRITHA   (8:40 - 8:52) - - -
"Where we stand. All four generation stages are running, mask extraction is verified, and the full corpus analysis is complete."
- - - YUGESHWARAN   (8:52 - 9:04) - - -
"The segmenter builds, runs a forward pass and trains, but is not yet instruction-conditioned, and stage two is not started. Note the last row - on a colour-only edit the old method recovered nothing."
DELIVERY - Amritha reads what is done, Yugeshwaran what is not, plus the verification headline.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19   |   9:04 - 9:24   |   BOTH SPEAK
- - - AMRITHA   (9:04 - 9:14) - - -
"Evaluation. Localization by IoU and Dice. Editing by LPIPS inside the mask, FID, and CLIP similarity. Efficiency by latency and frames per second."
- - - YUGESHWARAN   (9:14 - 9:24) - - -
"The baseline is end-to-end InstructPix2Pix on identical instructions, because measuring ourselves alone would prove nothing. And we can measure the two halves separately only because they are separate models."
DELIVERY - Amritha the metrics, Yugeshwaran the baseline and the payoff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20   |   9:24 - 9:44   |   BOTH SPEAK
- - - AMRITHA   (9:24 - 9:34) - - -
"Four limitations we would rather state than be asked about. Our supervision is partly circular - the masks come from a diffusion editor, so we inherit its biases. And the threshold was tuned on simulated noise."
- - - YUGESHWARAN   (9:34 - 9:44) - - -
"The realized dataset will also be smaller than the twenty thousand sampled, because web URLs rot. And stage two is not built. Each of those has a concrete experiment attached rather than a defence."
DELIVERY - Two each. Do not linger - this reads as rigour, not weakness.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21   |   9:44 - 10:04   |   BOTH SPEAK
- - - AMRITHA   (9:44 - 9:54) - - -
"Our plan to Review 2. First finish generation, then add the text encoder so the model is genuinely instruction-conditioned rather than point-prompted."
- - - YUGESHWARAN   (9:54 - 10:04) - - -
"Then pre-train on COCO, fine-tune on our masks, and report IoU and Dice. Finally build stage two and run the comparison. The second phase is the honest one - our code and our design have to converge."
DELIVERY - Amritha the first two phases, Yugeshwaran the last two and the honest admission.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22   |   10:04 - 10:26   |   BOTH SPEAK
- - - AMRITHA   (10:04 - 10:15) - - -
"To close - four contributions. Localization and editing disentangled into separate models, and the edit region supervised with real ground truth instead of emerging inside an attention map."
- - - YUGESHWARAN   (10:15 - 10:26) - - -
"A human intervention point no end-to-end editor offers, and a mask you can inspect and measure. No work in our survey reaches the full set. Thank you - we are happy to take questions."
DELIVERY - Two contributions each. Yugeshwaran closes and invites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23   |   during questions   |   BOTH
- - - AMRITHA - - -
"Our references are on screen."
- - - YUGESHWARAN - - -
"Happy to take any questions."
-------------------------------------------------------------------
FORMAT - every slide has a turn for each of you. Amritha opens on
odd-numbered slides, Yugeshwaran opens on slides 8, 10, 11 and 17.
The second speaker always carries the consequence or the "so what",
which is what keeps the handover from sounding mechanical.
TIMING
  Total scripted     approx 10 min 25 sec
  Amritha            approx 50 percent
  Yugeshwaran        approx 50 percent
REHEARSE - the 23 handovers are where two-person talks lose time.
Agree a physical cue (a step back, a nod) so you never both pause.
IF RUNNING LONG, cut in this order: slide 15 (pipeline), slide 19
(evaluation), slide 13 (parameters).
NEVER cut slides 4, 6, 10 or 17 - the crux, the base paper, the
planned-work statement, and our one original result.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1051560"/>
            <a:ext cx="10058400" cy="274320"/>
          </a:xfrm>
          <a:prstGeom prst="rect">
            <a:avLst/>
          </a:prstGeom>
          <a:noFill/>
          <a:ln/>
        </p:spPr>
        <p:txBody>
          <a:bodyPr wrap="square" lIns="0" tIns="0" rIns="0" bIns="0" rtlCol="0" anchor="ctr"/>
          <a:lstStyle/>
          <a:p>
            <a:pPr indent="0" marL="0">
              <a:buNone/>
            </a:pPr>
            <a:r>
              <a:rPr lang="en-US" sz="1150" b="1" spc="160" kern="0" dirty="0">
                <a:solidFill>
                  <a:srgbClr val="6E6E6E"/>
                </a:solidFill>
                <a:latin typeface="Calibri" pitchFamily="34" charset="0"/>
                <a:ea typeface="Calibri" pitchFamily="34" charset="-122"/>
                <a:cs typeface="Calibri" pitchFamily="34" charset="-120"/>
              </a:rPr>
              <a:t>VELLORE INSTITUTE OF TECHNOLOGY, CHENNAI</a:t>
            </a:r>
            <a:endParaRPr lang="en-US" sz="1150" dirty="0"/>
          </a:p>
        </p:txBody>
      </p:sp>
      <p:sp>
        <p:nvSpPr>
          <p:cNvPr id="3" name="Text 1"/>
          <p:cNvSpPr/>
          <p:nvPr/>
        </p:nvSpPr>
        <p:spPr>
          <a:xfrm>
            <a:off x="777240" y="1335024"/>
            <a:ext cx="10058400" cy="274320"/>
          </a:xfrm>
          <a:prstGeom prst="rect">
            <a:avLst/>
          </a:prstGeom>
          <a:noFill/>
          <a:ln/>
        </p:spPr>
        <p:txBody>
          <a:bodyPr wrap="square" lIns="0" tIns="0" rIns="0" bIns="0" rtlCol="0" anchor="ctr"/>
          <a:lstStyle/>
          <a:p>
            <a:pPr indent="0" marL="0">
              <a:buNone/>
            </a:pPr>
            <a:r>
              <a:rPr lang="en-US" sz="1150" dirty="0">
                <a:solidFill>
                  <a:srgbClr val="9A9A9A"/>
                </a:solidFill>
                <a:latin typeface="Calibri" pitchFamily="34" charset="0"/>
                <a:ea typeface="Calibri" pitchFamily="34" charset="-122"/>
                <a:cs typeface="Calibri" pitchFamily="34" charset="-120"/>
              </a:rPr>
              <a:t>School of Electronics Engineering  ·  Foundations of Data Science</a:t>
            </a:r>
            <a:endParaRPr lang="en-US" sz="1150" dirty="0"/>
          </a:p>
        </p:txBody>
      </p:sp>
      <p:sp>
        <p:nvSpPr>
          <p:cNvPr id="4" name="Text 2"/>
          <p:cNvSpPr/>
          <p:nvPr/>
        </p:nvSpPr>
        <p:spPr>
          <a:xfrm>
            <a:off x="777240" y="2084832"/>
            <a:ext cx="10607040" cy="1051560"/>
          </a:xfrm>
          <a:prstGeom prst="rect">
            <a:avLst/>
          </a:prstGeom>
          <a:noFill/>
          <a:ln/>
        </p:spPr>
        <p:txBody>
          <a:bodyPr wrap="square" lIns="0" tIns="0" rIns="0" bIns="0" rtlCol="0" anchor="ctr"/>
          <a:lstStyle/>
          <a:p>
            <a:pPr indent="0" marL="0">
              <a:buNone/>
            </a:pPr>
            <a:r>
              <a:rPr lang="en-US" sz="5800" b="1" dirty="0">
                <a:solidFill>
                  <a:srgbClr val="1A1A1A"/>
                </a:solidFill>
                <a:latin typeface="Cambria" pitchFamily="34" charset="0"/>
                <a:ea typeface="Cambria" pitchFamily="34" charset="-122"/>
                <a:cs typeface="Cambria" pitchFamily="34" charset="-120"/>
              </a:rPr>
              <a:t>Instruct-Seg-Edit</a:t>
            </a:r>
            <a:endParaRPr lang="en-US" sz="5800" dirty="0"/>
          </a:p>
        </p:txBody>
      </p:sp>
      <p:sp>
        <p:nvSpPr>
          <p:cNvPr id="5" name="Text 3"/>
          <p:cNvSpPr/>
          <p:nvPr/>
        </p:nvSpPr>
        <p:spPr>
          <a:xfrm>
            <a:off x="777240" y="3127248"/>
            <a:ext cx="8778240" cy="658368"/>
          </a:xfrm>
          <a:prstGeom prst="rect">
            <a:avLst/>
          </a:prstGeom>
          <a:noFill/>
          <a:ln/>
        </p:spPr>
        <p:txBody>
          <a:bodyPr wrap="square" lIns="0" tIns="0" rIns="0" bIns="0" rtlCol="0" anchor="ctr"/>
          <a:lstStyle/>
          <a:p>
            <a:pPr indent="0" marL="0">
              <a:lnSpc>
                <a:spcPts val="2600"/>
              </a:lnSpc>
              <a:buNone/>
            </a:pPr>
            <a:r>
              <a:rPr lang="en-US" sz="1900" dirty="0">
                <a:solidFill>
                  <a:srgbClr val="6E6E6E"/>
                </a:solidFill>
                <a:latin typeface="Cambria" pitchFamily="34" charset="0"/>
                <a:ea typeface="Cambria" pitchFamily="34" charset="-122"/>
                <a:cs typeface="Cambria" pitchFamily="34" charset="-120"/>
              </a:rPr>
              <a:t>Disentangling Localization from Editing in Instruction-Guided Image Manipulation</a:t>
            </a:r>
            <a:endParaRPr lang="en-US" sz="1900" dirty="0"/>
          </a:p>
        </p:txBody>
      </p:sp>
      <p:sp>
        <p:nvSpPr>
          <p:cNvPr id="6" name="Shape 4"/>
          <p:cNvSpPr/>
          <p:nvPr/>
        </p:nvSpPr>
        <p:spPr>
          <a:xfrm>
            <a:off x="777240" y="4224528"/>
            <a:ext cx="10637215" cy="7315"/>
          </a:xfrm>
          <a:prstGeom prst="rect">
            <a:avLst/>
          </a:prstGeom>
          <a:solidFill>
            <a:srgbClr val="DEDCD7"/>
          </a:solidFill>
          <a:ln/>
        </p:spPr>
      </p:sp>
      <p:sp>
        <p:nvSpPr>
          <p:cNvPr id="7" name="Text 5"/>
          <p:cNvSpPr/>
          <p:nvPr/>
        </p:nvSpPr>
        <p:spPr>
          <a:xfrm>
            <a:off x="777240" y="4443984"/>
            <a:ext cx="3657600" cy="219456"/>
          </a:xfrm>
          <a:prstGeom prst="rect">
            <a:avLst/>
          </a:prstGeom>
          <a:noFill/>
          <a:ln/>
        </p:spPr>
        <p:txBody>
          <a:bodyPr wrap="square" lIns="0" tIns="0" rIns="0" bIns="0" rtlCol="0" anchor="ctr"/>
          <a:lstStyle/>
          <a:p>
            <a:pPr indent="0" marL="0">
              <a:buNone/>
            </a:pPr>
            <a:r>
              <a:rPr lang="en-US" sz="1000" b="1" spc="200" kern="0" dirty="0">
                <a:solidFill>
                  <a:srgbClr val="8C3A1E"/>
                </a:solidFill>
                <a:latin typeface="Calibri" pitchFamily="34" charset="0"/>
                <a:ea typeface="Calibri" pitchFamily="34" charset="-122"/>
                <a:cs typeface="Calibri" pitchFamily="34" charset="-120"/>
              </a:rPr>
              <a:t>PROJECT REVIEW 1</a:t>
            </a:r>
            <a:endParaRPr lang="en-US" sz="1000" dirty="0"/>
          </a:p>
        </p:txBody>
      </p:sp>
      <p:sp>
        <p:nvSpPr>
          <p:cNvPr id="8" name="Text 6"/>
          <p:cNvSpPr/>
          <p:nvPr/>
        </p:nvSpPr>
        <p:spPr>
          <a:xfrm>
            <a:off x="777240" y="4791456"/>
            <a:ext cx="4572000" cy="731520"/>
          </a:xfrm>
          <a:prstGeom prst="rect">
            <a:avLst/>
          </a:prstGeom>
          <a:noFill/>
          <a:ln/>
        </p:spPr>
        <p:txBody>
          <a:bodyPr wrap="square" lIns="0" tIns="0" rIns="0" bIns="0" rtlCol="0" anchor="ctr"/>
          <a:lstStyle/>
          <a:p>
            <a:pPr indent="0" marL="0">
              <a:lnSpc>
                <a:spcPts val="2200"/>
              </a:lnSpc>
              <a:buNone/>
            </a:pPr>
            <a:r>
              <a:rPr lang="en-US" sz="1400" b="1" dirty="0">
                <a:solidFill>
                  <a:srgbClr val="1A1A1A"/>
                </a:solidFill>
                <a:latin typeface="Calibri" pitchFamily="34" charset="0"/>
                <a:ea typeface="Calibri" pitchFamily="34" charset="-122"/>
                <a:cs typeface="Calibri" pitchFamily="34" charset="-120"/>
              </a:rPr>
              <a:t>Amritha S</a:t>
            </a:r>
            <a:pPr indent="0" marL="0">
              <a:lnSpc>
                <a:spcPts val="2200"/>
              </a:lnSpc>
              <a:buNone/>
            </a:pPr>
            <a:r>
              <a:rPr lang="en-US" sz="1400" dirty="0">
                <a:solidFill>
                  <a:srgbClr val="6E6E6E"/>
                </a:solidFill>
                <a:latin typeface="Calibri" pitchFamily="34" charset="0"/>
                <a:ea typeface="Calibri" pitchFamily="34" charset="-122"/>
                <a:cs typeface="Calibri" pitchFamily="34" charset="-120"/>
              </a:rPr>
              <a:t>   23BEC1368</a:t>
            </a:r>
            <a:endParaRPr lang="en-US" sz="1400" dirty="0"/>
          </a:p>
          <a:p>
            <a:pPr indent="0" marL="0">
              <a:lnSpc>
                <a:spcPts val="2200"/>
              </a:lnSpc>
              <a:buNone/>
            </a:pPr>
            <a:r>
              <a:rPr lang="en-US" sz="1400" b="1" dirty="0">
                <a:solidFill>
                  <a:srgbClr val="1A1A1A"/>
                </a:solidFill>
                <a:latin typeface="Calibri" pitchFamily="34" charset="0"/>
                <a:ea typeface="Calibri" pitchFamily="34" charset="-122"/>
                <a:cs typeface="Calibri" pitchFamily="34" charset="-120"/>
              </a:rPr>
              <a:t>Yugeshwaran P</a:t>
            </a:r>
            <a:pPr indent="0" marL="0">
              <a:lnSpc>
                <a:spcPts val="2200"/>
              </a:lnSpc>
              <a:buNone/>
            </a:pPr>
            <a:r>
              <a:rPr lang="en-US" sz="1400" dirty="0">
                <a:solidFill>
                  <a:srgbClr val="6E6E6E"/>
                </a:solidFill>
                <a:latin typeface="Calibri" pitchFamily="34" charset="0"/>
                <a:ea typeface="Calibri" pitchFamily="34" charset="-122"/>
                <a:cs typeface="Calibri" pitchFamily="34" charset="-120"/>
              </a:rPr>
              <a:t>   23BEC1404</a:t>
            </a:r>
            <a:endParaRPr lang="en-US" sz="1400" dirty="0"/>
          </a:p>
        </p:txBody>
      </p:sp>
      <p:sp>
        <p:nvSpPr>
          <p:cNvPr id="9" name="Text 7"/>
          <p:cNvSpPr/>
          <p:nvPr/>
        </p:nvSpPr>
        <p:spPr>
          <a:xfrm>
            <a:off x="6035040" y="4791456"/>
            <a:ext cx="5486400" cy="822960"/>
          </a:xfrm>
          <a:prstGeom prst="rect">
            <a:avLst/>
          </a:prstGeom>
          <a:noFill/>
          <a:ln/>
        </p:spPr>
        <p:txBody>
          <a:bodyPr wrap="square" lIns="0" tIns="0" rIns="0" bIns="0" rtlCol="0" anchor="ctr"/>
          <a:lstStyle/>
          <a:p>
            <a:pPr indent="0" marL="0">
              <a:lnSpc>
                <a:spcPts val="2000"/>
              </a:lnSpc>
              <a:buNone/>
            </a:pPr>
            <a:r>
              <a:rPr lang="en-US" sz="1050" b="1" spc="140" kern="0" dirty="0">
                <a:solidFill>
                  <a:srgbClr val="9A9A9A"/>
                </a:solidFill>
                <a:latin typeface="Calibri" pitchFamily="34" charset="0"/>
                <a:ea typeface="Calibri" pitchFamily="34" charset="-122"/>
                <a:cs typeface="Calibri" pitchFamily="34" charset="-120"/>
              </a:rPr>
              <a:t>Faculty</a:t>
            </a:r>
            <a:endParaRPr lang="en-US" sz="1050" dirty="0"/>
          </a:p>
          <a:p>
            <a:pPr indent="0" marL="0">
              <a:lnSpc>
                <a:spcPts val="2000"/>
              </a:lnSpc>
              <a:buNone/>
            </a:pPr>
            <a:r>
              <a:rPr lang="en-US" sz="1400" b="1" dirty="0">
                <a:solidFill>
                  <a:srgbClr val="1A1A1A"/>
                </a:solidFill>
                <a:latin typeface="Calibri" pitchFamily="34" charset="0"/>
                <a:ea typeface="Calibri" pitchFamily="34" charset="-122"/>
                <a:cs typeface="Calibri" pitchFamily="34" charset="-120"/>
              </a:rPr>
              <a:t>Dr. Saranya M</a:t>
            </a:r>
            <a:endParaRPr lang="en-US" sz="1050" dirty="0"/>
          </a:p>
          <a:p>
            <a:pPr indent="0" marL="0">
              <a:lnSpc>
                <a:spcPts val="2000"/>
              </a:lnSpc>
              <a:buNone/>
            </a:pPr>
            <a:r>
              <a:rPr lang="en-US" sz="1200" dirty="0">
                <a:solidFill>
                  <a:srgbClr val="6E6E6E"/>
                </a:solidFill>
                <a:latin typeface="Calibri" pitchFamily="34" charset="0"/>
                <a:ea typeface="Calibri" pitchFamily="34" charset="-122"/>
                <a:cs typeface="Calibri" pitchFamily="34" charset="-120"/>
              </a:rPr>
              <a:t>Employee ID 54783  ·  SCOPE</a:t>
            </a:r>
            <a:endParaRPr lang="en-US" sz="1050" dirty="0"/>
          </a:p>
        </p:txBody>
      </p:sp>
      <p:sp>
        <p:nvSpPr>
          <p:cNvPr id="10" name="Text 8"/>
          <p:cNvSpPr/>
          <p:nvPr/>
        </p:nvSpPr>
        <p:spPr>
          <a:xfrm>
            <a:off x="777240" y="6035040"/>
            <a:ext cx="5486400" cy="274320"/>
          </a:xfrm>
          <a:prstGeom prst="rect">
            <a:avLst/>
          </a:prstGeom>
          <a:noFill/>
          <a:ln/>
        </p:spPr>
        <p:txBody>
          <a:bodyPr wrap="square" lIns="0" tIns="0" rIns="0" bIns="0" rtlCol="0" anchor="ctr"/>
          <a:lstStyle/>
          <a:p>
            <a:pPr indent="0" marL="0">
              <a:buNone/>
            </a:pPr>
            <a:r>
              <a:rPr lang="en-US" sz="1050" dirty="0">
                <a:solidFill>
                  <a:srgbClr val="9A9A9A"/>
                </a:solidFill>
                <a:latin typeface="Calibri" pitchFamily="34" charset="0"/>
                <a:ea typeface="Calibri" pitchFamily="34" charset="-122"/>
                <a:cs typeface="Calibri" pitchFamily="34" charset="-120"/>
              </a:rPr>
              <a:t>Academic Year 2025 – 2026</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420624"/>
            <a:ext cx="8229600" cy="219456"/>
          </a:xfrm>
          <a:prstGeom prst="rect">
            <a:avLst/>
          </a:prstGeom>
          <a:noFill/>
          <a:ln/>
        </p:spPr>
        <p:txBody>
          <a:bodyPr wrap="square" lIns="0" tIns="0" rIns="0" bIns="0" rtlCol="0" anchor="ctr"/>
          <a:lstStyle/>
          <a:p>
            <a:pPr indent="0" marL="0">
              <a:buNone/>
            </a:pPr>
            <a:r>
              <a:rPr lang="en-US" sz="1050" b="1" spc="220" kern="0" dirty="0">
                <a:solidFill>
                  <a:srgbClr val="8C3A1E"/>
                </a:solidFill>
                <a:latin typeface="Calibri" pitchFamily="34" charset="0"/>
                <a:ea typeface="Calibri" pitchFamily="34" charset="-122"/>
                <a:cs typeface="Calibri" pitchFamily="34" charset="-120"/>
              </a:rPr>
              <a:t>AIM</a:t>
            </a:r>
            <a:endParaRPr lang="en-US" sz="1050" dirty="0"/>
          </a:p>
        </p:txBody>
      </p:sp>
      <p:sp>
        <p:nvSpPr>
          <p:cNvPr id="3" name="Text 1"/>
          <p:cNvSpPr/>
          <p:nvPr/>
        </p:nvSpPr>
        <p:spPr>
          <a:xfrm>
            <a:off x="777240" y="694944"/>
            <a:ext cx="10637215" cy="603504"/>
          </a:xfrm>
          <a:prstGeom prst="rect">
            <a:avLst/>
          </a:prstGeom>
          <a:noFill/>
          <a:ln/>
        </p:spPr>
        <p:txBody>
          <a:bodyPr wrap="square" lIns="0" tIns="0" rIns="0" bIns="0" rtlCol="0" anchor="ctr"/>
          <a:lstStyle/>
          <a:p>
            <a:pPr indent="0" marL="0">
              <a:buNone/>
            </a:pPr>
            <a:r>
              <a:rPr lang="en-US" sz="3100" b="1" dirty="0">
                <a:solidFill>
                  <a:srgbClr val="1A1A1A"/>
                </a:solidFill>
                <a:latin typeface="Cambria" pitchFamily="34" charset="0"/>
                <a:ea typeface="Cambria" pitchFamily="34" charset="-122"/>
                <a:cs typeface="Cambria" pitchFamily="34" charset="-120"/>
              </a:rPr>
              <a:t>What we are trying to solve</a:t>
            </a:r>
            <a:endParaRPr lang="en-US" sz="3100" dirty="0"/>
          </a:p>
        </p:txBody>
      </p:sp>
      <p:sp>
        <p:nvSpPr>
          <p:cNvPr id="4" name="Text 2"/>
          <p:cNvSpPr/>
          <p:nvPr/>
        </p:nvSpPr>
        <p:spPr>
          <a:xfrm>
            <a:off x="777240" y="1335024"/>
            <a:ext cx="10637215" cy="347472"/>
          </a:xfrm>
          <a:prstGeom prst="rect">
            <a:avLst/>
          </a:prstGeom>
          <a:noFill/>
          <a:ln/>
        </p:spPr>
        <p:txBody>
          <a:bodyPr wrap="square" lIns="0" tIns="0" rIns="0" bIns="0" rtlCol="0" anchor="ctr"/>
          <a:lstStyle/>
          <a:p>
            <a:pPr indent="0" marL="0">
              <a:buNone/>
            </a:pPr>
            <a:r>
              <a:rPr lang="en-US" sz="1400" dirty="0">
                <a:solidFill>
                  <a:srgbClr val="6E6E6E"/>
                </a:solidFill>
                <a:latin typeface="Calibri" pitchFamily="34" charset="0"/>
                <a:ea typeface="Calibri" pitchFamily="34" charset="-122"/>
                <a:cs typeface="Calibri" pitchFamily="34" charset="-120"/>
              </a:rPr>
              <a:t>One sentence, then the evidence for why it matters.</a:t>
            </a:r>
            <a:endParaRPr lang="en-US" sz="1400" dirty="0"/>
          </a:p>
        </p:txBody>
      </p:sp>
      <p:sp>
        <p:nvSpPr>
          <p:cNvPr id="5" name="Shape 3"/>
          <p:cNvSpPr/>
          <p:nvPr/>
        </p:nvSpPr>
        <p:spPr>
          <a:xfrm>
            <a:off x="777240" y="6291072"/>
            <a:ext cx="10637215" cy="7315"/>
          </a:xfrm>
          <a:prstGeom prst="rect">
            <a:avLst/>
          </a:prstGeom>
          <a:solidFill>
            <a:srgbClr val="DEDCD7"/>
          </a:solidFill>
          <a:ln/>
        </p:spPr>
      </p:sp>
      <p:sp>
        <p:nvSpPr>
          <p:cNvPr id="6" name="Text 4"/>
          <p:cNvSpPr/>
          <p:nvPr/>
        </p:nvSpPr>
        <p:spPr>
          <a:xfrm>
            <a:off x="777240" y="6382512"/>
            <a:ext cx="7315200" cy="256032"/>
          </a:xfrm>
          <a:prstGeom prst="rect">
            <a:avLst/>
          </a:prstGeom>
          <a:noFill/>
          <a:ln/>
        </p:spPr>
        <p:txBody>
          <a:bodyPr wrap="square" lIns="0" tIns="0" rIns="0" bIns="0" rtlCol="0" anchor="ctr"/>
          <a:lstStyle/>
          <a:p>
            <a:pPr indent="0" marL="0">
              <a:buNone/>
            </a:pPr>
            <a:r>
              <a:rPr lang="en-US" sz="900" dirty="0">
                <a:solidFill>
                  <a:srgbClr val="9A9A9A"/>
                </a:solidFill>
                <a:latin typeface="Calibri" pitchFamily="34" charset="0"/>
                <a:ea typeface="Calibri" pitchFamily="34" charset="-122"/>
                <a:cs typeface="Calibri" pitchFamily="34" charset="-120"/>
              </a:rPr>
              <a:t>Instruct-Seg-Edit  ·  Foundations of Data Science  ·  Review 1</a:t>
            </a:r>
            <a:endParaRPr lang="en-US" sz="900" dirty="0"/>
          </a:p>
        </p:txBody>
      </p:sp>
      <p:sp>
        <p:nvSpPr>
          <p:cNvPr id="7" name="Text 5"/>
          <p:cNvSpPr/>
          <p:nvPr/>
        </p:nvSpPr>
        <p:spPr>
          <a:xfrm>
            <a:off x="10865815" y="6382512"/>
            <a:ext cx="548640" cy="256032"/>
          </a:xfrm>
          <a:prstGeom prst="rect">
            <a:avLst/>
          </a:prstGeom>
          <a:noFill/>
          <a:ln/>
        </p:spPr>
        <p:txBody>
          <a:bodyPr wrap="square" lIns="0" tIns="0" rIns="0" bIns="0" rtlCol="0" anchor="ctr"/>
          <a:lstStyle/>
          <a:p>
            <a:pPr algn="r" indent="0" marL="0">
              <a:buNone/>
            </a:pPr>
            <a:r>
              <a:rPr lang="en-US" sz="900" dirty="0">
                <a:solidFill>
                  <a:srgbClr val="9A9A9A"/>
                </a:solidFill>
                <a:latin typeface="Calibri" pitchFamily="34" charset="0"/>
                <a:ea typeface="Calibri" pitchFamily="34" charset="-122"/>
                <a:cs typeface="Calibri" pitchFamily="34" charset="-120"/>
              </a:rPr>
              <a:t>2</a:t>
            </a:r>
            <a:endParaRPr lang="en-US" sz="900" dirty="0"/>
          </a:p>
        </p:txBody>
      </p:sp>
      <p:sp>
        <p:nvSpPr>
          <p:cNvPr id="8" name="Shape 6"/>
          <p:cNvSpPr/>
          <p:nvPr/>
        </p:nvSpPr>
        <p:spPr>
          <a:xfrm>
            <a:off x="777240" y="1874520"/>
            <a:ext cx="10637215" cy="1481328"/>
          </a:xfrm>
          <a:prstGeom prst="rect">
            <a:avLst/>
          </a:prstGeom>
          <a:solidFill>
            <a:srgbClr val="F6F5F2"/>
          </a:solidFill>
          <a:ln/>
        </p:spPr>
      </p:sp>
      <p:sp>
        <p:nvSpPr>
          <p:cNvPr id="9" name="Text 7"/>
          <p:cNvSpPr/>
          <p:nvPr/>
        </p:nvSpPr>
        <p:spPr>
          <a:xfrm>
            <a:off x="1088136" y="2066544"/>
            <a:ext cx="10015423" cy="1188720"/>
          </a:xfrm>
          <a:prstGeom prst="rect">
            <a:avLst/>
          </a:prstGeom>
          <a:noFill/>
          <a:ln/>
        </p:spPr>
        <p:txBody>
          <a:bodyPr wrap="square" lIns="0" tIns="0" rIns="0" bIns="0" rtlCol="0" anchor="ctr"/>
          <a:lstStyle/>
          <a:p>
            <a:pPr indent="0" marL="0">
              <a:lnSpc>
                <a:spcPts val="2700"/>
              </a:lnSpc>
              <a:buNone/>
            </a:pPr>
            <a:r>
              <a:rPr lang="en-US" sz="1850" dirty="0">
                <a:solidFill>
                  <a:srgbClr val="1A1A1A"/>
                </a:solidFill>
                <a:latin typeface="Cambria" pitchFamily="34" charset="0"/>
                <a:ea typeface="Cambria" pitchFamily="34" charset="-122"/>
                <a:cs typeface="Cambria" pitchFamily="34" charset="-120"/>
              </a:rPr>
              <a:t>Instruction-guided diffusion editors decide where to edit implicitly, inside the same network that performs the edit — so edits appear in places the user never asked about, and the spatial decision cannot be seen, measured, or corrected.</a:t>
            </a:r>
            <a:endParaRPr lang="en-US" sz="1850" dirty="0"/>
          </a:p>
        </p:txBody>
      </p:sp>
      <p:sp>
        <p:nvSpPr>
          <p:cNvPr id="10" name="Text 8"/>
          <p:cNvSpPr/>
          <p:nvPr/>
        </p:nvSpPr>
        <p:spPr>
          <a:xfrm>
            <a:off x="777240" y="3657600"/>
            <a:ext cx="3200400" cy="237744"/>
          </a:xfrm>
          <a:prstGeom prst="rect">
            <a:avLst/>
          </a:prstGeom>
          <a:noFill/>
          <a:ln/>
        </p:spPr>
        <p:txBody>
          <a:bodyPr wrap="square" lIns="0" tIns="0" rIns="0" bIns="0" rtlCol="0" anchor="ctr"/>
          <a:lstStyle/>
          <a:p>
            <a:pPr indent="0" marL="0">
              <a:buNone/>
            </a:pPr>
            <a:r>
              <a:rPr lang="en-US" sz="1350" b="1" dirty="0">
                <a:solidFill>
                  <a:srgbClr val="1A1A1A"/>
                </a:solidFill>
                <a:latin typeface="Calibri" pitchFamily="34" charset="0"/>
                <a:ea typeface="Calibri" pitchFamily="34" charset="-122"/>
                <a:cs typeface="Calibri" pitchFamily="34" charset="-120"/>
              </a:rPr>
              <a:t>Why this happens</a:t>
            </a:r>
            <a:endParaRPr lang="en-US" sz="1350" dirty="0"/>
          </a:p>
        </p:txBody>
      </p:sp>
      <p:sp>
        <p:nvSpPr>
          <p:cNvPr id="11" name="Text 9"/>
          <p:cNvSpPr/>
          <p:nvPr/>
        </p:nvSpPr>
        <p:spPr>
          <a:xfrm>
            <a:off x="777240" y="3950208"/>
            <a:ext cx="3108960" cy="1371600"/>
          </a:xfrm>
          <a:prstGeom prst="rect">
            <a:avLst/>
          </a:prstGeom>
          <a:noFill/>
          <a:ln/>
        </p:spPr>
        <p:txBody>
          <a:bodyPr wrap="square" lIns="0" tIns="0" rIns="0" bIns="0" rtlCol="0" anchor="t"/>
          <a:lstStyle/>
          <a:p>
            <a:pPr indent="0" marL="0">
              <a:lnSpc>
                <a:spcPts val="1900"/>
              </a:lnSpc>
              <a:buNone/>
            </a:pPr>
            <a:r>
              <a:rPr lang="en-US" sz="1350" dirty="0">
                <a:solidFill>
                  <a:srgbClr val="6E6E6E"/>
                </a:solidFill>
                <a:latin typeface="Calibri" pitchFamily="34" charset="0"/>
                <a:ea typeface="Calibri" pitchFamily="34" charset="-122"/>
                <a:cs typeface="Calibri" pitchFamily="34" charset="-120"/>
              </a:rPr>
              <a:t>InstructPix2Pix and similar models absorb localization and generation into one denoising U-Net. Nothing in the objective requires the change to stay inside the region the instruction names.</a:t>
            </a:r>
            <a:endParaRPr lang="en-US" sz="1350" dirty="0"/>
          </a:p>
        </p:txBody>
      </p:sp>
      <p:sp>
        <p:nvSpPr>
          <p:cNvPr id="12" name="Text 10"/>
          <p:cNvSpPr/>
          <p:nvPr/>
        </p:nvSpPr>
        <p:spPr>
          <a:xfrm>
            <a:off x="4526280" y="3657600"/>
            <a:ext cx="3200400" cy="237744"/>
          </a:xfrm>
          <a:prstGeom prst="rect">
            <a:avLst/>
          </a:prstGeom>
          <a:noFill/>
          <a:ln/>
        </p:spPr>
        <p:txBody>
          <a:bodyPr wrap="square" lIns="0" tIns="0" rIns="0" bIns="0" rtlCol="0" anchor="ctr"/>
          <a:lstStyle/>
          <a:p>
            <a:pPr indent="0" marL="0">
              <a:buNone/>
            </a:pPr>
            <a:r>
              <a:rPr lang="en-US" sz="1350" b="1" dirty="0">
                <a:solidFill>
                  <a:srgbClr val="1A1A1A"/>
                </a:solidFill>
                <a:latin typeface="Calibri" pitchFamily="34" charset="0"/>
                <a:ea typeface="Calibri" pitchFamily="34" charset="-122"/>
                <a:cs typeface="Calibri" pitchFamily="34" charset="-120"/>
              </a:rPr>
              <a:t>Why it is not already fixed</a:t>
            </a:r>
            <a:endParaRPr lang="en-US" sz="1350" dirty="0"/>
          </a:p>
        </p:txBody>
      </p:sp>
      <p:sp>
        <p:nvSpPr>
          <p:cNvPr id="13" name="Text 11"/>
          <p:cNvSpPr/>
          <p:nvPr/>
        </p:nvSpPr>
        <p:spPr>
          <a:xfrm>
            <a:off x="4526280" y="3950208"/>
            <a:ext cx="3108960" cy="1371600"/>
          </a:xfrm>
          <a:prstGeom prst="rect">
            <a:avLst/>
          </a:prstGeom>
          <a:noFill/>
          <a:ln/>
        </p:spPr>
        <p:txBody>
          <a:bodyPr wrap="square" lIns="0" tIns="0" rIns="0" bIns="0" rtlCol="0" anchor="t"/>
          <a:lstStyle/>
          <a:p>
            <a:pPr indent="0" marL="0">
              <a:lnSpc>
                <a:spcPts val="1900"/>
              </a:lnSpc>
              <a:buNone/>
            </a:pPr>
            <a:r>
              <a:rPr lang="en-US" sz="1350" dirty="0">
                <a:solidFill>
                  <a:srgbClr val="6E6E6E"/>
                </a:solidFill>
                <a:latin typeface="Calibri" pitchFamily="34" charset="0"/>
                <a:ea typeface="Calibri" pitchFamily="34" charset="-122"/>
                <a:cs typeface="Calibri" pitchFamily="34" charset="-120"/>
              </a:rPr>
              <a:t>Inpainting models confine edits correctly, but they take the mask as an input. They have no mechanism to work out which region an instruction refers to.</a:t>
            </a:r>
            <a:endParaRPr lang="en-US" sz="1350" dirty="0"/>
          </a:p>
        </p:txBody>
      </p:sp>
      <p:sp>
        <p:nvSpPr>
          <p:cNvPr id="14" name="Text 12"/>
          <p:cNvSpPr/>
          <p:nvPr/>
        </p:nvSpPr>
        <p:spPr>
          <a:xfrm>
            <a:off x="8275320" y="3657600"/>
            <a:ext cx="3200400" cy="237744"/>
          </a:xfrm>
          <a:prstGeom prst="rect">
            <a:avLst/>
          </a:prstGeom>
          <a:noFill/>
          <a:ln/>
        </p:spPr>
        <p:txBody>
          <a:bodyPr wrap="square" lIns="0" tIns="0" rIns="0" bIns="0" rtlCol="0" anchor="ctr"/>
          <a:lstStyle/>
          <a:p>
            <a:pPr indent="0" marL="0">
              <a:buNone/>
            </a:pPr>
            <a:r>
              <a:rPr lang="en-US" sz="1350" b="1" dirty="0">
                <a:solidFill>
                  <a:srgbClr val="1A1A1A"/>
                </a:solidFill>
                <a:latin typeface="Calibri" pitchFamily="34" charset="0"/>
                <a:ea typeface="Calibri" pitchFamily="34" charset="-122"/>
                <a:cs typeface="Calibri" pitchFamily="34" charset="-120"/>
              </a:rPr>
              <a:t>What it costs the user</a:t>
            </a:r>
            <a:endParaRPr lang="en-US" sz="1350" dirty="0"/>
          </a:p>
        </p:txBody>
      </p:sp>
      <p:sp>
        <p:nvSpPr>
          <p:cNvPr id="15" name="Text 13"/>
          <p:cNvSpPr/>
          <p:nvPr/>
        </p:nvSpPr>
        <p:spPr>
          <a:xfrm>
            <a:off x="8275320" y="3950208"/>
            <a:ext cx="3108960" cy="1371600"/>
          </a:xfrm>
          <a:prstGeom prst="rect">
            <a:avLst/>
          </a:prstGeom>
          <a:noFill/>
          <a:ln/>
        </p:spPr>
        <p:txBody>
          <a:bodyPr wrap="square" lIns="0" tIns="0" rIns="0" bIns="0" rtlCol="0" anchor="t"/>
          <a:lstStyle/>
          <a:p>
            <a:pPr indent="0" marL="0">
              <a:lnSpc>
                <a:spcPts val="1900"/>
              </a:lnSpc>
              <a:buNone/>
            </a:pPr>
            <a:r>
              <a:rPr lang="en-US" sz="1350" dirty="0">
                <a:solidFill>
                  <a:srgbClr val="6E6E6E"/>
                </a:solidFill>
                <a:latin typeface="Calibri" pitchFamily="34" charset="0"/>
                <a:ea typeface="Calibri" pitchFamily="34" charset="-122"/>
                <a:cs typeface="Calibri" pitchFamily="34" charset="-120"/>
              </a:rPr>
              <a:t>The only control available is rewording the prompt and generating again. There is no point in the pipeline where a person can intervene and say: not there, here.</a:t>
            </a:r>
            <a:endParaRPr lang="en-US" sz="1350" dirty="0"/>
          </a:p>
        </p:txBody>
      </p:sp>
      <p:sp>
        <p:nvSpPr>
          <p:cNvPr id="16" name="Text 14"/>
          <p:cNvSpPr/>
          <p:nvPr/>
        </p:nvSpPr>
        <p:spPr>
          <a:xfrm>
            <a:off x="777240" y="5440680"/>
            <a:ext cx="10637215" cy="548640"/>
          </a:xfrm>
          <a:prstGeom prst="rect">
            <a:avLst/>
          </a:prstGeom>
          <a:noFill/>
          <a:ln/>
        </p:spPr>
        <p:txBody>
          <a:bodyPr wrap="square" lIns="0" tIns="0" rIns="0" bIns="0" rtlCol="0" anchor="ctr"/>
          <a:lstStyle/>
          <a:p>
            <a:pPr indent="0" marL="0">
              <a:lnSpc>
                <a:spcPts val="2100"/>
              </a:lnSpc>
              <a:buNone/>
            </a:pPr>
            <a:r>
              <a:rPr lang="en-US" sz="1500" dirty="0">
                <a:solidFill>
                  <a:srgbClr val="8C3A1E"/>
                </a:solidFill>
                <a:latin typeface="Cambria" pitchFamily="34" charset="0"/>
                <a:ea typeface="Cambria" pitchFamily="34" charset="-122"/>
                <a:cs typeface="Cambria" pitchFamily="34" charset="-120"/>
              </a:rPr>
              <a:t>Research question — How do we explicitly separate the decision of where to edit from the execution of what to edit, and let the user correct the first before the second ever runs?</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420624"/>
            <a:ext cx="8229600" cy="219456"/>
          </a:xfrm>
          <a:prstGeom prst="rect">
            <a:avLst/>
          </a:prstGeom>
          <a:noFill/>
          <a:ln/>
        </p:spPr>
        <p:txBody>
          <a:bodyPr wrap="square" lIns="0" tIns="0" rIns="0" bIns="0" rtlCol="0" anchor="ctr"/>
          <a:lstStyle/>
          <a:p>
            <a:pPr indent="0" marL="0">
              <a:buNone/>
            </a:pPr>
            <a:r>
              <a:rPr lang="en-US" sz="1050" b="1" spc="220" kern="0" dirty="0">
                <a:solidFill>
                  <a:srgbClr val="8C3A1E"/>
                </a:solidFill>
                <a:latin typeface="Calibri" pitchFamily="34" charset="0"/>
                <a:ea typeface="Calibri" pitchFamily="34" charset="-122"/>
                <a:cs typeface="Calibri" pitchFamily="34" charset="-120"/>
              </a:rPr>
              <a:t>SOLUTION</a:t>
            </a:r>
            <a:endParaRPr lang="en-US" sz="1050" dirty="0"/>
          </a:p>
        </p:txBody>
      </p:sp>
      <p:sp>
        <p:nvSpPr>
          <p:cNvPr id="3" name="Text 1"/>
          <p:cNvSpPr/>
          <p:nvPr/>
        </p:nvSpPr>
        <p:spPr>
          <a:xfrm>
            <a:off x="777240" y="694944"/>
            <a:ext cx="10637215" cy="603504"/>
          </a:xfrm>
          <a:prstGeom prst="rect">
            <a:avLst/>
          </a:prstGeom>
          <a:noFill/>
          <a:ln/>
        </p:spPr>
        <p:txBody>
          <a:bodyPr wrap="square" lIns="0" tIns="0" rIns="0" bIns="0" rtlCol="0" anchor="ctr"/>
          <a:lstStyle/>
          <a:p>
            <a:pPr indent="0" marL="0">
              <a:buNone/>
            </a:pPr>
            <a:r>
              <a:rPr lang="en-US" sz="3100" b="1" dirty="0">
                <a:solidFill>
                  <a:srgbClr val="1A1A1A"/>
                </a:solidFill>
                <a:latin typeface="Cambria" pitchFamily="34" charset="0"/>
                <a:ea typeface="Cambria" pitchFamily="34" charset="-122"/>
                <a:cs typeface="Cambria" pitchFamily="34" charset="-120"/>
              </a:rPr>
              <a:t>Split the problem in two</a:t>
            </a:r>
            <a:endParaRPr lang="en-US" sz="3100" dirty="0"/>
          </a:p>
        </p:txBody>
      </p:sp>
      <p:sp>
        <p:nvSpPr>
          <p:cNvPr id="4" name="Text 2"/>
          <p:cNvSpPr/>
          <p:nvPr/>
        </p:nvSpPr>
        <p:spPr>
          <a:xfrm>
            <a:off x="777240" y="1335024"/>
            <a:ext cx="10637215" cy="347472"/>
          </a:xfrm>
          <a:prstGeom prst="rect">
            <a:avLst/>
          </a:prstGeom>
          <a:noFill/>
          <a:ln/>
        </p:spPr>
        <p:txBody>
          <a:bodyPr wrap="square" lIns="0" tIns="0" rIns="0" bIns="0" rtlCol="0" anchor="ctr"/>
          <a:lstStyle/>
          <a:p>
            <a:pPr indent="0" marL="0">
              <a:buNone/>
            </a:pPr>
            <a:r>
              <a:rPr lang="en-US" sz="1400" dirty="0">
                <a:solidFill>
                  <a:srgbClr val="6E6E6E"/>
                </a:solidFill>
                <a:latin typeface="Calibri" pitchFamily="34" charset="0"/>
                <a:ea typeface="Calibri" pitchFamily="34" charset="-122"/>
                <a:cs typeface="Calibri" pitchFamily="34" charset="-120"/>
              </a:rPr>
              <a:t>A dedicated localization model produces the mask a mask-conditioned editor consumes — with a person in between.</a:t>
            </a:r>
            <a:endParaRPr lang="en-US" sz="1400" dirty="0"/>
          </a:p>
        </p:txBody>
      </p:sp>
      <p:sp>
        <p:nvSpPr>
          <p:cNvPr id="5" name="Shape 3"/>
          <p:cNvSpPr/>
          <p:nvPr/>
        </p:nvSpPr>
        <p:spPr>
          <a:xfrm>
            <a:off x="777240" y="6291072"/>
            <a:ext cx="10637215" cy="7315"/>
          </a:xfrm>
          <a:prstGeom prst="rect">
            <a:avLst/>
          </a:prstGeom>
          <a:solidFill>
            <a:srgbClr val="DEDCD7"/>
          </a:solidFill>
          <a:ln/>
        </p:spPr>
      </p:sp>
      <p:sp>
        <p:nvSpPr>
          <p:cNvPr id="6" name="Text 4"/>
          <p:cNvSpPr/>
          <p:nvPr/>
        </p:nvSpPr>
        <p:spPr>
          <a:xfrm>
            <a:off x="777240" y="6382512"/>
            <a:ext cx="7315200" cy="256032"/>
          </a:xfrm>
          <a:prstGeom prst="rect">
            <a:avLst/>
          </a:prstGeom>
          <a:noFill/>
          <a:ln/>
        </p:spPr>
        <p:txBody>
          <a:bodyPr wrap="square" lIns="0" tIns="0" rIns="0" bIns="0" rtlCol="0" anchor="ctr"/>
          <a:lstStyle/>
          <a:p>
            <a:pPr indent="0" marL="0">
              <a:buNone/>
            </a:pPr>
            <a:r>
              <a:rPr lang="en-US" sz="900" dirty="0">
                <a:solidFill>
                  <a:srgbClr val="9A9A9A"/>
                </a:solidFill>
                <a:latin typeface="Calibri" pitchFamily="34" charset="0"/>
                <a:ea typeface="Calibri" pitchFamily="34" charset="-122"/>
                <a:cs typeface="Calibri" pitchFamily="34" charset="-120"/>
              </a:rPr>
              <a:t>Instruct-Seg-Edit  ·  Foundations of Data Science  ·  Review 1</a:t>
            </a:r>
            <a:endParaRPr lang="en-US" sz="900" dirty="0"/>
          </a:p>
        </p:txBody>
      </p:sp>
      <p:sp>
        <p:nvSpPr>
          <p:cNvPr id="7" name="Text 5"/>
          <p:cNvSpPr/>
          <p:nvPr/>
        </p:nvSpPr>
        <p:spPr>
          <a:xfrm>
            <a:off x="10865815" y="6382512"/>
            <a:ext cx="548640" cy="256032"/>
          </a:xfrm>
          <a:prstGeom prst="rect">
            <a:avLst/>
          </a:prstGeom>
          <a:noFill/>
          <a:ln/>
        </p:spPr>
        <p:txBody>
          <a:bodyPr wrap="square" lIns="0" tIns="0" rIns="0" bIns="0" rtlCol="0" anchor="ctr"/>
          <a:lstStyle/>
          <a:p>
            <a:pPr algn="r" indent="0" marL="0">
              <a:buNone/>
            </a:pPr>
            <a:r>
              <a:rPr lang="en-US" sz="900" dirty="0">
                <a:solidFill>
                  <a:srgbClr val="9A9A9A"/>
                </a:solidFill>
                <a:latin typeface="Calibri" pitchFamily="34" charset="0"/>
                <a:ea typeface="Calibri" pitchFamily="34" charset="-122"/>
                <a:cs typeface="Calibri" pitchFamily="34" charset="-120"/>
              </a:rPr>
              <a:t>3</a:t>
            </a:r>
            <a:endParaRPr lang="en-US" sz="900" dirty="0"/>
          </a:p>
        </p:txBody>
      </p:sp>
      <p:sp>
        <p:nvSpPr>
          <p:cNvPr id="8" name="Shape 6"/>
          <p:cNvSpPr/>
          <p:nvPr/>
        </p:nvSpPr>
        <p:spPr>
          <a:xfrm>
            <a:off x="777240" y="1965960"/>
            <a:ext cx="3310128" cy="2788920"/>
          </a:xfrm>
          <a:prstGeom prst="rect">
            <a:avLst/>
          </a:prstGeom>
          <a:solidFill>
            <a:srgbClr val="F6F5F2"/>
          </a:solidFill>
          <a:ln/>
        </p:spPr>
      </p:sp>
      <p:sp>
        <p:nvSpPr>
          <p:cNvPr id="9" name="Text 7"/>
          <p:cNvSpPr/>
          <p:nvPr/>
        </p:nvSpPr>
        <p:spPr>
          <a:xfrm>
            <a:off x="1033272" y="2194560"/>
            <a:ext cx="2852928" cy="219456"/>
          </a:xfrm>
          <a:prstGeom prst="rect">
            <a:avLst/>
          </a:prstGeom>
          <a:noFill/>
          <a:ln/>
        </p:spPr>
        <p:txBody>
          <a:bodyPr wrap="square" lIns="0" tIns="0" rIns="0" bIns="0" rtlCol="0" anchor="ctr"/>
          <a:lstStyle/>
          <a:p>
            <a:pPr indent="0" marL="0">
              <a:buNone/>
            </a:pPr>
            <a:r>
              <a:rPr lang="en-US" sz="950" b="1" spc="180" kern="0" dirty="0">
                <a:solidFill>
                  <a:srgbClr val="8C3A1E"/>
                </a:solidFill>
                <a:latin typeface="Calibri" pitchFamily="34" charset="0"/>
                <a:ea typeface="Calibri" pitchFamily="34" charset="-122"/>
                <a:cs typeface="Calibri" pitchFamily="34" charset="-120"/>
              </a:rPr>
              <a:t>STAGE 1</a:t>
            </a:r>
            <a:endParaRPr lang="en-US" sz="950" dirty="0"/>
          </a:p>
        </p:txBody>
      </p:sp>
      <p:sp>
        <p:nvSpPr>
          <p:cNvPr id="10" name="Text 8"/>
          <p:cNvSpPr/>
          <p:nvPr/>
        </p:nvSpPr>
        <p:spPr>
          <a:xfrm>
            <a:off x="1033272" y="2468880"/>
            <a:ext cx="2852928" cy="566928"/>
          </a:xfrm>
          <a:prstGeom prst="rect">
            <a:avLst/>
          </a:prstGeom>
          <a:noFill/>
          <a:ln/>
        </p:spPr>
        <p:txBody>
          <a:bodyPr wrap="square" lIns="0" tIns="0" rIns="0" bIns="0" rtlCol="0" anchor="ctr"/>
          <a:lstStyle/>
          <a:p>
            <a:pPr indent="0" marL="0">
              <a:lnSpc>
                <a:spcPts val="2200"/>
              </a:lnSpc>
              <a:buNone/>
            </a:pPr>
            <a:r>
              <a:rPr lang="en-US" sz="1700" b="1" dirty="0">
                <a:solidFill>
                  <a:srgbClr val="1A1A1A"/>
                </a:solidFill>
                <a:latin typeface="Cambria" pitchFamily="34" charset="0"/>
                <a:ea typeface="Cambria" pitchFamily="34" charset="-122"/>
                <a:cs typeface="Cambria" pitchFamily="34" charset="-120"/>
              </a:rPr>
              <a:t>Localization model</a:t>
            </a:r>
            <a:endParaRPr lang="en-US" sz="1700" dirty="0"/>
          </a:p>
        </p:txBody>
      </p:sp>
      <p:sp>
        <p:nvSpPr>
          <p:cNvPr id="11" name="Text 9"/>
          <p:cNvSpPr/>
          <p:nvPr/>
        </p:nvSpPr>
        <p:spPr>
          <a:xfrm>
            <a:off x="1033272" y="3127248"/>
            <a:ext cx="2852928" cy="548640"/>
          </a:xfrm>
          <a:prstGeom prst="rect">
            <a:avLst/>
          </a:prstGeom>
          <a:noFill/>
          <a:ln/>
        </p:spPr>
        <p:txBody>
          <a:bodyPr wrap="square" lIns="0" tIns="0" rIns="0" bIns="0" rtlCol="0" anchor="ctr"/>
          <a:lstStyle/>
          <a:p>
            <a:pPr indent="0" marL="0">
              <a:lnSpc>
                <a:spcPts val="1700"/>
              </a:lnSpc>
              <a:buNone/>
            </a:pPr>
            <a:r>
              <a:rPr lang="en-US" sz="1150" dirty="0">
                <a:solidFill>
                  <a:srgbClr val="9A9A9A"/>
                </a:solidFill>
                <a:latin typeface="Calibri" pitchFamily="34" charset="0"/>
                <a:ea typeface="Calibri" pitchFamily="34" charset="-122"/>
                <a:cs typeface="Calibri" pitchFamily="34" charset="-120"/>
              </a:rPr>
              <a:t>in    </a:t>
            </a:r>
            <a:pPr indent="0" marL="0">
              <a:lnSpc>
                <a:spcPts val="1700"/>
              </a:lnSpc>
              <a:buNone/>
            </a:pPr>
            <a:r>
              <a:rPr lang="en-US" sz="1150" dirty="0">
                <a:solidFill>
                  <a:srgbClr val="1A1A1A"/>
                </a:solidFill>
                <a:latin typeface="Calibri" pitchFamily="34" charset="0"/>
                <a:ea typeface="Calibri" pitchFamily="34" charset="-122"/>
                <a:cs typeface="Calibri" pitchFamily="34" charset="-120"/>
              </a:rPr>
              <a:t>image + instruction</a:t>
            </a:r>
            <a:endParaRPr lang="en-US" sz="1150" dirty="0"/>
          </a:p>
          <a:p>
            <a:pPr indent="0" marL="0">
              <a:lnSpc>
                <a:spcPts val="1700"/>
              </a:lnSpc>
              <a:buNone/>
            </a:pPr>
            <a:r>
              <a:rPr lang="en-US" sz="1150" dirty="0">
                <a:solidFill>
                  <a:srgbClr val="9A9A9A"/>
                </a:solidFill>
                <a:latin typeface="Calibri" pitchFamily="34" charset="0"/>
                <a:ea typeface="Calibri" pitchFamily="34" charset="-122"/>
                <a:cs typeface="Calibri" pitchFamily="34" charset="-120"/>
              </a:rPr>
              <a:t>out  </a:t>
            </a:r>
            <a:pPr indent="0" marL="0">
              <a:lnSpc>
                <a:spcPts val="1700"/>
              </a:lnSpc>
              <a:buNone/>
            </a:pPr>
            <a:r>
              <a:rPr lang="en-US" sz="1150" dirty="0">
                <a:solidFill>
                  <a:srgbClr val="1A1A1A"/>
                </a:solidFill>
                <a:latin typeface="Calibri" pitchFamily="34" charset="0"/>
                <a:ea typeface="Calibri" pitchFamily="34" charset="-122"/>
                <a:cs typeface="Calibri" pitchFamily="34" charset="-120"/>
              </a:rPr>
              <a:t>binary edit mask</a:t>
            </a:r>
            <a:endParaRPr lang="en-US" sz="1150" dirty="0"/>
          </a:p>
        </p:txBody>
      </p:sp>
      <p:sp>
        <p:nvSpPr>
          <p:cNvPr id="12" name="Text 10"/>
          <p:cNvSpPr/>
          <p:nvPr/>
        </p:nvSpPr>
        <p:spPr>
          <a:xfrm>
            <a:off x="1033272" y="3767328"/>
            <a:ext cx="2852928" cy="868680"/>
          </a:xfrm>
          <a:prstGeom prst="rect">
            <a:avLst/>
          </a:prstGeom>
          <a:noFill/>
          <a:ln/>
        </p:spPr>
        <p:txBody>
          <a:bodyPr wrap="square" lIns="0" tIns="0" rIns="0" bIns="0" rtlCol="0" anchor="ctr"/>
          <a:lstStyle/>
          <a:p>
            <a:pPr indent="0" marL="0">
              <a:lnSpc>
                <a:spcPts val="1600"/>
              </a:lnSpc>
              <a:buNone/>
            </a:pPr>
            <a:r>
              <a:rPr lang="en-US" sz="1150" dirty="0">
                <a:solidFill>
                  <a:srgbClr val="6E6E6E"/>
                </a:solidFill>
                <a:latin typeface="Calibri" pitchFamily="34" charset="0"/>
                <a:ea typeface="Calibri" pitchFamily="34" charset="-122"/>
                <a:cs typeface="Calibri" pitchFamily="34" charset="-120"/>
              </a:rPr>
              <a:t>Instruction-conditioned segmentation. Supervised directly on the region an edit changes.</a:t>
            </a:r>
            <a:endParaRPr lang="en-US" sz="1150" dirty="0"/>
          </a:p>
        </p:txBody>
      </p:sp>
      <p:sp>
        <p:nvSpPr>
          <p:cNvPr id="13" name="Text 11"/>
          <p:cNvSpPr/>
          <p:nvPr/>
        </p:nvSpPr>
        <p:spPr>
          <a:xfrm>
            <a:off x="4123944" y="3127248"/>
            <a:ext cx="329184" cy="274320"/>
          </a:xfrm>
          <a:prstGeom prst="rect">
            <a:avLst/>
          </a:prstGeom>
          <a:noFill/>
          <a:ln/>
        </p:spPr>
        <p:txBody>
          <a:bodyPr wrap="square" lIns="0" tIns="0" rIns="0" bIns="0" rtlCol="0" anchor="ctr"/>
          <a:lstStyle/>
          <a:p>
            <a:pPr algn="ctr" indent="0" marL="0">
              <a:buNone/>
            </a:pPr>
            <a:r>
              <a:rPr lang="en-US" sz="1600" dirty="0">
                <a:solidFill>
                  <a:srgbClr val="9A9A9A"/>
                </a:solidFill>
                <a:latin typeface="Calibri" pitchFamily="34" charset="0"/>
                <a:ea typeface="Calibri" pitchFamily="34" charset="-122"/>
                <a:cs typeface="Calibri" pitchFamily="34" charset="-120"/>
              </a:rPr>
              <a:t>→</a:t>
            </a:r>
            <a:endParaRPr lang="en-US" sz="1600" dirty="0"/>
          </a:p>
        </p:txBody>
      </p:sp>
      <p:sp>
        <p:nvSpPr>
          <p:cNvPr id="14" name="Shape 12"/>
          <p:cNvSpPr/>
          <p:nvPr/>
        </p:nvSpPr>
        <p:spPr>
          <a:xfrm>
            <a:off x="4489704" y="1965960"/>
            <a:ext cx="3310128" cy="2788920"/>
          </a:xfrm>
          <a:prstGeom prst="rect">
            <a:avLst/>
          </a:prstGeom>
          <a:solidFill>
            <a:srgbClr val="F6F5F2"/>
          </a:solidFill>
          <a:ln/>
        </p:spPr>
      </p:sp>
      <p:sp>
        <p:nvSpPr>
          <p:cNvPr id="15" name="Text 13"/>
          <p:cNvSpPr/>
          <p:nvPr/>
        </p:nvSpPr>
        <p:spPr>
          <a:xfrm>
            <a:off x="4745736" y="2194560"/>
            <a:ext cx="2852928" cy="219456"/>
          </a:xfrm>
          <a:prstGeom prst="rect">
            <a:avLst/>
          </a:prstGeom>
          <a:noFill/>
          <a:ln/>
        </p:spPr>
        <p:txBody>
          <a:bodyPr wrap="square" lIns="0" tIns="0" rIns="0" bIns="0" rtlCol="0" anchor="ctr"/>
          <a:lstStyle/>
          <a:p>
            <a:pPr indent="0" marL="0">
              <a:buNone/>
            </a:pPr>
            <a:r>
              <a:rPr lang="en-US" sz="950" b="1" spc="180" kern="0" dirty="0">
                <a:solidFill>
                  <a:srgbClr val="8C3A1E"/>
                </a:solidFill>
                <a:latin typeface="Calibri" pitchFamily="34" charset="0"/>
                <a:ea typeface="Calibri" pitchFamily="34" charset="-122"/>
                <a:cs typeface="Calibri" pitchFamily="34" charset="-120"/>
              </a:rPr>
              <a:t>INTERVENTION</a:t>
            </a:r>
            <a:endParaRPr lang="en-US" sz="950" dirty="0"/>
          </a:p>
        </p:txBody>
      </p:sp>
      <p:sp>
        <p:nvSpPr>
          <p:cNvPr id="16" name="Text 14"/>
          <p:cNvSpPr/>
          <p:nvPr/>
        </p:nvSpPr>
        <p:spPr>
          <a:xfrm>
            <a:off x="4745736" y="2468880"/>
            <a:ext cx="2852928" cy="566928"/>
          </a:xfrm>
          <a:prstGeom prst="rect">
            <a:avLst/>
          </a:prstGeom>
          <a:noFill/>
          <a:ln/>
        </p:spPr>
        <p:txBody>
          <a:bodyPr wrap="square" lIns="0" tIns="0" rIns="0" bIns="0" rtlCol="0" anchor="ctr"/>
          <a:lstStyle/>
          <a:p>
            <a:pPr indent="0" marL="0">
              <a:lnSpc>
                <a:spcPts val="2200"/>
              </a:lnSpc>
              <a:buNone/>
            </a:pPr>
            <a:r>
              <a:rPr lang="en-US" sz="1700" b="1" dirty="0">
                <a:solidFill>
                  <a:srgbClr val="1A1A1A"/>
                </a:solidFill>
                <a:latin typeface="Cambria" pitchFamily="34" charset="0"/>
                <a:ea typeface="Cambria" pitchFamily="34" charset="-122"/>
                <a:cs typeface="Cambria" pitchFamily="34" charset="-120"/>
              </a:rPr>
              <a:t>Human refinement</a:t>
            </a:r>
            <a:endParaRPr lang="en-US" sz="1700" dirty="0"/>
          </a:p>
        </p:txBody>
      </p:sp>
      <p:sp>
        <p:nvSpPr>
          <p:cNvPr id="17" name="Text 15"/>
          <p:cNvSpPr/>
          <p:nvPr/>
        </p:nvSpPr>
        <p:spPr>
          <a:xfrm>
            <a:off x="4745736" y="3127248"/>
            <a:ext cx="2852928" cy="548640"/>
          </a:xfrm>
          <a:prstGeom prst="rect">
            <a:avLst/>
          </a:prstGeom>
          <a:noFill/>
          <a:ln/>
        </p:spPr>
        <p:txBody>
          <a:bodyPr wrap="square" lIns="0" tIns="0" rIns="0" bIns="0" rtlCol="0" anchor="ctr"/>
          <a:lstStyle/>
          <a:p>
            <a:pPr indent="0" marL="0">
              <a:lnSpc>
                <a:spcPts val="1700"/>
              </a:lnSpc>
              <a:buNone/>
            </a:pPr>
            <a:r>
              <a:rPr lang="en-US" sz="1150" dirty="0">
                <a:solidFill>
                  <a:srgbClr val="9A9A9A"/>
                </a:solidFill>
                <a:latin typeface="Calibri" pitchFamily="34" charset="0"/>
                <a:ea typeface="Calibri" pitchFamily="34" charset="-122"/>
                <a:cs typeface="Calibri" pitchFamily="34" charset="-120"/>
              </a:rPr>
              <a:t>in    </a:t>
            </a:r>
            <a:pPr indent="0" marL="0">
              <a:lnSpc>
                <a:spcPts val="1700"/>
              </a:lnSpc>
              <a:buNone/>
            </a:pPr>
            <a:r>
              <a:rPr lang="en-US" sz="1150" dirty="0">
                <a:solidFill>
                  <a:srgbClr val="1A1A1A"/>
                </a:solidFill>
                <a:latin typeface="Calibri" pitchFamily="34" charset="0"/>
                <a:ea typeface="Calibri" pitchFamily="34" charset="-122"/>
                <a:cs typeface="Calibri" pitchFamily="34" charset="-120"/>
              </a:rPr>
              <a:t>predicted mask</a:t>
            </a:r>
            <a:endParaRPr lang="en-US" sz="1150" dirty="0"/>
          </a:p>
          <a:p>
            <a:pPr indent="0" marL="0">
              <a:lnSpc>
                <a:spcPts val="1700"/>
              </a:lnSpc>
              <a:buNone/>
            </a:pPr>
            <a:r>
              <a:rPr lang="en-US" sz="1150" dirty="0">
                <a:solidFill>
                  <a:srgbClr val="9A9A9A"/>
                </a:solidFill>
                <a:latin typeface="Calibri" pitchFamily="34" charset="0"/>
                <a:ea typeface="Calibri" pitchFamily="34" charset="-122"/>
                <a:cs typeface="Calibri" pitchFamily="34" charset="-120"/>
              </a:rPr>
              <a:t>out  </a:t>
            </a:r>
            <a:pPr indent="0" marL="0">
              <a:lnSpc>
                <a:spcPts val="1700"/>
              </a:lnSpc>
              <a:buNone/>
            </a:pPr>
            <a:r>
              <a:rPr lang="en-US" sz="1150" dirty="0">
                <a:solidFill>
                  <a:srgbClr val="1A1A1A"/>
                </a:solidFill>
                <a:latin typeface="Calibri" pitchFamily="34" charset="0"/>
                <a:ea typeface="Calibri" pitchFamily="34" charset="-122"/>
                <a:cs typeface="Calibri" pitchFamily="34" charset="-120"/>
              </a:rPr>
              <a:t>corrected mask</a:t>
            </a:r>
            <a:endParaRPr lang="en-US" sz="1150" dirty="0"/>
          </a:p>
        </p:txBody>
      </p:sp>
      <p:sp>
        <p:nvSpPr>
          <p:cNvPr id="18" name="Text 16"/>
          <p:cNvSpPr/>
          <p:nvPr/>
        </p:nvSpPr>
        <p:spPr>
          <a:xfrm>
            <a:off x="4745736" y="3767328"/>
            <a:ext cx="2852928" cy="868680"/>
          </a:xfrm>
          <a:prstGeom prst="rect">
            <a:avLst/>
          </a:prstGeom>
          <a:noFill/>
          <a:ln/>
        </p:spPr>
        <p:txBody>
          <a:bodyPr wrap="square" lIns="0" tIns="0" rIns="0" bIns="0" rtlCol="0" anchor="ctr"/>
          <a:lstStyle/>
          <a:p>
            <a:pPr indent="0" marL="0">
              <a:lnSpc>
                <a:spcPts val="1600"/>
              </a:lnSpc>
              <a:buNone/>
            </a:pPr>
            <a:r>
              <a:rPr lang="en-US" sz="1150" dirty="0">
                <a:solidFill>
                  <a:srgbClr val="6E6E6E"/>
                </a:solidFill>
                <a:latin typeface="Calibri" pitchFamily="34" charset="0"/>
                <a:ea typeface="Calibri" pitchFamily="34" charset="-122"/>
                <a:cs typeface="Calibri" pitchFamily="34" charset="-120"/>
              </a:rPr>
              <a:t>The mask is rendered as an overlay. Wrong object? Fix it locally instead of rewording the prompt.</a:t>
            </a:r>
            <a:endParaRPr lang="en-US" sz="1150" dirty="0"/>
          </a:p>
        </p:txBody>
      </p:sp>
      <p:sp>
        <p:nvSpPr>
          <p:cNvPr id="19" name="Text 17"/>
          <p:cNvSpPr/>
          <p:nvPr/>
        </p:nvSpPr>
        <p:spPr>
          <a:xfrm>
            <a:off x="7836408" y="3127248"/>
            <a:ext cx="329184" cy="274320"/>
          </a:xfrm>
          <a:prstGeom prst="rect">
            <a:avLst/>
          </a:prstGeom>
          <a:noFill/>
          <a:ln/>
        </p:spPr>
        <p:txBody>
          <a:bodyPr wrap="square" lIns="0" tIns="0" rIns="0" bIns="0" rtlCol="0" anchor="ctr"/>
          <a:lstStyle/>
          <a:p>
            <a:pPr algn="ctr" indent="0" marL="0">
              <a:buNone/>
            </a:pPr>
            <a:r>
              <a:rPr lang="en-US" sz="1600" dirty="0">
                <a:solidFill>
                  <a:srgbClr val="9A9A9A"/>
                </a:solidFill>
                <a:latin typeface="Calibri" pitchFamily="34" charset="0"/>
                <a:ea typeface="Calibri" pitchFamily="34" charset="-122"/>
                <a:cs typeface="Calibri" pitchFamily="34" charset="-120"/>
              </a:rPr>
              <a:t>→</a:t>
            </a:r>
            <a:endParaRPr lang="en-US" sz="1600" dirty="0"/>
          </a:p>
        </p:txBody>
      </p:sp>
      <p:sp>
        <p:nvSpPr>
          <p:cNvPr id="20" name="Shape 18"/>
          <p:cNvSpPr/>
          <p:nvPr/>
        </p:nvSpPr>
        <p:spPr>
          <a:xfrm>
            <a:off x="8202168" y="1965960"/>
            <a:ext cx="3310128" cy="2788920"/>
          </a:xfrm>
          <a:prstGeom prst="rect">
            <a:avLst/>
          </a:prstGeom>
          <a:solidFill>
            <a:srgbClr val="F6F5F2"/>
          </a:solidFill>
          <a:ln/>
        </p:spPr>
      </p:sp>
      <p:sp>
        <p:nvSpPr>
          <p:cNvPr id="21" name="Text 19"/>
          <p:cNvSpPr/>
          <p:nvPr/>
        </p:nvSpPr>
        <p:spPr>
          <a:xfrm>
            <a:off x="8458200" y="2194560"/>
            <a:ext cx="2852928" cy="219456"/>
          </a:xfrm>
          <a:prstGeom prst="rect">
            <a:avLst/>
          </a:prstGeom>
          <a:noFill/>
          <a:ln/>
        </p:spPr>
        <p:txBody>
          <a:bodyPr wrap="square" lIns="0" tIns="0" rIns="0" bIns="0" rtlCol="0" anchor="ctr"/>
          <a:lstStyle/>
          <a:p>
            <a:pPr indent="0" marL="0">
              <a:buNone/>
            </a:pPr>
            <a:r>
              <a:rPr lang="en-US" sz="950" b="1" spc="180" kern="0" dirty="0">
                <a:solidFill>
                  <a:srgbClr val="8C3A1E"/>
                </a:solidFill>
                <a:latin typeface="Calibri" pitchFamily="34" charset="0"/>
                <a:ea typeface="Calibri" pitchFamily="34" charset="-122"/>
                <a:cs typeface="Calibri" pitchFamily="34" charset="-120"/>
              </a:rPr>
              <a:t>STAGE 2</a:t>
            </a:r>
            <a:endParaRPr lang="en-US" sz="950" dirty="0"/>
          </a:p>
        </p:txBody>
      </p:sp>
      <p:sp>
        <p:nvSpPr>
          <p:cNvPr id="22" name="Text 20"/>
          <p:cNvSpPr/>
          <p:nvPr/>
        </p:nvSpPr>
        <p:spPr>
          <a:xfrm>
            <a:off x="8458200" y="2468880"/>
            <a:ext cx="2852928" cy="566928"/>
          </a:xfrm>
          <a:prstGeom prst="rect">
            <a:avLst/>
          </a:prstGeom>
          <a:noFill/>
          <a:ln/>
        </p:spPr>
        <p:txBody>
          <a:bodyPr wrap="square" lIns="0" tIns="0" rIns="0" bIns="0" rtlCol="0" anchor="ctr"/>
          <a:lstStyle/>
          <a:p>
            <a:pPr indent="0" marL="0">
              <a:lnSpc>
                <a:spcPts val="2200"/>
              </a:lnSpc>
              <a:buNone/>
            </a:pPr>
            <a:r>
              <a:rPr lang="en-US" sz="1700" b="1" dirty="0">
                <a:solidFill>
                  <a:srgbClr val="1A1A1A"/>
                </a:solidFill>
                <a:latin typeface="Cambria" pitchFamily="34" charset="0"/>
                <a:ea typeface="Cambria" pitchFamily="34" charset="-122"/>
                <a:cs typeface="Cambria" pitchFamily="34" charset="-120"/>
              </a:rPr>
              <a:t>Mask-conditioned diffusion</a:t>
            </a:r>
            <a:endParaRPr lang="en-US" sz="1700" dirty="0"/>
          </a:p>
        </p:txBody>
      </p:sp>
      <p:sp>
        <p:nvSpPr>
          <p:cNvPr id="23" name="Text 21"/>
          <p:cNvSpPr/>
          <p:nvPr/>
        </p:nvSpPr>
        <p:spPr>
          <a:xfrm>
            <a:off x="8458200" y="3127248"/>
            <a:ext cx="2852928" cy="548640"/>
          </a:xfrm>
          <a:prstGeom prst="rect">
            <a:avLst/>
          </a:prstGeom>
          <a:noFill/>
          <a:ln/>
        </p:spPr>
        <p:txBody>
          <a:bodyPr wrap="square" lIns="0" tIns="0" rIns="0" bIns="0" rtlCol="0" anchor="ctr"/>
          <a:lstStyle/>
          <a:p>
            <a:pPr indent="0" marL="0">
              <a:lnSpc>
                <a:spcPts val="1700"/>
              </a:lnSpc>
              <a:buNone/>
            </a:pPr>
            <a:r>
              <a:rPr lang="en-US" sz="1150" dirty="0">
                <a:solidFill>
                  <a:srgbClr val="9A9A9A"/>
                </a:solidFill>
                <a:latin typeface="Calibri" pitchFamily="34" charset="0"/>
                <a:ea typeface="Calibri" pitchFamily="34" charset="-122"/>
                <a:cs typeface="Calibri" pitchFamily="34" charset="-120"/>
              </a:rPr>
              <a:t>in    </a:t>
            </a:r>
            <a:pPr indent="0" marL="0">
              <a:lnSpc>
                <a:spcPts val="1700"/>
              </a:lnSpc>
              <a:buNone/>
            </a:pPr>
            <a:r>
              <a:rPr lang="en-US" sz="1150" dirty="0">
                <a:solidFill>
                  <a:srgbClr val="1A1A1A"/>
                </a:solidFill>
                <a:latin typeface="Calibri" pitchFamily="34" charset="0"/>
                <a:ea typeface="Calibri" pitchFamily="34" charset="-122"/>
                <a:cs typeface="Calibri" pitchFamily="34" charset="-120"/>
              </a:rPr>
              <a:t>image + instruction + mask</a:t>
            </a:r>
            <a:endParaRPr lang="en-US" sz="1150" dirty="0"/>
          </a:p>
          <a:p>
            <a:pPr indent="0" marL="0">
              <a:lnSpc>
                <a:spcPts val="1700"/>
              </a:lnSpc>
              <a:buNone/>
            </a:pPr>
            <a:r>
              <a:rPr lang="en-US" sz="1150" dirty="0">
                <a:solidFill>
                  <a:srgbClr val="9A9A9A"/>
                </a:solidFill>
                <a:latin typeface="Calibri" pitchFamily="34" charset="0"/>
                <a:ea typeface="Calibri" pitchFamily="34" charset="-122"/>
                <a:cs typeface="Calibri" pitchFamily="34" charset="-120"/>
              </a:rPr>
              <a:t>out  </a:t>
            </a:r>
            <a:pPr indent="0" marL="0">
              <a:lnSpc>
                <a:spcPts val="1700"/>
              </a:lnSpc>
              <a:buNone/>
            </a:pPr>
            <a:r>
              <a:rPr lang="en-US" sz="1150" dirty="0">
                <a:solidFill>
                  <a:srgbClr val="1A1A1A"/>
                </a:solidFill>
                <a:latin typeface="Calibri" pitchFamily="34" charset="0"/>
                <a:ea typeface="Calibri" pitchFamily="34" charset="-122"/>
                <a:cs typeface="Calibri" pitchFamily="34" charset="-120"/>
              </a:rPr>
              <a:t>edited image</a:t>
            </a:r>
            <a:endParaRPr lang="en-US" sz="1150" dirty="0"/>
          </a:p>
        </p:txBody>
      </p:sp>
      <p:sp>
        <p:nvSpPr>
          <p:cNvPr id="24" name="Text 22"/>
          <p:cNvSpPr/>
          <p:nvPr/>
        </p:nvSpPr>
        <p:spPr>
          <a:xfrm>
            <a:off x="8458200" y="3767328"/>
            <a:ext cx="2852928" cy="868680"/>
          </a:xfrm>
          <a:prstGeom prst="rect">
            <a:avLst/>
          </a:prstGeom>
          <a:noFill/>
          <a:ln/>
        </p:spPr>
        <p:txBody>
          <a:bodyPr wrap="square" lIns="0" tIns="0" rIns="0" bIns="0" rtlCol="0" anchor="ctr"/>
          <a:lstStyle/>
          <a:p>
            <a:pPr indent="0" marL="0">
              <a:lnSpc>
                <a:spcPts val="1600"/>
              </a:lnSpc>
              <a:buNone/>
            </a:pPr>
            <a:r>
              <a:rPr lang="en-US" sz="1150" dirty="0">
                <a:solidFill>
                  <a:srgbClr val="6E6E6E"/>
                </a:solidFill>
                <a:latin typeface="Calibri" pitchFamily="34" charset="0"/>
                <a:ea typeface="Calibri" pitchFamily="34" charset="-122"/>
                <a:cs typeface="Calibri" pitchFamily="34" charset="-120"/>
              </a:rPr>
              <a:t>Mask enters as a fourth channel. Reconstruction loss is computed only inside the region.</a:t>
            </a:r>
            <a:endParaRPr lang="en-US" sz="1150" dirty="0"/>
          </a:p>
        </p:txBody>
      </p:sp>
      <p:sp>
        <p:nvSpPr>
          <p:cNvPr id="25" name="Text 23"/>
          <p:cNvSpPr/>
          <p:nvPr/>
        </p:nvSpPr>
        <p:spPr>
          <a:xfrm>
            <a:off x="777240" y="5029200"/>
            <a:ext cx="10637215" cy="777240"/>
          </a:xfrm>
          <a:prstGeom prst="rect">
            <a:avLst/>
          </a:prstGeom>
          <a:noFill/>
          <a:ln/>
        </p:spPr>
        <p:txBody>
          <a:bodyPr wrap="square" lIns="0" tIns="0" rIns="0" bIns="0" rtlCol="0" anchor="ctr"/>
          <a:lstStyle/>
          <a:p>
            <a:pPr indent="0" marL="0">
              <a:lnSpc>
                <a:spcPts val="1900"/>
              </a:lnSpc>
              <a:buNone/>
            </a:pPr>
            <a:r>
              <a:rPr lang="en-US" sz="1300" dirty="0">
                <a:solidFill>
                  <a:srgbClr val="6E6E6E"/>
                </a:solidFill>
                <a:latin typeface="Calibri" pitchFamily="34" charset="0"/>
                <a:ea typeface="Calibri" pitchFamily="34" charset="-122"/>
                <a:cs typeface="Calibri" pitchFamily="34" charset="-120"/>
              </a:rPr>
              <a:t>The mask is the interface between the two models. Because it is an explicit, inspectable object rather than an activation inside a denoiser, it can be supervised with ground truth, measured with IoU and Dice independently of the edit, and handed to the user for correction. None of those three is possible when localization stays implicit.</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420624"/>
            <a:ext cx="8229600" cy="219456"/>
          </a:xfrm>
          <a:prstGeom prst="rect">
            <a:avLst/>
          </a:prstGeom>
          <a:noFill/>
          <a:ln/>
        </p:spPr>
        <p:txBody>
          <a:bodyPr wrap="square" lIns="0" tIns="0" rIns="0" bIns="0" rtlCol="0" anchor="ctr"/>
          <a:lstStyle/>
          <a:p>
            <a:pPr indent="0" marL="0">
              <a:buNone/>
            </a:pPr>
            <a:r>
              <a:rPr lang="en-US" sz="1050" b="1" spc="220" kern="0" dirty="0">
                <a:solidFill>
                  <a:srgbClr val="8C3A1E"/>
                </a:solidFill>
                <a:latin typeface="Calibri" pitchFamily="34" charset="0"/>
                <a:ea typeface="Calibri" pitchFamily="34" charset="-122"/>
                <a:cs typeface="Calibri" pitchFamily="34" charset="-120"/>
              </a:rPr>
              <a:t>THE CRUX</a:t>
            </a:r>
            <a:endParaRPr lang="en-US" sz="1050" dirty="0"/>
          </a:p>
        </p:txBody>
      </p:sp>
      <p:sp>
        <p:nvSpPr>
          <p:cNvPr id="3" name="Text 1"/>
          <p:cNvSpPr/>
          <p:nvPr/>
        </p:nvSpPr>
        <p:spPr>
          <a:xfrm>
            <a:off x="777240" y="694944"/>
            <a:ext cx="10637215" cy="603504"/>
          </a:xfrm>
          <a:prstGeom prst="rect">
            <a:avLst/>
          </a:prstGeom>
          <a:noFill/>
          <a:ln/>
        </p:spPr>
        <p:txBody>
          <a:bodyPr wrap="square" lIns="0" tIns="0" rIns="0" bIns="0" rtlCol="0" anchor="ctr"/>
          <a:lstStyle/>
          <a:p>
            <a:pPr indent="0" marL="0">
              <a:buNone/>
            </a:pPr>
            <a:r>
              <a:rPr lang="en-US" sz="3100" b="1" dirty="0">
                <a:solidFill>
                  <a:srgbClr val="1A1A1A"/>
                </a:solidFill>
                <a:latin typeface="Cambria" pitchFamily="34" charset="0"/>
                <a:ea typeface="Cambria" pitchFamily="34" charset="-122"/>
                <a:cs typeface="Cambria" pitchFamily="34" charset="-120"/>
              </a:rPr>
              <a:t>A referent is not an edit region</a:t>
            </a:r>
            <a:endParaRPr lang="en-US" sz="3100" dirty="0"/>
          </a:p>
        </p:txBody>
      </p:sp>
      <p:sp>
        <p:nvSpPr>
          <p:cNvPr id="4" name="Text 2"/>
          <p:cNvSpPr/>
          <p:nvPr/>
        </p:nvSpPr>
        <p:spPr>
          <a:xfrm>
            <a:off x="777240" y="1335024"/>
            <a:ext cx="10637215" cy="347472"/>
          </a:xfrm>
          <a:prstGeom prst="rect">
            <a:avLst/>
          </a:prstGeom>
          <a:noFill/>
          <a:ln/>
        </p:spPr>
        <p:txBody>
          <a:bodyPr wrap="square" lIns="0" tIns="0" rIns="0" bIns="0" rtlCol="0" anchor="ctr"/>
          <a:lstStyle/>
          <a:p>
            <a:pPr indent="0" marL="0">
              <a:buNone/>
            </a:pPr>
            <a:r>
              <a:rPr lang="en-US" sz="1400" dirty="0">
                <a:solidFill>
                  <a:srgbClr val="6E6E6E"/>
                </a:solidFill>
                <a:latin typeface="Calibri" pitchFamily="34" charset="0"/>
                <a:ea typeface="Calibri" pitchFamily="34" charset="-122"/>
                <a:cs typeface="Calibri" pitchFamily="34" charset="-120"/>
              </a:rPr>
              <a:t>Why existing text-to-mask models cannot simply be reused, and why COCO cannot supply the supervision.</a:t>
            </a:r>
            <a:endParaRPr lang="en-US" sz="1400" dirty="0"/>
          </a:p>
        </p:txBody>
      </p:sp>
      <p:sp>
        <p:nvSpPr>
          <p:cNvPr id="5" name="Shape 3"/>
          <p:cNvSpPr/>
          <p:nvPr/>
        </p:nvSpPr>
        <p:spPr>
          <a:xfrm>
            <a:off x="777240" y="6291072"/>
            <a:ext cx="10637215" cy="7315"/>
          </a:xfrm>
          <a:prstGeom prst="rect">
            <a:avLst/>
          </a:prstGeom>
          <a:solidFill>
            <a:srgbClr val="DEDCD7"/>
          </a:solidFill>
          <a:ln/>
        </p:spPr>
      </p:sp>
      <p:sp>
        <p:nvSpPr>
          <p:cNvPr id="6" name="Text 4"/>
          <p:cNvSpPr/>
          <p:nvPr/>
        </p:nvSpPr>
        <p:spPr>
          <a:xfrm>
            <a:off x="777240" y="6382512"/>
            <a:ext cx="7315200" cy="256032"/>
          </a:xfrm>
          <a:prstGeom prst="rect">
            <a:avLst/>
          </a:prstGeom>
          <a:noFill/>
          <a:ln/>
        </p:spPr>
        <p:txBody>
          <a:bodyPr wrap="square" lIns="0" tIns="0" rIns="0" bIns="0" rtlCol="0" anchor="ctr"/>
          <a:lstStyle/>
          <a:p>
            <a:pPr indent="0" marL="0">
              <a:buNone/>
            </a:pPr>
            <a:r>
              <a:rPr lang="en-US" sz="900" dirty="0">
                <a:solidFill>
                  <a:srgbClr val="9A9A9A"/>
                </a:solidFill>
                <a:latin typeface="Calibri" pitchFamily="34" charset="0"/>
                <a:ea typeface="Calibri" pitchFamily="34" charset="-122"/>
                <a:cs typeface="Calibri" pitchFamily="34" charset="-120"/>
              </a:rPr>
              <a:t>Instruct-Seg-Edit  ·  Foundations of Data Science  ·  Review 1</a:t>
            </a:r>
            <a:endParaRPr lang="en-US" sz="900" dirty="0"/>
          </a:p>
        </p:txBody>
      </p:sp>
      <p:sp>
        <p:nvSpPr>
          <p:cNvPr id="7" name="Text 5"/>
          <p:cNvSpPr/>
          <p:nvPr/>
        </p:nvSpPr>
        <p:spPr>
          <a:xfrm>
            <a:off x="10865815" y="6382512"/>
            <a:ext cx="548640" cy="256032"/>
          </a:xfrm>
          <a:prstGeom prst="rect">
            <a:avLst/>
          </a:prstGeom>
          <a:noFill/>
          <a:ln/>
        </p:spPr>
        <p:txBody>
          <a:bodyPr wrap="square" lIns="0" tIns="0" rIns="0" bIns="0" rtlCol="0" anchor="ctr"/>
          <a:lstStyle/>
          <a:p>
            <a:pPr algn="r" indent="0" marL="0">
              <a:buNone/>
            </a:pPr>
            <a:r>
              <a:rPr lang="en-US" sz="900" dirty="0">
                <a:solidFill>
                  <a:srgbClr val="9A9A9A"/>
                </a:solidFill>
                <a:latin typeface="Calibri" pitchFamily="34" charset="0"/>
                <a:ea typeface="Calibri" pitchFamily="34" charset="-122"/>
                <a:cs typeface="Calibri" pitchFamily="34" charset="-120"/>
              </a:rPr>
              <a:t>4</a:t>
            </a:r>
            <a:endParaRPr lang="en-US" sz="900" dirty="0"/>
          </a:p>
        </p:txBody>
      </p:sp>
      <p:sp>
        <p:nvSpPr>
          <p:cNvPr id="8" name="Text 6"/>
          <p:cNvSpPr/>
          <p:nvPr/>
        </p:nvSpPr>
        <p:spPr>
          <a:xfrm>
            <a:off x="777240" y="1965960"/>
            <a:ext cx="10637215" cy="603504"/>
          </a:xfrm>
          <a:prstGeom prst="rect">
            <a:avLst/>
          </a:prstGeom>
          <a:noFill/>
          <a:ln/>
        </p:spPr>
        <p:txBody>
          <a:bodyPr wrap="square" lIns="0" tIns="0" rIns="0" bIns="0"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“Put a hat on the man”</a:t>
            </a:r>
            <a:endParaRPr lang="en-US" sz="3000" dirty="0"/>
          </a:p>
        </p:txBody>
      </p:sp>
      <p:sp>
        <p:nvSpPr>
          <p:cNvPr id="9" name="Shape 7"/>
          <p:cNvSpPr/>
          <p:nvPr/>
        </p:nvSpPr>
        <p:spPr>
          <a:xfrm>
            <a:off x="777240" y="2743200"/>
            <a:ext cx="5138928" cy="1600200"/>
          </a:xfrm>
          <a:prstGeom prst="rect">
            <a:avLst/>
          </a:prstGeom>
          <a:solidFill>
            <a:srgbClr val="F6F5F2"/>
          </a:solidFill>
          <a:ln/>
        </p:spPr>
      </p:sp>
      <p:sp>
        <p:nvSpPr>
          <p:cNvPr id="10" name="Text 8"/>
          <p:cNvSpPr/>
          <p:nvPr/>
        </p:nvSpPr>
        <p:spPr>
          <a:xfrm>
            <a:off x="1051560" y="2962656"/>
            <a:ext cx="4572000" cy="237744"/>
          </a:xfrm>
          <a:prstGeom prst="rect">
            <a:avLst/>
          </a:prstGeom>
          <a:noFill/>
          <a:ln/>
        </p:spPr>
        <p:txBody>
          <a:bodyPr wrap="square" lIns="0" tIns="0" rIns="0" bIns="0" rtlCol="0" anchor="ctr"/>
          <a:lstStyle/>
          <a:p>
            <a:pPr indent="0" marL="0">
              <a:buNone/>
            </a:pPr>
            <a:r>
              <a:rPr lang="en-US" sz="1100" b="1" dirty="0">
                <a:solidFill>
                  <a:srgbClr val="6E6E6E"/>
                </a:solidFill>
                <a:latin typeface="Calibri" pitchFamily="34" charset="0"/>
                <a:ea typeface="Calibri" pitchFamily="34" charset="-122"/>
                <a:cs typeface="Calibri" pitchFamily="34" charset="-120"/>
              </a:rPr>
              <a:t>What a referring-expression model returns</a:t>
            </a:r>
            <a:endParaRPr lang="en-US" sz="1100" dirty="0"/>
          </a:p>
        </p:txBody>
      </p:sp>
      <p:sp>
        <p:nvSpPr>
          <p:cNvPr id="11" name="Text 9"/>
          <p:cNvSpPr/>
          <p:nvPr/>
        </p:nvSpPr>
        <p:spPr>
          <a:xfrm>
            <a:off x="1051560" y="3255264"/>
            <a:ext cx="4572000" cy="438912"/>
          </a:xfrm>
          <a:prstGeom prst="rect">
            <a:avLst/>
          </a:prstGeom>
          <a:noFill/>
          <a:ln/>
        </p:spPr>
        <p:txBody>
          <a:bodyPr wrap="square" lIns="0" tIns="0" rIns="0" bIns="0" rtlCol="0" anchor="ctr"/>
          <a:lstStyle/>
          <a:p>
            <a:pPr indent="0" marL="0">
              <a:buNone/>
            </a:pPr>
            <a:r>
              <a:rPr lang="en-US" sz="2500" b="1" dirty="0">
                <a:solidFill>
                  <a:srgbClr val="1A1A1A"/>
                </a:solidFill>
                <a:latin typeface="Cambria" pitchFamily="34" charset="0"/>
                <a:ea typeface="Cambria" pitchFamily="34" charset="-122"/>
                <a:cs typeface="Cambria" pitchFamily="34" charset="-120"/>
              </a:rPr>
              <a:t>the man</a:t>
            </a:r>
            <a:endParaRPr lang="en-US" sz="2500" dirty="0"/>
          </a:p>
        </p:txBody>
      </p:sp>
      <p:sp>
        <p:nvSpPr>
          <p:cNvPr id="12" name="Text 10"/>
          <p:cNvSpPr/>
          <p:nvPr/>
        </p:nvSpPr>
        <p:spPr>
          <a:xfrm>
            <a:off x="1051560" y="3767328"/>
            <a:ext cx="4572000" cy="420624"/>
          </a:xfrm>
          <a:prstGeom prst="rect">
            <a:avLst/>
          </a:prstGeom>
          <a:noFill/>
          <a:ln/>
        </p:spPr>
        <p:txBody>
          <a:bodyPr wrap="square" lIns="0" tIns="0" rIns="0" bIns="0" rtlCol="0" anchor="ctr"/>
          <a:lstStyle/>
          <a:p>
            <a:pPr indent="0" marL="0">
              <a:lnSpc>
                <a:spcPts val="1500"/>
              </a:lnSpc>
              <a:buNone/>
            </a:pPr>
            <a:r>
              <a:rPr lang="en-US" sz="1100" dirty="0">
                <a:solidFill>
                  <a:srgbClr val="6E6E6E"/>
                </a:solidFill>
                <a:latin typeface="Calibri" pitchFamily="34" charset="0"/>
                <a:ea typeface="Calibri" pitchFamily="34" charset="-122"/>
                <a:cs typeface="Calibri" pitchFamily="34" charset="-120"/>
              </a:rPr>
              <a:t>CLIPSeg, LAVT, SAM, Grounded-SAM — the object the phrase denotes</a:t>
            </a:r>
            <a:endParaRPr lang="en-US" sz="1100" dirty="0"/>
          </a:p>
        </p:txBody>
      </p:sp>
      <p:sp>
        <p:nvSpPr>
          <p:cNvPr id="13" name="Shape 11"/>
          <p:cNvSpPr/>
          <p:nvPr/>
        </p:nvSpPr>
        <p:spPr>
          <a:xfrm>
            <a:off x="6263640" y="2743200"/>
            <a:ext cx="5138928" cy="1600200"/>
          </a:xfrm>
          <a:prstGeom prst="rect">
            <a:avLst/>
          </a:prstGeom>
          <a:solidFill>
            <a:srgbClr val="F6F5F2"/>
          </a:solidFill>
          <a:ln/>
        </p:spPr>
      </p:sp>
      <p:sp>
        <p:nvSpPr>
          <p:cNvPr id="14" name="Text 12"/>
          <p:cNvSpPr/>
          <p:nvPr/>
        </p:nvSpPr>
        <p:spPr>
          <a:xfrm>
            <a:off x="6537960" y="2962656"/>
            <a:ext cx="4572000" cy="237744"/>
          </a:xfrm>
          <a:prstGeom prst="rect">
            <a:avLst/>
          </a:prstGeom>
          <a:noFill/>
          <a:ln/>
        </p:spPr>
        <p:txBody>
          <a:bodyPr wrap="square" lIns="0" tIns="0" rIns="0" bIns="0" rtlCol="0" anchor="ctr"/>
          <a:lstStyle/>
          <a:p>
            <a:pPr indent="0" marL="0">
              <a:buNone/>
            </a:pPr>
            <a:r>
              <a:rPr lang="en-US" sz="1100" b="1" dirty="0">
                <a:solidFill>
                  <a:srgbClr val="6E6E6E"/>
                </a:solidFill>
                <a:latin typeface="Calibri" pitchFamily="34" charset="0"/>
                <a:ea typeface="Calibri" pitchFamily="34" charset="-122"/>
                <a:cs typeface="Calibri" pitchFamily="34" charset="-120"/>
              </a:rPr>
              <a:t>What the edit actually changes</a:t>
            </a:r>
            <a:endParaRPr lang="en-US" sz="1100" dirty="0"/>
          </a:p>
        </p:txBody>
      </p:sp>
      <p:sp>
        <p:nvSpPr>
          <p:cNvPr id="15" name="Text 13"/>
          <p:cNvSpPr/>
          <p:nvPr/>
        </p:nvSpPr>
        <p:spPr>
          <a:xfrm>
            <a:off x="6537960" y="3255264"/>
            <a:ext cx="4663440" cy="438912"/>
          </a:xfrm>
          <a:prstGeom prst="rect">
            <a:avLst/>
          </a:prstGeom>
          <a:noFill/>
          <a:ln/>
        </p:spPr>
        <p:txBody>
          <a:bodyPr wrap="square" lIns="0" tIns="0" rIns="0" bIns="0" rtlCol="0" anchor="ctr"/>
          <a:lstStyle/>
          <a:p>
            <a:pPr indent="0" marL="0">
              <a:buNone/>
            </a:pPr>
            <a:r>
              <a:rPr lang="en-US" sz="2100" b="1" dirty="0">
                <a:solidFill>
                  <a:srgbClr val="8C3A1E"/>
                </a:solidFill>
                <a:latin typeface="Cambria" pitchFamily="34" charset="0"/>
                <a:ea typeface="Cambria" pitchFamily="34" charset="-122"/>
                <a:cs typeface="Cambria" pitchFamily="34" charset="-120"/>
              </a:rPr>
              <a:t>the empty space above his head</a:t>
            </a:r>
            <a:endParaRPr lang="en-US" sz="2100" dirty="0"/>
          </a:p>
        </p:txBody>
      </p:sp>
      <p:sp>
        <p:nvSpPr>
          <p:cNvPr id="16" name="Text 14"/>
          <p:cNvSpPr/>
          <p:nvPr/>
        </p:nvSpPr>
        <p:spPr>
          <a:xfrm>
            <a:off x="6537960" y="3767328"/>
            <a:ext cx="4572000" cy="420624"/>
          </a:xfrm>
          <a:prstGeom prst="rect">
            <a:avLst/>
          </a:prstGeom>
          <a:noFill/>
          <a:ln/>
        </p:spPr>
        <p:txBody>
          <a:bodyPr wrap="square" lIns="0" tIns="0" rIns="0" bIns="0" rtlCol="0" anchor="ctr"/>
          <a:lstStyle/>
          <a:p>
            <a:pPr indent="0" marL="0">
              <a:lnSpc>
                <a:spcPts val="1500"/>
              </a:lnSpc>
              <a:buNone/>
            </a:pPr>
            <a:r>
              <a:rPr lang="en-US" sz="1100" dirty="0">
                <a:solidFill>
                  <a:srgbClr val="6E6E6E"/>
                </a:solidFill>
                <a:latin typeface="Calibri" pitchFamily="34" charset="0"/>
                <a:ea typeface="Calibri" pitchFamily="34" charset="-122"/>
                <a:cs typeface="Calibri" pitchFamily="34" charset="-120"/>
              </a:rPr>
              <a:t>A region no referring-expression model will ever return, because it was never trained on that objective</a:t>
            </a:r>
            <a:endParaRPr lang="en-US" sz="1100" dirty="0"/>
          </a:p>
        </p:txBody>
      </p:sp>
      <p:sp>
        <p:nvSpPr>
          <p:cNvPr id="17" name="Text 15"/>
          <p:cNvSpPr/>
          <p:nvPr/>
        </p:nvSpPr>
        <p:spPr>
          <a:xfrm>
            <a:off x="777240" y="4617720"/>
            <a:ext cx="10637215" cy="1005840"/>
          </a:xfrm>
          <a:prstGeom prst="rect">
            <a:avLst/>
          </a:prstGeom>
          <a:noFill/>
          <a:ln/>
        </p:spPr>
        <p:txBody>
          <a:bodyPr wrap="square" lIns="0" tIns="0" rIns="0" bIns="0" rtlCol="0" anchor="ctr"/>
          <a:lstStyle/>
          <a:p>
            <a:pPr indent="0" marL="0">
              <a:lnSpc>
                <a:spcPts val="1900"/>
              </a:lnSpc>
              <a:buNone/>
            </a:pPr>
            <a:r>
              <a:rPr lang="en-US" sz="1300" dirty="0">
                <a:solidFill>
                  <a:srgbClr val="6E6E6E"/>
                </a:solidFill>
                <a:latin typeface="Calibri" pitchFamily="34" charset="0"/>
                <a:ea typeface="Calibri" pitchFamily="34" charset="-122"/>
                <a:cs typeface="Calibri" pitchFamily="34" charset="-120"/>
              </a:rPr>
              <a:t>Two consequences follow. First, no existing text-to-mask model can be dropped in as Stage 1. Second — and this is the one that decided our dataset — a segmentation corpus such as MSCOCO-seg cannot supply the supervision either, because its instance masks annotate referents. Training on them would reproduce exactly the behaviour we identify as the gap. The edit mask has to be recovered empirically, from a real before-and-after pair.</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420624"/>
            <a:ext cx="8229600" cy="219456"/>
          </a:xfrm>
          <a:prstGeom prst="rect">
            <a:avLst/>
          </a:prstGeom>
          <a:noFill/>
          <a:ln/>
        </p:spPr>
        <p:txBody>
          <a:bodyPr wrap="square" lIns="0" tIns="0" rIns="0" bIns="0" rtlCol="0" anchor="ctr"/>
          <a:lstStyle/>
          <a:p>
            <a:pPr indent="0" marL="0">
              <a:buNone/>
            </a:pPr>
            <a:r>
              <a:rPr lang="en-US" sz="1050" b="1" spc="220" kern="0" dirty="0">
                <a:solidFill>
                  <a:srgbClr val="8C3A1E"/>
                </a:solidFill>
                <a:latin typeface="Calibri" pitchFamily="34" charset="0"/>
                <a:ea typeface="Calibri" pitchFamily="34" charset="-122"/>
                <a:cs typeface="Calibri" pitchFamily="34" charset="-120"/>
              </a:rPr>
              <a:t>AIMS</a:t>
            </a:r>
            <a:endParaRPr lang="en-US" sz="1050" dirty="0"/>
          </a:p>
        </p:txBody>
      </p:sp>
      <p:sp>
        <p:nvSpPr>
          <p:cNvPr id="3" name="Text 1"/>
          <p:cNvSpPr/>
          <p:nvPr/>
        </p:nvSpPr>
        <p:spPr>
          <a:xfrm>
            <a:off x="777240" y="694944"/>
            <a:ext cx="10637215" cy="603504"/>
          </a:xfrm>
          <a:prstGeom prst="rect">
            <a:avLst/>
          </a:prstGeom>
          <a:noFill/>
          <a:ln/>
        </p:spPr>
        <p:txBody>
          <a:bodyPr wrap="square" lIns="0" tIns="0" rIns="0" bIns="0" rtlCol="0" anchor="ctr"/>
          <a:lstStyle/>
          <a:p>
            <a:pPr indent="0" marL="0">
              <a:buNone/>
            </a:pPr>
            <a:r>
              <a:rPr lang="en-US" sz="3100" b="1" dirty="0">
                <a:solidFill>
                  <a:srgbClr val="1A1A1A"/>
                </a:solidFill>
                <a:latin typeface="Cambria" pitchFamily="34" charset="0"/>
                <a:ea typeface="Cambria" pitchFamily="34" charset="-122"/>
                <a:cs typeface="Cambria" pitchFamily="34" charset="-120"/>
              </a:rPr>
              <a:t>What we are aiming to achieve</a:t>
            </a:r>
            <a:endParaRPr lang="en-US" sz="3100" dirty="0"/>
          </a:p>
        </p:txBody>
      </p:sp>
      <p:sp>
        <p:nvSpPr>
          <p:cNvPr id="4" name="Text 2"/>
          <p:cNvSpPr/>
          <p:nvPr/>
        </p:nvSpPr>
        <p:spPr>
          <a:xfrm>
            <a:off x="777240" y="1335024"/>
            <a:ext cx="10637215" cy="347472"/>
          </a:xfrm>
          <a:prstGeom prst="rect">
            <a:avLst/>
          </a:prstGeom>
          <a:noFill/>
          <a:ln/>
        </p:spPr>
        <p:txBody>
          <a:bodyPr wrap="square" lIns="0" tIns="0" rIns="0" bIns="0" rtlCol="0" anchor="ctr"/>
          <a:lstStyle/>
          <a:p>
            <a:pPr indent="0" marL="0">
              <a:buNone/>
            </a:pPr>
            <a:r>
              <a:rPr lang="en-US" sz="1400" dirty="0">
                <a:solidFill>
                  <a:srgbClr val="6E6E6E"/>
                </a:solidFill>
                <a:latin typeface="Calibri" pitchFamily="34" charset="0"/>
                <a:ea typeface="Calibri" pitchFamily="34" charset="-122"/>
                <a:cs typeface="Calibri" pitchFamily="34" charset="-120"/>
              </a:rPr>
              <a:t>Five objectives, each with the measurement that closes it.</a:t>
            </a:r>
            <a:endParaRPr lang="en-US" sz="1400" dirty="0"/>
          </a:p>
        </p:txBody>
      </p:sp>
      <p:sp>
        <p:nvSpPr>
          <p:cNvPr id="5" name="Shape 3"/>
          <p:cNvSpPr/>
          <p:nvPr/>
        </p:nvSpPr>
        <p:spPr>
          <a:xfrm>
            <a:off x="777240" y="6291072"/>
            <a:ext cx="10637215" cy="7315"/>
          </a:xfrm>
          <a:prstGeom prst="rect">
            <a:avLst/>
          </a:prstGeom>
          <a:solidFill>
            <a:srgbClr val="DEDCD7"/>
          </a:solidFill>
          <a:ln/>
        </p:spPr>
      </p:sp>
      <p:sp>
        <p:nvSpPr>
          <p:cNvPr id="6" name="Text 4"/>
          <p:cNvSpPr/>
          <p:nvPr/>
        </p:nvSpPr>
        <p:spPr>
          <a:xfrm>
            <a:off x="777240" y="6382512"/>
            <a:ext cx="7315200" cy="256032"/>
          </a:xfrm>
          <a:prstGeom prst="rect">
            <a:avLst/>
          </a:prstGeom>
          <a:noFill/>
          <a:ln/>
        </p:spPr>
        <p:txBody>
          <a:bodyPr wrap="square" lIns="0" tIns="0" rIns="0" bIns="0" rtlCol="0" anchor="ctr"/>
          <a:lstStyle/>
          <a:p>
            <a:pPr indent="0" marL="0">
              <a:buNone/>
            </a:pPr>
            <a:r>
              <a:rPr lang="en-US" sz="900" dirty="0">
                <a:solidFill>
                  <a:srgbClr val="9A9A9A"/>
                </a:solidFill>
                <a:latin typeface="Calibri" pitchFamily="34" charset="0"/>
                <a:ea typeface="Calibri" pitchFamily="34" charset="-122"/>
                <a:cs typeface="Calibri" pitchFamily="34" charset="-120"/>
              </a:rPr>
              <a:t>Instruct-Seg-Edit  ·  Foundations of Data Science  ·  Review 1</a:t>
            </a:r>
            <a:endParaRPr lang="en-US" sz="900" dirty="0"/>
          </a:p>
        </p:txBody>
      </p:sp>
      <p:sp>
        <p:nvSpPr>
          <p:cNvPr id="7" name="Text 5"/>
          <p:cNvSpPr/>
          <p:nvPr/>
        </p:nvSpPr>
        <p:spPr>
          <a:xfrm>
            <a:off x="10865815" y="6382512"/>
            <a:ext cx="548640" cy="256032"/>
          </a:xfrm>
          <a:prstGeom prst="rect">
            <a:avLst/>
          </a:prstGeom>
          <a:noFill/>
          <a:ln/>
        </p:spPr>
        <p:txBody>
          <a:bodyPr wrap="square" lIns="0" tIns="0" rIns="0" bIns="0" rtlCol="0" anchor="ctr"/>
          <a:lstStyle/>
          <a:p>
            <a:pPr algn="r" indent="0" marL="0">
              <a:buNone/>
            </a:pPr>
            <a:r>
              <a:rPr lang="en-US" sz="900" dirty="0">
                <a:solidFill>
                  <a:srgbClr val="9A9A9A"/>
                </a:solidFill>
                <a:latin typeface="Calibri" pitchFamily="34" charset="0"/>
                <a:ea typeface="Calibri" pitchFamily="34" charset="-122"/>
                <a:cs typeface="Calibri" pitchFamily="34" charset="-120"/>
              </a:rPr>
              <a:t>5</a:t>
            </a:r>
            <a:endParaRPr lang="en-US" sz="9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777240" y="1920240"/>
          <a:ext cx="10637215" cy="914400"/>
        </p:xfrm>
        <a:graphic>
          <a:graphicData uri="http://schemas.openxmlformats.org/drawingml/2006/table">
            <a:tbl>
              <a:tblPr/>
              <a:tblGrid>
                <a:gridCol w="3246120"/>
                <a:gridCol w="3785616"/>
                <a:gridCol w="3602736"/>
              </a:tblGrid>
              <a:tr h="566928">
                <a:tc>
                  <a:txBody>
                    <a:bodyPr/>
                    <a:lstStyle/>
                    <a:p>
                      <a:pPr indent="0" marL="0">
                        <a:buNone/>
                      </a:pPr>
                      <a:r>
                        <a:rPr lang="en-US" sz="1150" b="1" dirty="0">
                          <a:solidFill>
                            <a:srgbClr val="1A1A1A"/>
                          </a:solidFill>
                          <a:latin typeface="Calibri" pitchFamily="34" charset="0"/>
                          <a:ea typeface="Calibri" pitchFamily="34" charset="-122"/>
                          <a:cs typeface="Calibri" pitchFamily="34" charset="-120"/>
                        </a:rPr>
                        <a:t>Objective</a:t>
                      </a:r>
                      <a:endParaRPr lang="en-US" sz="115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6F5F2"/>
                    </a:solidFill>
                  </a:tcPr>
                </a:tc>
                <a:tc>
                  <a:txBody>
                    <a:bodyPr/>
                    <a:lstStyle/>
                    <a:p>
                      <a:pPr indent="0" marL="0">
                        <a:buNone/>
                      </a:pPr>
                      <a:r>
                        <a:rPr lang="en-US" sz="1150" b="1" dirty="0">
                          <a:solidFill>
                            <a:srgbClr val="1A1A1A"/>
                          </a:solidFill>
                          <a:latin typeface="Calibri" pitchFamily="34" charset="0"/>
                          <a:ea typeface="Calibri" pitchFamily="34" charset="-122"/>
                          <a:cs typeface="Calibri" pitchFamily="34" charset="-120"/>
                        </a:rPr>
                        <a:t>How it is achieved</a:t>
                      </a:r>
                      <a:endParaRPr lang="en-US" sz="115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6F5F2"/>
                    </a:solidFill>
                  </a:tcPr>
                </a:tc>
                <a:tc>
                  <a:txBody>
                    <a:bodyPr/>
                    <a:lstStyle/>
                    <a:p>
                      <a:pPr indent="0" marL="0">
                        <a:buNone/>
                      </a:pPr>
                      <a:r>
                        <a:rPr lang="en-US" sz="1150" b="1" dirty="0">
                          <a:solidFill>
                            <a:srgbClr val="1A1A1A"/>
                          </a:solidFill>
                          <a:latin typeface="Calibri" pitchFamily="34" charset="0"/>
                          <a:ea typeface="Calibri" pitchFamily="34" charset="-122"/>
                          <a:cs typeface="Calibri" pitchFamily="34" charset="-120"/>
                        </a:rPr>
                        <a:t>How we know it worked</a:t>
                      </a:r>
                      <a:endParaRPr lang="en-US" sz="115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6F5F2"/>
                    </a:solidFill>
                  </a:tcPr>
                </a:tc>
              </a:tr>
              <a:tr h="566928">
                <a:tc>
                  <a:txBody>
                    <a:bodyPr/>
                    <a:lstStyle/>
                    <a:p>
                      <a:pPr indent="0" marL="0">
                        <a:buNone/>
                      </a:pPr>
                      <a:r>
                        <a:rPr lang="en-US" sz="1150" dirty="0">
                          <a:solidFill>
                            <a:srgbClr val="1A1A1A"/>
                          </a:solidFill>
                          <a:latin typeface="Calibri" pitchFamily="34" charset="0"/>
                          <a:ea typeface="Calibri" pitchFamily="34" charset="-122"/>
                          <a:cs typeface="Calibri" pitchFamily="34" charset="-120"/>
                        </a:rPr>
                        <a:t>Derive the supervision that does not exist</a:t>
                      </a:r>
                      <a:endParaRPr lang="en-US" sz="115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c>
                  <a:txBody>
                    <a:bodyPr/>
                    <a:lstStyle/>
                    <a:p>
                      <a:pPr indent="0" marL="0">
                        <a:buNone/>
                      </a:pPr>
                      <a:r>
                        <a:rPr lang="en-US" sz="1150" dirty="0">
                          <a:solidFill>
                            <a:srgbClr val="1A1A1A"/>
                          </a:solidFill>
                          <a:latin typeface="Calibri" pitchFamily="34" charset="0"/>
                          <a:ea typeface="Calibri" pitchFamily="34" charset="-122"/>
                          <a:cs typeface="Calibri" pitchFamily="34" charset="-120"/>
                        </a:rPr>
                        <a:t>Generate instruction, edited image and edit mask on top of a public caption corpus</a:t>
                      </a:r>
                      <a:endParaRPr lang="en-US" sz="115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c>
                  <a:txBody>
                    <a:bodyPr/>
                    <a:lstStyle/>
                    <a:p>
                      <a:pPr indent="0" marL="0">
                        <a:buNone/>
                      </a:pPr>
                      <a:r>
                        <a:rPr lang="en-US" sz="1150" dirty="0">
                          <a:solidFill>
                            <a:srgbClr val="1A1A1A"/>
                          </a:solidFill>
                          <a:latin typeface="Calibri" pitchFamily="34" charset="0"/>
                          <a:ea typeface="Calibri" pitchFamily="34" charset="-122"/>
                          <a:cs typeface="Calibri" pitchFamily="34" charset="-120"/>
                        </a:rPr>
                        <a:t>A dataset of complete (image, instruction, edited image, mask) records</a:t>
                      </a:r>
                      <a:endParaRPr lang="en-US" sz="115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r>
              <a:tr h="566928">
                <a:tc>
                  <a:txBody>
                    <a:bodyPr/>
                    <a:lstStyle/>
                    <a:p>
                      <a:pPr indent="0" marL="0">
                        <a:buNone/>
                      </a:pPr>
                      <a:r>
                        <a:rPr lang="en-US" sz="1150" dirty="0">
                          <a:solidFill>
                            <a:srgbClr val="1A1A1A"/>
                          </a:solidFill>
                          <a:latin typeface="Calibri" pitchFamily="34" charset="0"/>
                          <a:ea typeface="Calibri" pitchFamily="34" charset="-122"/>
                          <a:cs typeface="Calibri" pitchFamily="34" charset="-120"/>
                        </a:rPr>
                        <a:t>Predict the edit region from language</a:t>
                      </a:r>
                      <a:endParaRPr lang="en-US" sz="115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c>
                  <a:txBody>
                    <a:bodyPr/>
                    <a:lstStyle/>
                    <a:p>
                      <a:pPr indent="0" marL="0">
                        <a:buNone/>
                      </a:pPr>
                      <a:r>
                        <a:rPr lang="en-US" sz="1150" dirty="0">
                          <a:solidFill>
                            <a:srgbClr val="1A1A1A"/>
                          </a:solidFill>
                          <a:latin typeface="Calibri" pitchFamily="34" charset="0"/>
                          <a:ea typeface="Calibri" pitchFamily="34" charset="-122"/>
                          <a:cs typeface="Calibri" pitchFamily="34" charset="-120"/>
                        </a:rPr>
                        <a:t>Instruction-conditioned segmentation network at interactive speed</a:t>
                      </a:r>
                      <a:endParaRPr lang="en-US" sz="115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c>
                  <a:txBody>
                    <a:bodyPr/>
                    <a:lstStyle/>
                    <a:p>
                      <a:pPr indent="0" marL="0">
                        <a:buNone/>
                      </a:pPr>
                      <a:r>
                        <a:rPr lang="en-US" sz="1150" dirty="0">
                          <a:solidFill>
                            <a:srgbClr val="1A1A1A"/>
                          </a:solidFill>
                          <a:latin typeface="Calibri" pitchFamily="34" charset="0"/>
                          <a:ea typeface="Calibri" pitchFamily="34" charset="-122"/>
                          <a:cs typeface="Calibri" pitchFamily="34" charset="-120"/>
                        </a:rPr>
                        <a:t>IoU and Dice of the predicted region against held-out ground truth</a:t>
                      </a:r>
                      <a:endParaRPr lang="en-US" sz="115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r>
              <a:tr h="566928">
                <a:tc>
                  <a:txBody>
                    <a:bodyPr/>
                    <a:lstStyle/>
                    <a:p>
                      <a:pPr indent="0" marL="0">
                        <a:buNone/>
                      </a:pPr>
                      <a:r>
                        <a:rPr lang="en-US" sz="1150" dirty="0">
                          <a:solidFill>
                            <a:srgbClr val="1A1A1A"/>
                          </a:solidFill>
                          <a:latin typeface="Calibri" pitchFamily="34" charset="0"/>
                          <a:ea typeface="Calibri" pitchFamily="34" charset="-122"/>
                          <a:cs typeface="Calibri" pitchFamily="34" charset="-120"/>
                        </a:rPr>
                        <a:t>Confine generation to that region</a:t>
                      </a:r>
                      <a:endParaRPr lang="en-US" sz="115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c>
                  <a:txBody>
                    <a:bodyPr/>
                    <a:lstStyle/>
                    <a:p>
                      <a:pPr indent="0" marL="0">
                        <a:buNone/>
                      </a:pPr>
                      <a:r>
                        <a:rPr lang="en-US" sz="1150" dirty="0">
                          <a:solidFill>
                            <a:srgbClr val="1A1A1A"/>
                          </a:solidFill>
                          <a:latin typeface="Calibri" pitchFamily="34" charset="0"/>
                          <a:ea typeface="Calibri" pitchFamily="34" charset="-122"/>
                          <a:cs typeface="Calibri" pitchFamily="34" charset="-120"/>
                        </a:rPr>
                        <a:t>Mask as a fourth input channel; reconstruction loss computed only inside it</a:t>
                      </a:r>
                      <a:endParaRPr lang="en-US" sz="115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c>
                  <a:txBody>
                    <a:bodyPr/>
                    <a:lstStyle/>
                    <a:p>
                      <a:pPr indent="0" marL="0">
                        <a:buNone/>
                      </a:pPr>
                      <a:r>
                        <a:rPr lang="en-US" sz="1150" dirty="0">
                          <a:solidFill>
                            <a:srgbClr val="1A1A1A"/>
                          </a:solidFill>
                          <a:latin typeface="Calibri" pitchFamily="34" charset="0"/>
                          <a:ea typeface="Calibri" pitchFamily="34" charset="-122"/>
                          <a:cs typeface="Calibri" pitchFamily="34" charset="-120"/>
                        </a:rPr>
                        <a:t>LPIPS inside the mask; FID for overall quality</a:t>
                      </a:r>
                      <a:endParaRPr lang="en-US" sz="115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r>
              <a:tr h="566928">
                <a:tc>
                  <a:txBody>
                    <a:bodyPr/>
                    <a:lstStyle/>
                    <a:p>
                      <a:pPr indent="0" marL="0">
                        <a:buNone/>
                      </a:pPr>
                      <a:r>
                        <a:rPr lang="en-US" sz="1150" dirty="0">
                          <a:solidFill>
                            <a:srgbClr val="1A1A1A"/>
                          </a:solidFill>
                          <a:latin typeface="Calibri" pitchFamily="34" charset="0"/>
                          <a:ea typeface="Calibri" pitchFamily="34" charset="-122"/>
                          <a:cs typeface="Calibri" pitchFamily="34" charset="-120"/>
                        </a:rPr>
                        <a:t>Give the user a point of intervention</a:t>
                      </a:r>
                      <a:endParaRPr lang="en-US" sz="115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c>
                  <a:txBody>
                    <a:bodyPr/>
                    <a:lstStyle/>
                    <a:p>
                      <a:pPr indent="0" marL="0">
                        <a:buNone/>
                      </a:pPr>
                      <a:r>
                        <a:rPr lang="en-US" sz="1150" dirty="0">
                          <a:solidFill>
                            <a:srgbClr val="1A1A1A"/>
                          </a:solidFill>
                          <a:latin typeface="Calibri" pitchFamily="34" charset="0"/>
                          <a:ea typeface="Calibri" pitchFamily="34" charset="-122"/>
                          <a:cs typeface="Calibri" pitchFamily="34" charset="-120"/>
                        </a:rPr>
                        <a:t>Render the predicted mask for correction before generation runs</a:t>
                      </a:r>
                      <a:endParaRPr lang="en-US" sz="115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c>
                  <a:txBody>
                    <a:bodyPr/>
                    <a:lstStyle/>
                    <a:p>
                      <a:pPr indent="0" marL="0">
                        <a:buNone/>
                      </a:pPr>
                      <a:r>
                        <a:rPr lang="en-US" sz="1150" dirty="0">
                          <a:solidFill>
                            <a:srgbClr val="1A1A1A"/>
                          </a:solidFill>
                          <a:latin typeface="Calibri" pitchFamily="34" charset="0"/>
                          <a:ea typeface="Calibri" pitchFamily="34" charset="-122"/>
                          <a:cs typeface="Calibri" pitchFamily="34" charset="-120"/>
                        </a:rPr>
                        <a:t>A working refinement step in the pipeline</a:t>
                      </a:r>
                      <a:endParaRPr lang="en-US" sz="115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r>
              <a:tr h="566928">
                <a:tc>
                  <a:txBody>
                    <a:bodyPr/>
                    <a:lstStyle/>
                    <a:p>
                      <a:pPr indent="0" marL="0">
                        <a:buNone/>
                      </a:pPr>
                      <a:r>
                        <a:rPr lang="en-US" sz="1150" dirty="0">
                          <a:solidFill>
                            <a:srgbClr val="1A1A1A"/>
                          </a:solidFill>
                          <a:latin typeface="Calibri" pitchFamily="34" charset="0"/>
                          <a:ea typeface="Calibri" pitchFamily="34" charset="-122"/>
                          <a:cs typeface="Calibri" pitchFamily="34" charset="-120"/>
                        </a:rPr>
                        <a:t>Prove the separation is worth it</a:t>
                      </a:r>
                      <a:endParaRPr lang="en-US" sz="115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c>
                  <a:txBody>
                    <a:bodyPr/>
                    <a:lstStyle/>
                    <a:p>
                      <a:pPr indent="0" marL="0">
                        <a:buNone/>
                      </a:pPr>
                      <a:r>
                        <a:rPr lang="en-US" sz="1150" dirty="0">
                          <a:solidFill>
                            <a:srgbClr val="1A1A1A"/>
                          </a:solidFill>
                          <a:latin typeface="Calibri" pitchFamily="34" charset="0"/>
                          <a:ea typeface="Calibri" pitchFamily="34" charset="-122"/>
                          <a:cs typeface="Calibri" pitchFamily="34" charset="-120"/>
                        </a:rPr>
                        <a:t>Compare against end-to-end InstructPix2Pix on identical instructions</a:t>
                      </a:r>
                      <a:endParaRPr lang="en-US" sz="115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c>
                  <a:txBody>
                    <a:bodyPr/>
                    <a:lstStyle/>
                    <a:p>
                      <a:pPr indent="0" marL="0">
                        <a:buNone/>
                      </a:pPr>
                      <a:r>
                        <a:rPr lang="en-US" sz="1150" dirty="0">
                          <a:solidFill>
                            <a:srgbClr val="1A1A1A"/>
                          </a:solidFill>
                          <a:latin typeface="Calibri" pitchFamily="34" charset="0"/>
                          <a:ea typeface="Calibri" pitchFamily="34" charset="-122"/>
                          <a:cs typeface="Calibri" pitchFamily="34" charset="-120"/>
                        </a:rPr>
                        <a:t>Improvement over the baseline on both localization and edit metrics</a:t>
                      </a:r>
                      <a:endParaRPr lang="en-US" sz="115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r>
            </a:tbl>
          </a:graphicData>
        </a:graphic>
      </p:graphicFrame>
      <p:sp>
        <p:nvSpPr>
          <p:cNvPr id="9" name="Text 6"/>
          <p:cNvSpPr/>
          <p:nvPr/>
        </p:nvSpPr>
        <p:spPr>
          <a:xfrm>
            <a:off x="777240" y="5504688"/>
            <a:ext cx="10637215" cy="548640"/>
          </a:xfrm>
          <a:prstGeom prst="rect">
            <a:avLst/>
          </a:prstGeom>
          <a:noFill/>
          <a:ln/>
        </p:spPr>
        <p:txBody>
          <a:bodyPr wrap="square" lIns="0" tIns="0" rIns="0" bIns="0" rtlCol="0" anchor="ctr"/>
          <a:lstStyle/>
          <a:p>
            <a:pPr indent="0" marL="0">
              <a:lnSpc>
                <a:spcPts val="1800"/>
              </a:lnSpc>
              <a:buNone/>
            </a:pPr>
            <a:r>
              <a:rPr lang="en-US" sz="1250" dirty="0">
                <a:solidFill>
                  <a:srgbClr val="6E6E6E"/>
                </a:solidFill>
                <a:latin typeface="Calibri" pitchFamily="34" charset="0"/>
                <a:ea typeface="Calibri" pitchFamily="34" charset="-122"/>
                <a:cs typeface="Calibri" pitchFamily="34" charset="-120"/>
              </a:rPr>
              <a:t>Objective four is the one no prior system offers, and it is only reachable because objective two made the region an explicit object rather than an internal activation.</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420624"/>
            <a:ext cx="8229600" cy="219456"/>
          </a:xfrm>
          <a:prstGeom prst="rect">
            <a:avLst/>
          </a:prstGeom>
          <a:noFill/>
          <a:ln/>
        </p:spPr>
        <p:txBody>
          <a:bodyPr wrap="square" lIns="0" tIns="0" rIns="0" bIns="0" rtlCol="0" anchor="ctr"/>
          <a:lstStyle/>
          <a:p>
            <a:pPr indent="0" marL="0">
              <a:buNone/>
            </a:pPr>
            <a:r>
              <a:rPr lang="en-US" sz="1050" b="1" spc="220" kern="0" dirty="0">
                <a:solidFill>
                  <a:srgbClr val="8C3A1E"/>
                </a:solidFill>
                <a:latin typeface="Calibri" pitchFamily="34" charset="0"/>
                <a:ea typeface="Calibri" pitchFamily="34" charset="-122"/>
                <a:cs typeface="Calibri" pitchFamily="34" charset="-120"/>
              </a:rPr>
              <a:t>LITERATURE SURVEY  ·  1 OF 5</a:t>
            </a:r>
            <a:endParaRPr lang="en-US" sz="1050" dirty="0"/>
          </a:p>
        </p:txBody>
      </p:sp>
      <p:sp>
        <p:nvSpPr>
          <p:cNvPr id="3" name="Text 1"/>
          <p:cNvSpPr/>
          <p:nvPr/>
        </p:nvSpPr>
        <p:spPr>
          <a:xfrm>
            <a:off x="777240" y="694944"/>
            <a:ext cx="10637215" cy="603504"/>
          </a:xfrm>
          <a:prstGeom prst="rect">
            <a:avLst/>
          </a:prstGeom>
          <a:noFill/>
          <a:ln/>
        </p:spPr>
        <p:txBody>
          <a:bodyPr wrap="square" lIns="0" tIns="0" rIns="0" bIns="0" rtlCol="0" anchor="ctr"/>
          <a:lstStyle/>
          <a:p>
            <a:pPr indent="0" marL="0">
              <a:buNone/>
            </a:pPr>
            <a:r>
              <a:rPr lang="en-US" sz="3100" b="1" dirty="0">
                <a:solidFill>
                  <a:srgbClr val="1A1A1A"/>
                </a:solidFill>
                <a:latin typeface="Cambria" pitchFamily="34" charset="0"/>
                <a:ea typeface="Cambria" pitchFamily="34" charset="-122"/>
                <a:cs typeface="Cambria" pitchFamily="34" charset="-120"/>
              </a:rPr>
              <a:t>Base paper — InstructPix2Pix</a:t>
            </a:r>
            <a:endParaRPr lang="en-US" sz="3100" dirty="0"/>
          </a:p>
        </p:txBody>
      </p:sp>
      <p:sp>
        <p:nvSpPr>
          <p:cNvPr id="4" name="Text 2"/>
          <p:cNvSpPr/>
          <p:nvPr/>
        </p:nvSpPr>
        <p:spPr>
          <a:xfrm>
            <a:off x="777240" y="1335024"/>
            <a:ext cx="10637215" cy="347472"/>
          </a:xfrm>
          <a:prstGeom prst="rect">
            <a:avLst/>
          </a:prstGeom>
          <a:noFill/>
          <a:ln/>
        </p:spPr>
        <p:txBody>
          <a:bodyPr wrap="square" lIns="0" tIns="0" rIns="0" bIns="0" rtlCol="0" anchor="ctr"/>
          <a:lstStyle/>
          <a:p>
            <a:pPr indent="0" marL="0">
              <a:buNone/>
            </a:pPr>
            <a:r>
              <a:rPr lang="en-US" sz="1400" dirty="0">
                <a:solidFill>
                  <a:srgbClr val="6E6E6E"/>
                </a:solidFill>
                <a:latin typeface="Calibri" pitchFamily="34" charset="0"/>
                <a:ea typeface="Calibri" pitchFamily="34" charset="-122"/>
                <a:cs typeface="Calibri" pitchFamily="34" charset="-120"/>
              </a:rPr>
              <a:t>Brooks, Holynski and Efros.  CVPR 2023.  The paper this project builds directly on.</a:t>
            </a:r>
            <a:endParaRPr lang="en-US" sz="1400" dirty="0"/>
          </a:p>
        </p:txBody>
      </p:sp>
      <p:sp>
        <p:nvSpPr>
          <p:cNvPr id="5" name="Shape 3"/>
          <p:cNvSpPr/>
          <p:nvPr/>
        </p:nvSpPr>
        <p:spPr>
          <a:xfrm>
            <a:off x="777240" y="6291072"/>
            <a:ext cx="10637215" cy="7315"/>
          </a:xfrm>
          <a:prstGeom prst="rect">
            <a:avLst/>
          </a:prstGeom>
          <a:solidFill>
            <a:srgbClr val="DEDCD7"/>
          </a:solidFill>
          <a:ln/>
        </p:spPr>
      </p:sp>
      <p:sp>
        <p:nvSpPr>
          <p:cNvPr id="6" name="Text 4"/>
          <p:cNvSpPr/>
          <p:nvPr/>
        </p:nvSpPr>
        <p:spPr>
          <a:xfrm>
            <a:off x="777240" y="6382512"/>
            <a:ext cx="7315200" cy="256032"/>
          </a:xfrm>
          <a:prstGeom prst="rect">
            <a:avLst/>
          </a:prstGeom>
          <a:noFill/>
          <a:ln/>
        </p:spPr>
        <p:txBody>
          <a:bodyPr wrap="square" lIns="0" tIns="0" rIns="0" bIns="0" rtlCol="0" anchor="ctr"/>
          <a:lstStyle/>
          <a:p>
            <a:pPr indent="0" marL="0">
              <a:buNone/>
            </a:pPr>
            <a:r>
              <a:rPr lang="en-US" sz="900" dirty="0">
                <a:solidFill>
                  <a:srgbClr val="9A9A9A"/>
                </a:solidFill>
                <a:latin typeface="Calibri" pitchFamily="34" charset="0"/>
                <a:ea typeface="Calibri" pitchFamily="34" charset="-122"/>
                <a:cs typeface="Calibri" pitchFamily="34" charset="-120"/>
              </a:rPr>
              <a:t>Instruct-Seg-Edit  ·  Foundations of Data Science  ·  Review 1</a:t>
            </a:r>
            <a:endParaRPr lang="en-US" sz="900" dirty="0"/>
          </a:p>
        </p:txBody>
      </p:sp>
      <p:sp>
        <p:nvSpPr>
          <p:cNvPr id="7" name="Text 5"/>
          <p:cNvSpPr/>
          <p:nvPr/>
        </p:nvSpPr>
        <p:spPr>
          <a:xfrm>
            <a:off x="10865815" y="6382512"/>
            <a:ext cx="548640" cy="256032"/>
          </a:xfrm>
          <a:prstGeom prst="rect">
            <a:avLst/>
          </a:prstGeom>
          <a:noFill/>
          <a:ln/>
        </p:spPr>
        <p:txBody>
          <a:bodyPr wrap="square" lIns="0" tIns="0" rIns="0" bIns="0" rtlCol="0" anchor="ctr"/>
          <a:lstStyle/>
          <a:p>
            <a:pPr algn="r" indent="0" marL="0">
              <a:buNone/>
            </a:pPr>
            <a:r>
              <a:rPr lang="en-US" sz="900" dirty="0">
                <a:solidFill>
                  <a:srgbClr val="9A9A9A"/>
                </a:solidFill>
                <a:latin typeface="Calibri" pitchFamily="34" charset="0"/>
                <a:ea typeface="Calibri" pitchFamily="34" charset="-122"/>
                <a:cs typeface="Calibri" pitchFamily="34" charset="-120"/>
              </a:rPr>
              <a:t>6</a:t>
            </a:r>
            <a:endParaRPr lang="en-US" sz="900" dirty="0"/>
          </a:p>
        </p:txBody>
      </p:sp>
      <p:sp>
        <p:nvSpPr>
          <p:cNvPr id="8" name="Shape 6"/>
          <p:cNvSpPr/>
          <p:nvPr/>
        </p:nvSpPr>
        <p:spPr>
          <a:xfrm>
            <a:off x="777240" y="1874520"/>
            <a:ext cx="10637215" cy="841248"/>
          </a:xfrm>
          <a:prstGeom prst="rect">
            <a:avLst/>
          </a:prstGeom>
          <a:solidFill>
            <a:srgbClr val="F6F5F2"/>
          </a:solidFill>
          <a:ln/>
        </p:spPr>
      </p:sp>
      <p:sp>
        <p:nvSpPr>
          <p:cNvPr id="9" name="Text 7"/>
          <p:cNvSpPr/>
          <p:nvPr/>
        </p:nvSpPr>
        <p:spPr>
          <a:xfrm>
            <a:off x="1069848" y="2057400"/>
            <a:ext cx="10051999" cy="502920"/>
          </a:xfrm>
          <a:prstGeom prst="rect">
            <a:avLst/>
          </a:prstGeom>
          <a:noFill/>
          <a:ln/>
        </p:spPr>
        <p:txBody>
          <a:bodyPr wrap="square" lIns="0" tIns="0" rIns="0" bIns="0" rtlCol="0" anchor="ctr"/>
          <a:lstStyle/>
          <a:p>
            <a:pPr indent="0" marL="0">
              <a:lnSpc>
                <a:spcPts val="2100"/>
              </a:lnSpc>
              <a:buNone/>
            </a:pPr>
            <a:r>
              <a:rPr lang="en-US" sz="1450" dirty="0">
                <a:solidFill>
                  <a:srgbClr val="1A1A1A"/>
                </a:solidFill>
                <a:latin typeface="Cambria" pitchFamily="34" charset="0"/>
                <a:ea typeface="Cambria" pitchFamily="34" charset="-122"/>
                <a:cs typeface="Cambria" pitchFamily="34" charset="-120"/>
              </a:rPr>
              <a:t>“InstructPix2Pix: Learning to Follow Image Editing Instructions”  ·  CVPR 2023  ·  Stable Diffusion v1.5 backbone, approximately 1 billion parameters</a:t>
            </a:r>
            <a:endParaRPr lang="en-US" sz="1450" dirty="0"/>
          </a:p>
        </p:txBody>
      </p:sp>
      <p:sp>
        <p:nvSpPr>
          <p:cNvPr id="10" name="Text 8"/>
          <p:cNvSpPr/>
          <p:nvPr/>
        </p:nvSpPr>
        <p:spPr>
          <a:xfrm>
            <a:off x="777240" y="2926080"/>
            <a:ext cx="4937760" cy="237744"/>
          </a:xfrm>
          <a:prstGeom prst="rect">
            <a:avLst/>
          </a:prstGeom>
          <a:noFill/>
          <a:ln/>
        </p:spPr>
        <p:txBody>
          <a:bodyPr wrap="square" lIns="0" tIns="0" rIns="0" bIns="0" rtlCol="0" anchor="ctr"/>
          <a:lstStyle/>
          <a:p>
            <a:pPr indent="0" marL="0">
              <a:buNone/>
            </a:pPr>
            <a:r>
              <a:rPr lang="en-US" sz="1350" b="1" dirty="0">
                <a:solidFill>
                  <a:srgbClr val="1A1A1A"/>
                </a:solidFill>
                <a:latin typeface="Calibri" pitchFamily="34" charset="0"/>
                <a:ea typeface="Calibri" pitchFamily="34" charset="-122"/>
                <a:cs typeface="Calibri" pitchFamily="34" charset="-120"/>
              </a:rPr>
              <a:t>What it does</a:t>
            </a:r>
            <a:endParaRPr lang="en-US" sz="1350" dirty="0"/>
          </a:p>
        </p:txBody>
      </p:sp>
      <p:sp>
        <p:nvSpPr>
          <p:cNvPr id="11" name="Text 9"/>
          <p:cNvSpPr/>
          <p:nvPr/>
        </p:nvSpPr>
        <p:spPr>
          <a:xfrm>
            <a:off x="777240" y="3218688"/>
            <a:ext cx="4937760" cy="1371600"/>
          </a:xfrm>
          <a:prstGeom prst="rect">
            <a:avLst/>
          </a:prstGeom>
          <a:noFill/>
          <a:ln/>
        </p:spPr>
        <p:txBody>
          <a:bodyPr wrap="square" lIns="0" tIns="0" rIns="0" bIns="0" rtlCol="0" anchor="ctr"/>
          <a:lstStyle/>
          <a:p>
            <a:pPr indent="0" marL="0">
              <a:lnSpc>
                <a:spcPts val="1600"/>
              </a:lnSpc>
              <a:buNone/>
            </a:pPr>
            <a:r>
              <a:rPr lang="en-US" sz="1150" dirty="0">
                <a:solidFill>
                  <a:srgbClr val="6E6E6E"/>
                </a:solidFill>
                <a:latin typeface="Calibri" pitchFamily="34" charset="0"/>
                <a:ea typeface="Calibri" pitchFamily="34" charset="-122"/>
                <a:cs typeface="Calibri" pitchFamily="34" charset="-120"/>
              </a:rPr>
              <a:t>Takes an image and a written instruction and produces the edited image in a single forward pass. Trained on roughly 450,000 synthetic before-and-after pairs, themselves generated with GPT-3 for the instructions and Prompt-to-Prompt for the paired images. Conditioning on both the image and the instruction is handled with classifier-free guidance on two separate scales.</a:t>
            </a:r>
            <a:endParaRPr lang="en-US" sz="1150" dirty="0"/>
          </a:p>
        </p:txBody>
      </p:sp>
      <p:sp>
        <p:nvSpPr>
          <p:cNvPr id="12" name="Text 10"/>
          <p:cNvSpPr/>
          <p:nvPr/>
        </p:nvSpPr>
        <p:spPr>
          <a:xfrm>
            <a:off x="6355080" y="2926080"/>
            <a:ext cx="5029200" cy="237744"/>
          </a:xfrm>
          <a:prstGeom prst="rect">
            <a:avLst/>
          </a:prstGeom>
          <a:noFill/>
          <a:ln/>
        </p:spPr>
        <p:txBody>
          <a:bodyPr wrap="square" lIns="0" tIns="0" rIns="0" bIns="0" rtlCol="0" anchor="ctr"/>
          <a:lstStyle/>
          <a:p>
            <a:pPr indent="0" marL="0">
              <a:buNone/>
            </a:pPr>
            <a:r>
              <a:rPr lang="en-US" sz="1350" b="1" dirty="0">
                <a:solidFill>
                  <a:srgbClr val="1A1A1A"/>
                </a:solidFill>
                <a:latin typeface="Calibri" pitchFamily="34" charset="0"/>
                <a:ea typeface="Calibri" pitchFamily="34" charset="-122"/>
                <a:cs typeface="Calibri" pitchFamily="34" charset="-120"/>
              </a:rPr>
              <a:t>The limitation we attack</a:t>
            </a:r>
            <a:endParaRPr lang="en-US" sz="1350" dirty="0"/>
          </a:p>
        </p:txBody>
      </p:sp>
      <p:sp>
        <p:nvSpPr>
          <p:cNvPr id="13" name="Text 11"/>
          <p:cNvSpPr/>
          <p:nvPr/>
        </p:nvSpPr>
        <p:spPr>
          <a:xfrm>
            <a:off x="6355080" y="3218688"/>
            <a:ext cx="5029200" cy="1371600"/>
          </a:xfrm>
          <a:prstGeom prst="rect">
            <a:avLst/>
          </a:prstGeom>
          <a:noFill/>
          <a:ln/>
        </p:spPr>
        <p:txBody>
          <a:bodyPr wrap="square" lIns="0" tIns="0" rIns="0" bIns="0" rtlCol="0" anchor="ctr"/>
          <a:lstStyle/>
          <a:p>
            <a:pPr indent="0" marL="0">
              <a:lnSpc>
                <a:spcPts val="1600"/>
              </a:lnSpc>
              <a:buNone/>
            </a:pPr>
            <a:r>
              <a:rPr lang="en-US" sz="1150" dirty="0">
                <a:solidFill>
                  <a:srgbClr val="6E6E6E"/>
                </a:solidFill>
                <a:latin typeface="Calibri" pitchFamily="34" charset="0"/>
                <a:ea typeface="Calibri" pitchFamily="34" charset="-122"/>
                <a:cs typeface="Calibri" pitchFamily="34" charset="-120"/>
              </a:rPr>
              <a:t>Localization is never represented anywhere. The model is only ever trained to produce a correct output image, so which pixels change is decided implicitly inside the denoising U-Net. Nothing in the objective penalises a change made outside the region the instruction names, and nothing exposes that decision for inspection or correction.</a:t>
            </a:r>
            <a:endParaRPr lang="en-US" sz="1150" dirty="0"/>
          </a:p>
        </p:txBody>
      </p:sp>
      <p:sp>
        <p:nvSpPr>
          <p:cNvPr id="14" name="Shape 12"/>
          <p:cNvSpPr/>
          <p:nvPr/>
        </p:nvSpPr>
        <p:spPr>
          <a:xfrm>
            <a:off x="777240" y="4754880"/>
            <a:ext cx="10637215" cy="1143000"/>
          </a:xfrm>
          <a:prstGeom prst="rect">
            <a:avLst/>
          </a:prstGeom>
          <a:solidFill>
            <a:srgbClr val="F6F5F2"/>
          </a:solidFill>
          <a:ln/>
        </p:spPr>
      </p:sp>
      <p:sp>
        <p:nvSpPr>
          <p:cNvPr id="15" name="Text 13"/>
          <p:cNvSpPr/>
          <p:nvPr/>
        </p:nvSpPr>
        <p:spPr>
          <a:xfrm>
            <a:off x="1069848" y="4937760"/>
            <a:ext cx="10051999" cy="841248"/>
          </a:xfrm>
          <a:prstGeom prst="rect">
            <a:avLst/>
          </a:prstGeom>
          <a:noFill/>
          <a:ln/>
        </p:spPr>
        <p:txBody>
          <a:bodyPr wrap="square" lIns="0" tIns="0" rIns="0" bIns="0" rtlCol="0" anchor="ctr"/>
          <a:lstStyle/>
          <a:p>
            <a:pPr indent="0" marL="0">
              <a:lnSpc>
                <a:spcPts val="1700"/>
              </a:lnSpc>
              <a:buNone/>
            </a:pPr>
            <a:r>
              <a:rPr lang="en-US" sz="1200" dirty="0">
                <a:solidFill>
                  <a:srgbClr val="1A1A1A"/>
                </a:solidFill>
                <a:latin typeface="Calibri" pitchFamily="34" charset="0"/>
                <a:ea typeface="Calibri" pitchFamily="34" charset="-122"/>
                <a:cs typeface="Calibri" pitchFamily="34" charset="-120"/>
              </a:rPr>
              <a:t>Why it is our base paper — we adopt its task formulation, we use it as the generator that produces the edited images in our dataset, and we use it as the evaluation baseline that our two-stage system must beat. Our contribution is to take the localization decision out of its U-Net and give it to a separate, supervised model.</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420624"/>
            <a:ext cx="8229600" cy="219456"/>
          </a:xfrm>
          <a:prstGeom prst="rect">
            <a:avLst/>
          </a:prstGeom>
          <a:noFill/>
          <a:ln/>
        </p:spPr>
        <p:txBody>
          <a:bodyPr wrap="square" lIns="0" tIns="0" rIns="0" bIns="0" rtlCol="0" anchor="ctr"/>
          <a:lstStyle/>
          <a:p>
            <a:pPr indent="0" marL="0">
              <a:buNone/>
            </a:pPr>
            <a:r>
              <a:rPr lang="en-US" sz="1050" b="1" spc="220" kern="0" dirty="0">
                <a:solidFill>
                  <a:srgbClr val="8C3A1E"/>
                </a:solidFill>
                <a:latin typeface="Calibri" pitchFamily="34" charset="0"/>
                <a:ea typeface="Calibri" pitchFamily="34" charset="-122"/>
                <a:cs typeface="Calibri" pitchFamily="34" charset="-120"/>
              </a:rPr>
              <a:t>LITERATURE SURVEY  ·  2 OF 5</a:t>
            </a:r>
            <a:endParaRPr lang="en-US" sz="1050" dirty="0"/>
          </a:p>
        </p:txBody>
      </p:sp>
      <p:sp>
        <p:nvSpPr>
          <p:cNvPr id="3" name="Text 1"/>
          <p:cNvSpPr/>
          <p:nvPr/>
        </p:nvSpPr>
        <p:spPr>
          <a:xfrm>
            <a:off x="777240" y="694944"/>
            <a:ext cx="10637215" cy="603504"/>
          </a:xfrm>
          <a:prstGeom prst="rect">
            <a:avLst/>
          </a:prstGeom>
          <a:noFill/>
          <a:ln/>
        </p:spPr>
        <p:txBody>
          <a:bodyPr wrap="square" lIns="0" tIns="0" rIns="0" bIns="0" rtlCol="0" anchor="ctr"/>
          <a:lstStyle/>
          <a:p>
            <a:pPr indent="0" marL="0">
              <a:buNone/>
            </a:pPr>
            <a:r>
              <a:rPr lang="en-US" sz="3100" b="1" dirty="0">
                <a:solidFill>
                  <a:srgbClr val="1A1A1A"/>
                </a:solidFill>
                <a:latin typeface="Cambria" pitchFamily="34" charset="0"/>
                <a:ea typeface="Cambria" pitchFamily="34" charset="-122"/>
                <a:cs typeface="Cambria" pitchFamily="34" charset="-120"/>
              </a:rPr>
              <a:t>Closest work — DiffEdit</a:t>
            </a:r>
            <a:endParaRPr lang="en-US" sz="3100" dirty="0"/>
          </a:p>
        </p:txBody>
      </p:sp>
      <p:sp>
        <p:nvSpPr>
          <p:cNvPr id="4" name="Text 2"/>
          <p:cNvSpPr/>
          <p:nvPr/>
        </p:nvSpPr>
        <p:spPr>
          <a:xfrm>
            <a:off x="777240" y="1335024"/>
            <a:ext cx="10637215" cy="347472"/>
          </a:xfrm>
          <a:prstGeom prst="rect">
            <a:avLst/>
          </a:prstGeom>
          <a:noFill/>
          <a:ln/>
        </p:spPr>
        <p:txBody>
          <a:bodyPr wrap="square" lIns="0" tIns="0" rIns="0" bIns="0" rtlCol="0" anchor="ctr"/>
          <a:lstStyle/>
          <a:p>
            <a:pPr indent="0" marL="0">
              <a:buNone/>
            </a:pPr>
            <a:r>
              <a:rPr lang="en-US" sz="1400" dirty="0">
                <a:solidFill>
                  <a:srgbClr val="6E6E6E"/>
                </a:solidFill>
                <a:latin typeface="Calibri" pitchFamily="34" charset="0"/>
                <a:ea typeface="Calibri" pitchFamily="34" charset="-122"/>
                <a:cs typeface="Calibri" pitchFamily="34" charset="-120"/>
              </a:rPr>
              <a:t>Couairon, Verbeek, Schwenk and Cord.  ICLR 2023.  Relevance to our project: 0.791.</a:t>
            </a:r>
            <a:endParaRPr lang="en-US" sz="1400" dirty="0"/>
          </a:p>
        </p:txBody>
      </p:sp>
      <p:sp>
        <p:nvSpPr>
          <p:cNvPr id="5" name="Shape 3"/>
          <p:cNvSpPr/>
          <p:nvPr/>
        </p:nvSpPr>
        <p:spPr>
          <a:xfrm>
            <a:off x="777240" y="6291072"/>
            <a:ext cx="10637215" cy="7315"/>
          </a:xfrm>
          <a:prstGeom prst="rect">
            <a:avLst/>
          </a:prstGeom>
          <a:solidFill>
            <a:srgbClr val="DEDCD7"/>
          </a:solidFill>
          <a:ln/>
        </p:spPr>
      </p:sp>
      <p:sp>
        <p:nvSpPr>
          <p:cNvPr id="6" name="Text 4"/>
          <p:cNvSpPr/>
          <p:nvPr/>
        </p:nvSpPr>
        <p:spPr>
          <a:xfrm>
            <a:off x="777240" y="6382512"/>
            <a:ext cx="7315200" cy="256032"/>
          </a:xfrm>
          <a:prstGeom prst="rect">
            <a:avLst/>
          </a:prstGeom>
          <a:noFill/>
          <a:ln/>
        </p:spPr>
        <p:txBody>
          <a:bodyPr wrap="square" lIns="0" tIns="0" rIns="0" bIns="0" rtlCol="0" anchor="ctr"/>
          <a:lstStyle/>
          <a:p>
            <a:pPr indent="0" marL="0">
              <a:buNone/>
            </a:pPr>
            <a:r>
              <a:rPr lang="en-US" sz="900" dirty="0">
                <a:solidFill>
                  <a:srgbClr val="9A9A9A"/>
                </a:solidFill>
                <a:latin typeface="Calibri" pitchFamily="34" charset="0"/>
                <a:ea typeface="Calibri" pitchFamily="34" charset="-122"/>
                <a:cs typeface="Calibri" pitchFamily="34" charset="-120"/>
              </a:rPr>
              <a:t>Instruct-Seg-Edit  ·  Foundations of Data Science  ·  Review 1</a:t>
            </a:r>
            <a:endParaRPr lang="en-US" sz="900" dirty="0"/>
          </a:p>
        </p:txBody>
      </p:sp>
      <p:sp>
        <p:nvSpPr>
          <p:cNvPr id="7" name="Text 5"/>
          <p:cNvSpPr/>
          <p:nvPr/>
        </p:nvSpPr>
        <p:spPr>
          <a:xfrm>
            <a:off x="10865815" y="6382512"/>
            <a:ext cx="548640" cy="256032"/>
          </a:xfrm>
          <a:prstGeom prst="rect">
            <a:avLst/>
          </a:prstGeom>
          <a:noFill/>
          <a:ln/>
        </p:spPr>
        <p:txBody>
          <a:bodyPr wrap="square" lIns="0" tIns="0" rIns="0" bIns="0" rtlCol="0" anchor="ctr"/>
          <a:lstStyle/>
          <a:p>
            <a:pPr algn="r" indent="0" marL="0">
              <a:buNone/>
            </a:pPr>
            <a:r>
              <a:rPr lang="en-US" sz="900" dirty="0">
                <a:solidFill>
                  <a:srgbClr val="9A9A9A"/>
                </a:solidFill>
                <a:latin typeface="Calibri" pitchFamily="34" charset="0"/>
                <a:ea typeface="Calibri" pitchFamily="34" charset="-122"/>
                <a:cs typeface="Calibri" pitchFamily="34" charset="-120"/>
              </a:rPr>
              <a:t>7</a:t>
            </a:r>
            <a:endParaRPr lang="en-US" sz="900" dirty="0"/>
          </a:p>
        </p:txBody>
      </p:sp>
      <p:sp>
        <p:nvSpPr>
          <p:cNvPr id="8" name="Text 6"/>
          <p:cNvSpPr/>
          <p:nvPr/>
        </p:nvSpPr>
        <p:spPr>
          <a:xfrm>
            <a:off x="777240" y="1901952"/>
            <a:ext cx="4937760" cy="237744"/>
          </a:xfrm>
          <a:prstGeom prst="rect">
            <a:avLst/>
          </a:prstGeom>
          <a:noFill/>
          <a:ln/>
        </p:spPr>
        <p:txBody>
          <a:bodyPr wrap="square" lIns="0" tIns="0" rIns="0" bIns="0" rtlCol="0" anchor="ctr"/>
          <a:lstStyle/>
          <a:p>
            <a:pPr indent="0" marL="0">
              <a:buNone/>
            </a:pPr>
            <a:r>
              <a:rPr lang="en-US" sz="1350" b="1" dirty="0">
                <a:solidFill>
                  <a:srgbClr val="1A1A1A"/>
                </a:solidFill>
                <a:latin typeface="Calibri" pitchFamily="34" charset="0"/>
                <a:ea typeface="Calibri" pitchFamily="34" charset="-122"/>
                <a:cs typeface="Calibri" pitchFamily="34" charset="-120"/>
              </a:rPr>
              <a:t>What it does</a:t>
            </a:r>
            <a:endParaRPr lang="en-US" sz="1350" dirty="0"/>
          </a:p>
        </p:txBody>
      </p:sp>
      <p:sp>
        <p:nvSpPr>
          <p:cNvPr id="9" name="Text 7"/>
          <p:cNvSpPr/>
          <p:nvPr/>
        </p:nvSpPr>
        <p:spPr>
          <a:xfrm>
            <a:off x="777240" y="2194560"/>
            <a:ext cx="4937760" cy="1691640"/>
          </a:xfrm>
          <a:prstGeom prst="rect">
            <a:avLst/>
          </a:prstGeom>
          <a:noFill/>
          <a:ln/>
        </p:spPr>
        <p:txBody>
          <a:bodyPr wrap="square" lIns="0" tIns="0" rIns="0" bIns="0" rtlCol="0" anchor="ctr"/>
          <a:lstStyle/>
          <a:p>
            <a:pPr indent="0" marL="0">
              <a:lnSpc>
                <a:spcPts val="1600"/>
              </a:lnSpc>
              <a:buNone/>
            </a:pPr>
            <a:r>
              <a:rPr lang="en-US" sz="1150" dirty="0">
                <a:solidFill>
                  <a:srgbClr val="6E6E6E"/>
                </a:solidFill>
                <a:latin typeface="Calibri" pitchFamily="34" charset="0"/>
                <a:ea typeface="Calibri" pitchFamily="34" charset="-122"/>
                <a:cs typeface="Calibri" pitchFamily="34" charset="-120"/>
              </a:rPr>
              <a:t>DiffEdit is the only prior work that also produces an edit mask automatically. It runs the diffusion model twice on the same noised image, once conditioned on a description of the source and once on the target text, and takes the difference between the two noise predictions. Where the predictions disagree is where the edit belongs. That difference map is thresholded into a mask, and generation is then confined to it.</a:t>
            </a:r>
            <a:endParaRPr lang="en-US" sz="1150" dirty="0"/>
          </a:p>
        </p:txBody>
      </p:sp>
      <p:sp>
        <p:nvSpPr>
          <p:cNvPr id="10" name="Text 8"/>
          <p:cNvSpPr/>
          <p:nvPr/>
        </p:nvSpPr>
        <p:spPr>
          <a:xfrm>
            <a:off x="6355080" y="1901952"/>
            <a:ext cx="5029200" cy="237744"/>
          </a:xfrm>
          <a:prstGeom prst="rect">
            <a:avLst/>
          </a:prstGeom>
          <a:noFill/>
          <a:ln/>
        </p:spPr>
        <p:txBody>
          <a:bodyPr wrap="square" lIns="0" tIns="0" rIns="0" bIns="0" rtlCol="0" anchor="ctr"/>
          <a:lstStyle/>
          <a:p>
            <a:pPr indent="0" marL="0">
              <a:buNone/>
            </a:pPr>
            <a:r>
              <a:rPr lang="en-US" sz="1350" b="1" dirty="0">
                <a:solidFill>
                  <a:srgbClr val="1A1A1A"/>
                </a:solidFill>
                <a:latin typeface="Calibri" pitchFamily="34" charset="0"/>
                <a:ea typeface="Calibri" pitchFamily="34" charset="-122"/>
                <a:cs typeface="Calibri" pitchFamily="34" charset="-120"/>
              </a:rPr>
              <a:t>Why it does not close our gap</a:t>
            </a:r>
            <a:endParaRPr lang="en-US" sz="13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355080" y="2194560"/>
          <a:ext cx="5029200" cy="914400"/>
        </p:xfrm>
        <a:graphic>
          <a:graphicData uri="http://schemas.openxmlformats.org/drawingml/2006/table">
            <a:tbl>
              <a:tblPr/>
              <a:tblGrid>
                <a:gridCol w="1600200"/>
                <a:gridCol w="1783080"/>
                <a:gridCol w="1645920"/>
              </a:tblGrid>
              <a:tr h="329184">
                <a:tc>
                  <a:txBody>
                    <a:bodyPr/>
                    <a:lstStyle/>
                    <a:p>
                      <a:pPr indent="0" marL="0">
                        <a:buNone/>
                      </a:pPr>
                      <a:r>
                        <a:rPr lang="en-US" sz="1000" b="1" dirty="0">
                          <a:solidFill>
                            <a:srgbClr val="1A1A1A"/>
                          </a:solidFill>
                          <a:latin typeface="Calibri" pitchFamily="34" charset="0"/>
                          <a:ea typeface="Calibri" pitchFamily="34" charset="-122"/>
                          <a:cs typeface="Calibri" pitchFamily="34" charset="-120"/>
                        </a:rPr>
                        <a:t>Property</a:t>
                      </a:r>
                      <a:endParaRPr lang="en-US" sz="10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6F5F2"/>
                    </a:solidFill>
                  </a:tcPr>
                </a:tc>
                <a:tc>
                  <a:txBody>
                    <a:bodyPr/>
                    <a:lstStyle/>
                    <a:p>
                      <a:pPr indent="0" marL="0">
                        <a:buNone/>
                      </a:pPr>
                      <a:r>
                        <a:rPr lang="en-US" sz="1000" b="1" dirty="0">
                          <a:solidFill>
                            <a:srgbClr val="1A1A1A"/>
                          </a:solidFill>
                          <a:latin typeface="Calibri" pitchFamily="34" charset="0"/>
                          <a:ea typeface="Calibri" pitchFamily="34" charset="-122"/>
                          <a:cs typeface="Calibri" pitchFamily="34" charset="-120"/>
                        </a:rPr>
                        <a:t>DiffEdit</a:t>
                      </a:r>
                      <a:endParaRPr lang="en-US" sz="10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6F5F2"/>
                    </a:solidFill>
                  </a:tcPr>
                </a:tc>
                <a:tc>
                  <a:txBody>
                    <a:bodyPr/>
                    <a:lstStyle/>
                    <a:p>
                      <a:pPr indent="0" marL="0">
                        <a:buNone/>
                      </a:pPr>
                      <a:r>
                        <a:rPr lang="en-US" sz="1000" b="1" dirty="0">
                          <a:solidFill>
                            <a:srgbClr val="1A1A1A"/>
                          </a:solidFill>
                          <a:latin typeface="Calibri" pitchFamily="34" charset="0"/>
                          <a:ea typeface="Calibri" pitchFamily="34" charset="-122"/>
                          <a:cs typeface="Calibri" pitchFamily="34" charset="-120"/>
                        </a:rPr>
                        <a:t>Ours</a:t>
                      </a:r>
                      <a:endParaRPr lang="en-US" sz="10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6F5F2"/>
                    </a:solidFill>
                  </a:tcPr>
                </a:tc>
              </a:tr>
              <a:tr h="329184">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Mask origin</a:t>
                      </a:r>
                      <a:endParaRPr lang="en-US" sz="10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By-product of sampling</a:t>
                      </a:r>
                      <a:endParaRPr lang="en-US" sz="10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Predicted by a trained model</a:t>
                      </a:r>
                      <a:endParaRPr lang="en-US" sz="10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r>
              <a:tr h="329184">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Supervised?</a:t>
                      </a:r>
                      <a:endParaRPr lang="en-US" sz="10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No — no ground truth exists</a:t>
                      </a:r>
                      <a:endParaRPr lang="en-US" sz="10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Yes — recovered edit masks</a:t>
                      </a:r>
                      <a:endParaRPr lang="en-US" sz="10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r>
              <a:tr h="329184">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Measurable alone?</a:t>
                      </a:r>
                      <a:endParaRPr lang="en-US" sz="10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No</a:t>
                      </a:r>
                      <a:endParaRPr lang="en-US" sz="10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Yes — IoU and Dice</a:t>
                      </a:r>
                      <a:endParaRPr lang="en-US" sz="10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r>
              <a:tr h="329184">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Shown to the user?</a:t>
                      </a:r>
                      <a:endParaRPr lang="en-US" sz="10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No</a:t>
                      </a:r>
                      <a:endParaRPr lang="en-US" sz="10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Yes — and correctable</a:t>
                      </a:r>
                      <a:endParaRPr lang="en-US" sz="10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r>
              <a:tr h="329184">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Instance-aware?</a:t>
                      </a:r>
                      <a:endParaRPr lang="en-US" sz="10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No</a:t>
                      </a:r>
                      <a:endParaRPr lang="en-US" sz="10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Yes — prototype head</a:t>
                      </a:r>
                      <a:endParaRPr lang="en-US" sz="10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r>
            </a:tbl>
          </a:graphicData>
        </a:graphic>
      </p:graphicFrame>
      <p:sp>
        <p:nvSpPr>
          <p:cNvPr id="12" name="Shape 9"/>
          <p:cNvSpPr/>
          <p:nvPr/>
        </p:nvSpPr>
        <p:spPr>
          <a:xfrm>
            <a:off x="777240" y="4434840"/>
            <a:ext cx="10637215" cy="1463040"/>
          </a:xfrm>
          <a:prstGeom prst="rect">
            <a:avLst/>
          </a:prstGeom>
          <a:solidFill>
            <a:srgbClr val="F6F5F2"/>
          </a:solidFill>
          <a:ln/>
        </p:spPr>
      </p:sp>
      <p:sp>
        <p:nvSpPr>
          <p:cNvPr id="13" name="Text 10"/>
          <p:cNvSpPr/>
          <p:nvPr/>
        </p:nvSpPr>
        <p:spPr>
          <a:xfrm>
            <a:off x="1069848" y="4617720"/>
            <a:ext cx="10051999" cy="1097280"/>
          </a:xfrm>
          <a:prstGeom prst="rect">
            <a:avLst/>
          </a:prstGeom>
          <a:noFill/>
          <a:ln/>
        </p:spPr>
        <p:txBody>
          <a:bodyPr wrap="square" lIns="0" tIns="0" rIns="0" bIns="0" rtlCol="0" anchor="ctr"/>
          <a:lstStyle/>
          <a:p>
            <a:pPr indent="0" marL="0">
              <a:lnSpc>
                <a:spcPts val="1700"/>
              </a:lnSpc>
              <a:buNone/>
            </a:pPr>
            <a:r>
              <a:rPr lang="en-US" sz="1200" dirty="0">
                <a:solidFill>
                  <a:srgbClr val="1A1A1A"/>
                </a:solidFill>
                <a:latin typeface="Calibri" pitchFamily="34" charset="0"/>
                <a:ea typeface="Calibri" pitchFamily="34" charset="-122"/>
                <a:cs typeface="Calibri" pitchFamily="34" charset="-120"/>
              </a:rPr>
              <a:t>The distinction to hold on to — DiffEdit's mask exists only inside the sampling loop at inference time. It is never trained, so it cannot be improved; never evaluated on its own, so its quality is unknown; and never rendered, so the user cannot correct it. Ours is a supervised training target with ground truth, which is what makes all three of those possible.</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420624"/>
            <a:ext cx="8229600" cy="219456"/>
          </a:xfrm>
          <a:prstGeom prst="rect">
            <a:avLst/>
          </a:prstGeom>
          <a:noFill/>
          <a:ln/>
        </p:spPr>
        <p:txBody>
          <a:bodyPr wrap="square" lIns="0" tIns="0" rIns="0" bIns="0" rtlCol="0" anchor="ctr"/>
          <a:lstStyle/>
          <a:p>
            <a:pPr indent="0" marL="0">
              <a:buNone/>
            </a:pPr>
            <a:r>
              <a:rPr lang="en-US" sz="1050" b="1" spc="220" kern="0" dirty="0">
                <a:solidFill>
                  <a:srgbClr val="8C3A1E"/>
                </a:solidFill>
                <a:latin typeface="Calibri" pitchFamily="34" charset="0"/>
                <a:ea typeface="Calibri" pitchFamily="34" charset="-122"/>
                <a:cs typeface="Calibri" pitchFamily="34" charset="-120"/>
              </a:rPr>
              <a:t>LITERATURE SURVEY  ·  3 OF 5</a:t>
            </a:r>
            <a:endParaRPr lang="en-US" sz="1050" dirty="0"/>
          </a:p>
        </p:txBody>
      </p:sp>
      <p:sp>
        <p:nvSpPr>
          <p:cNvPr id="3" name="Text 1"/>
          <p:cNvSpPr/>
          <p:nvPr/>
        </p:nvSpPr>
        <p:spPr>
          <a:xfrm>
            <a:off x="777240" y="694944"/>
            <a:ext cx="10637215" cy="603504"/>
          </a:xfrm>
          <a:prstGeom prst="rect">
            <a:avLst/>
          </a:prstGeom>
          <a:noFill/>
          <a:ln/>
        </p:spPr>
        <p:txBody>
          <a:bodyPr wrap="square" lIns="0" tIns="0" rIns="0" bIns="0" rtlCol="0" anchor="ctr"/>
          <a:lstStyle/>
          <a:p>
            <a:pPr indent="0" marL="0">
              <a:buNone/>
            </a:pPr>
            <a:r>
              <a:rPr lang="en-US" sz="3100" b="1" dirty="0">
                <a:solidFill>
                  <a:srgbClr val="1A1A1A"/>
                </a:solidFill>
                <a:latin typeface="Cambria" pitchFamily="34" charset="0"/>
                <a:ea typeface="Cambria" pitchFamily="34" charset="-122"/>
                <a:cs typeface="Cambria" pitchFamily="34" charset="-120"/>
              </a:rPr>
              <a:t>Closest work — SAM and Grounded-SAM</a:t>
            </a:r>
            <a:endParaRPr lang="en-US" sz="3100" dirty="0"/>
          </a:p>
        </p:txBody>
      </p:sp>
      <p:sp>
        <p:nvSpPr>
          <p:cNvPr id="4" name="Text 2"/>
          <p:cNvSpPr/>
          <p:nvPr/>
        </p:nvSpPr>
        <p:spPr>
          <a:xfrm>
            <a:off x="777240" y="1335024"/>
            <a:ext cx="10637215" cy="347472"/>
          </a:xfrm>
          <a:prstGeom prst="rect">
            <a:avLst/>
          </a:prstGeom>
          <a:noFill/>
          <a:ln/>
        </p:spPr>
        <p:txBody>
          <a:bodyPr wrap="square" lIns="0" tIns="0" rIns="0" bIns="0" rtlCol="0" anchor="ctr"/>
          <a:lstStyle/>
          <a:p>
            <a:pPr indent="0" marL="0">
              <a:buNone/>
            </a:pPr>
            <a:r>
              <a:rPr lang="en-US" sz="1400" dirty="0">
                <a:solidFill>
                  <a:srgbClr val="6E6E6E"/>
                </a:solidFill>
                <a:latin typeface="Calibri" pitchFamily="34" charset="0"/>
                <a:ea typeface="Calibri" pitchFamily="34" charset="-122"/>
                <a:cs typeface="Calibri" pitchFamily="34" charset="-120"/>
              </a:rPr>
              <a:t>Kirillov et al., ICCV 2023  ·  Ren et al., arXiv 2024.  The two highest relevance scores: 0.822 and 0.833.</a:t>
            </a:r>
            <a:endParaRPr lang="en-US" sz="1400" dirty="0"/>
          </a:p>
        </p:txBody>
      </p:sp>
      <p:sp>
        <p:nvSpPr>
          <p:cNvPr id="5" name="Shape 3"/>
          <p:cNvSpPr/>
          <p:nvPr/>
        </p:nvSpPr>
        <p:spPr>
          <a:xfrm>
            <a:off x="777240" y="6291072"/>
            <a:ext cx="10637215" cy="7315"/>
          </a:xfrm>
          <a:prstGeom prst="rect">
            <a:avLst/>
          </a:prstGeom>
          <a:solidFill>
            <a:srgbClr val="DEDCD7"/>
          </a:solidFill>
          <a:ln/>
        </p:spPr>
      </p:sp>
      <p:sp>
        <p:nvSpPr>
          <p:cNvPr id="6" name="Text 4"/>
          <p:cNvSpPr/>
          <p:nvPr/>
        </p:nvSpPr>
        <p:spPr>
          <a:xfrm>
            <a:off x="777240" y="6382512"/>
            <a:ext cx="7315200" cy="256032"/>
          </a:xfrm>
          <a:prstGeom prst="rect">
            <a:avLst/>
          </a:prstGeom>
          <a:noFill/>
          <a:ln/>
        </p:spPr>
        <p:txBody>
          <a:bodyPr wrap="square" lIns="0" tIns="0" rIns="0" bIns="0" rtlCol="0" anchor="ctr"/>
          <a:lstStyle/>
          <a:p>
            <a:pPr indent="0" marL="0">
              <a:buNone/>
            </a:pPr>
            <a:r>
              <a:rPr lang="en-US" sz="900" dirty="0">
                <a:solidFill>
                  <a:srgbClr val="9A9A9A"/>
                </a:solidFill>
                <a:latin typeface="Calibri" pitchFamily="34" charset="0"/>
                <a:ea typeface="Calibri" pitchFamily="34" charset="-122"/>
                <a:cs typeface="Calibri" pitchFamily="34" charset="-120"/>
              </a:rPr>
              <a:t>Instruct-Seg-Edit  ·  Foundations of Data Science  ·  Review 1</a:t>
            </a:r>
            <a:endParaRPr lang="en-US" sz="900" dirty="0"/>
          </a:p>
        </p:txBody>
      </p:sp>
      <p:sp>
        <p:nvSpPr>
          <p:cNvPr id="7" name="Text 5"/>
          <p:cNvSpPr/>
          <p:nvPr/>
        </p:nvSpPr>
        <p:spPr>
          <a:xfrm>
            <a:off x="10865815" y="6382512"/>
            <a:ext cx="548640" cy="256032"/>
          </a:xfrm>
          <a:prstGeom prst="rect">
            <a:avLst/>
          </a:prstGeom>
          <a:noFill/>
          <a:ln/>
        </p:spPr>
        <p:txBody>
          <a:bodyPr wrap="square" lIns="0" tIns="0" rIns="0" bIns="0" rtlCol="0" anchor="ctr"/>
          <a:lstStyle/>
          <a:p>
            <a:pPr algn="r" indent="0" marL="0">
              <a:buNone/>
            </a:pPr>
            <a:r>
              <a:rPr lang="en-US" sz="900" dirty="0">
                <a:solidFill>
                  <a:srgbClr val="9A9A9A"/>
                </a:solidFill>
                <a:latin typeface="Calibri" pitchFamily="34" charset="0"/>
                <a:ea typeface="Calibri" pitchFamily="34" charset="-122"/>
                <a:cs typeface="Calibri" pitchFamily="34" charset="-120"/>
              </a:rPr>
              <a:t>8</a:t>
            </a:r>
            <a:endParaRPr lang="en-US" sz="900" dirty="0"/>
          </a:p>
        </p:txBody>
      </p:sp>
      <p:sp>
        <p:nvSpPr>
          <p:cNvPr id="8" name="Text 6"/>
          <p:cNvSpPr/>
          <p:nvPr/>
        </p:nvSpPr>
        <p:spPr>
          <a:xfrm>
            <a:off x="777240" y="1901952"/>
            <a:ext cx="4937760" cy="237744"/>
          </a:xfrm>
          <a:prstGeom prst="rect">
            <a:avLst/>
          </a:prstGeom>
          <a:noFill/>
          <a:ln/>
        </p:spPr>
        <p:txBody>
          <a:bodyPr wrap="square" lIns="0" tIns="0" rIns="0" bIns="0" rtlCol="0" anchor="ctr"/>
          <a:lstStyle/>
          <a:p>
            <a:pPr indent="0" marL="0">
              <a:buNone/>
            </a:pPr>
            <a:r>
              <a:rPr lang="en-US" sz="1350" b="1" dirty="0">
                <a:solidFill>
                  <a:srgbClr val="1A1A1A"/>
                </a:solidFill>
                <a:latin typeface="Calibri" pitchFamily="34" charset="0"/>
                <a:ea typeface="Calibri" pitchFamily="34" charset="-122"/>
                <a:cs typeface="Calibri" pitchFamily="34" charset="-120"/>
              </a:rPr>
              <a:t>What they do</a:t>
            </a:r>
            <a:endParaRPr lang="en-US" sz="1350" dirty="0"/>
          </a:p>
        </p:txBody>
      </p:sp>
      <p:sp>
        <p:nvSpPr>
          <p:cNvPr id="9" name="Text 7"/>
          <p:cNvSpPr/>
          <p:nvPr/>
        </p:nvSpPr>
        <p:spPr>
          <a:xfrm>
            <a:off x="777240" y="2194560"/>
            <a:ext cx="4937760" cy="1600200"/>
          </a:xfrm>
          <a:prstGeom prst="rect">
            <a:avLst/>
          </a:prstGeom>
          <a:noFill/>
          <a:ln/>
        </p:spPr>
        <p:txBody>
          <a:bodyPr wrap="square" lIns="0" tIns="0" rIns="0" bIns="0" rtlCol="0" anchor="ctr"/>
          <a:lstStyle/>
          <a:p>
            <a:pPr indent="0" marL="0">
              <a:lnSpc>
                <a:spcPts val="1600"/>
              </a:lnSpc>
              <a:buNone/>
            </a:pPr>
            <a:r>
              <a:rPr lang="en-US" sz="1150" dirty="0">
                <a:solidFill>
                  <a:srgbClr val="6E6E6E"/>
                </a:solidFill>
                <a:latin typeface="Calibri" pitchFamily="34" charset="0"/>
                <a:ea typeface="Calibri" pitchFamily="34" charset="-122"/>
                <a:cs typeface="Calibri" pitchFamily="34" charset="-120"/>
              </a:rPr>
              <a:t>The Segment Anything Model is a promptable segmenter pre-trained on SA-1B — eleven million images and one billion masks — with strong zero-shot transfer. Its prompts, however, are geometric: points, boxes and coarse masks. Grounded-SAM reaches language by chaining GroundingDINO in front of it, so an open-vocabulary text query is first turned into boxes, which SAM then converts into masks.</a:t>
            </a:r>
            <a:endParaRPr lang="en-US" sz="1150" dirty="0"/>
          </a:p>
        </p:txBody>
      </p:sp>
      <p:sp>
        <p:nvSpPr>
          <p:cNvPr id="10" name="Text 8"/>
          <p:cNvSpPr/>
          <p:nvPr/>
        </p:nvSpPr>
        <p:spPr>
          <a:xfrm>
            <a:off x="6355080" y="1901952"/>
            <a:ext cx="5029200" cy="237744"/>
          </a:xfrm>
          <a:prstGeom prst="rect">
            <a:avLst/>
          </a:prstGeom>
          <a:noFill/>
          <a:ln/>
        </p:spPr>
        <p:txBody>
          <a:bodyPr wrap="square" lIns="0" tIns="0" rIns="0" bIns="0" rtlCol="0" anchor="ctr"/>
          <a:lstStyle/>
          <a:p>
            <a:pPr indent="0" marL="0">
              <a:buNone/>
            </a:pPr>
            <a:r>
              <a:rPr lang="en-US" sz="1350" b="1" dirty="0">
                <a:solidFill>
                  <a:srgbClr val="1A1A1A"/>
                </a:solidFill>
                <a:latin typeface="Calibri" pitchFamily="34" charset="0"/>
                <a:ea typeface="Calibri" pitchFamily="34" charset="-122"/>
                <a:cs typeface="Calibri" pitchFamily="34" charset="-120"/>
              </a:rPr>
              <a:t>Why they do not close our gap</a:t>
            </a:r>
            <a:endParaRPr lang="en-US" sz="1350" dirty="0"/>
          </a:p>
        </p:txBody>
      </p:sp>
      <p:sp>
        <p:nvSpPr>
          <p:cNvPr id="11" name="Text 9"/>
          <p:cNvSpPr/>
          <p:nvPr/>
        </p:nvSpPr>
        <p:spPr>
          <a:xfrm>
            <a:off x="6355080" y="2194560"/>
            <a:ext cx="5029200" cy="1600200"/>
          </a:xfrm>
          <a:prstGeom prst="rect">
            <a:avLst/>
          </a:prstGeom>
          <a:noFill/>
          <a:ln/>
        </p:spPr>
        <p:txBody>
          <a:bodyPr wrap="square" lIns="0" tIns="0" rIns="0" bIns="0" rtlCol="0" anchor="ctr"/>
          <a:lstStyle/>
          <a:p>
            <a:pPr indent="0" marL="0">
              <a:lnSpc>
                <a:spcPts val="1600"/>
              </a:lnSpc>
              <a:buNone/>
            </a:pPr>
            <a:r>
              <a:rPr lang="en-US" sz="1150" dirty="0">
                <a:solidFill>
                  <a:srgbClr val="6E6E6E"/>
                </a:solidFill>
                <a:latin typeface="Calibri" pitchFamily="34" charset="0"/>
                <a:ea typeface="Calibri" pitchFamily="34" charset="-122"/>
                <a:cs typeface="Calibri" pitchFamily="34" charset="-120"/>
              </a:rPr>
              <a:t>Three reasons. They ground on the object a noun phrase denotes, which is the referent and not the edit region. The pipeline is two large frozen models in series, roughly 800 million parameters combined, not trainable end to end and too slow for an interactive loop. And neither performs any edit — the mask has no downstream consumer.</a:t>
            </a:r>
            <a:endParaRPr lang="en-US" sz="1150" dirty="0"/>
          </a:p>
        </p:txBody>
      </p:sp>
      <p:sp>
        <p:nvSpPr>
          <p:cNvPr id="12" name="Shape 10"/>
          <p:cNvSpPr/>
          <p:nvPr/>
        </p:nvSpPr>
        <p:spPr>
          <a:xfrm>
            <a:off x="777240" y="3977640"/>
            <a:ext cx="10637215" cy="1051560"/>
          </a:xfrm>
          <a:prstGeom prst="rect">
            <a:avLst/>
          </a:prstGeom>
          <a:solidFill>
            <a:srgbClr val="F6F5F2"/>
          </a:solidFill>
          <a:ln/>
        </p:spPr>
      </p:sp>
      <p:sp>
        <p:nvSpPr>
          <p:cNvPr id="13" name="Text 11"/>
          <p:cNvSpPr/>
          <p:nvPr/>
        </p:nvSpPr>
        <p:spPr>
          <a:xfrm>
            <a:off x="1069848" y="4160520"/>
            <a:ext cx="10051999" cy="713232"/>
          </a:xfrm>
          <a:prstGeom prst="rect">
            <a:avLst/>
          </a:prstGeom>
          <a:noFill/>
          <a:ln/>
        </p:spPr>
        <p:txBody>
          <a:bodyPr wrap="square" lIns="0" tIns="0" rIns="0" bIns="0" rtlCol="0" anchor="ctr"/>
          <a:lstStyle/>
          <a:p>
            <a:pPr indent="0" marL="0">
              <a:lnSpc>
                <a:spcPts val="2000"/>
              </a:lnSpc>
              <a:buNone/>
            </a:pPr>
            <a:r>
              <a:rPr lang="en-US" sz="1400" dirty="0">
                <a:solidFill>
                  <a:srgbClr val="1A1A1A"/>
                </a:solidFill>
                <a:latin typeface="Cambria" pitchFamily="34" charset="0"/>
                <a:ea typeface="Cambria" pitchFamily="34" charset="-122"/>
                <a:cs typeface="Cambria" pitchFamily="34" charset="-120"/>
              </a:rPr>
              <a:t>“Put a hat on the man” — Grounded-SAM returns the man. The pixels that must change are above his head. This is the single clearest demonstration that a high relevance score does not mean the problem is solved.</a:t>
            </a:r>
            <a:endParaRPr lang="en-US" sz="1400" dirty="0"/>
          </a:p>
        </p:txBody>
      </p:sp>
      <p:sp>
        <p:nvSpPr>
          <p:cNvPr id="14" name="Text 12"/>
          <p:cNvSpPr/>
          <p:nvPr/>
        </p:nvSpPr>
        <p:spPr>
          <a:xfrm>
            <a:off x="777240" y="5230368"/>
            <a:ext cx="1920240" cy="237744"/>
          </a:xfrm>
          <a:prstGeom prst="rect">
            <a:avLst/>
          </a:prstGeom>
          <a:noFill/>
          <a:ln/>
        </p:spPr>
        <p:txBody>
          <a:bodyPr wrap="square" lIns="0" tIns="0" rIns="0" bIns="0" rtlCol="0" anchor="ctr"/>
          <a:lstStyle/>
          <a:p>
            <a:pPr indent="0" marL="0">
              <a:buNone/>
            </a:pPr>
            <a:r>
              <a:rPr lang="en-US" sz="1350" b="1" dirty="0">
                <a:solidFill>
                  <a:srgbClr val="1A1A1A"/>
                </a:solidFill>
                <a:latin typeface="Calibri" pitchFamily="34" charset="0"/>
                <a:ea typeface="Calibri" pitchFamily="34" charset="-122"/>
                <a:cs typeface="Calibri" pitchFamily="34" charset="-120"/>
              </a:rPr>
              <a:t>What we borrow</a:t>
            </a:r>
            <a:endParaRPr lang="en-US" sz="1350" dirty="0"/>
          </a:p>
        </p:txBody>
      </p:sp>
      <p:sp>
        <p:nvSpPr>
          <p:cNvPr id="15" name="Text 13"/>
          <p:cNvSpPr/>
          <p:nvPr/>
        </p:nvSpPr>
        <p:spPr>
          <a:xfrm>
            <a:off x="2880360" y="5193792"/>
            <a:ext cx="8503920" cy="731520"/>
          </a:xfrm>
          <a:prstGeom prst="rect">
            <a:avLst/>
          </a:prstGeom>
          <a:noFill/>
          <a:ln/>
        </p:spPr>
        <p:txBody>
          <a:bodyPr wrap="square" lIns="0" tIns="0" rIns="0" bIns="0" rtlCol="0" anchor="ctr"/>
          <a:lstStyle/>
          <a:p>
            <a:pPr indent="0" marL="0">
              <a:lnSpc>
                <a:spcPts val="1500"/>
              </a:lnSpc>
              <a:buNone/>
            </a:pPr>
            <a:r>
              <a:rPr lang="en-US" sz="1100" dirty="0">
                <a:solidFill>
                  <a:srgbClr val="6E6E6E"/>
                </a:solidFill>
                <a:latin typeface="Calibri" pitchFamily="34" charset="0"/>
                <a:ea typeface="Calibri" pitchFamily="34" charset="-122"/>
                <a:cs typeface="Calibri" pitchFamily="34" charset="-120"/>
              </a:rPr>
              <a:t>The promptable-segmentation framing itself: a segmentation model that takes a prompt alongside the image is exactly our stage one. We replace the geometric prompt with an instruction, and train on the edit region instead of the referent.</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420624"/>
            <a:ext cx="8229600" cy="219456"/>
          </a:xfrm>
          <a:prstGeom prst="rect">
            <a:avLst/>
          </a:prstGeom>
          <a:noFill/>
          <a:ln/>
        </p:spPr>
        <p:txBody>
          <a:bodyPr wrap="square" lIns="0" tIns="0" rIns="0" bIns="0" rtlCol="0" anchor="ctr"/>
          <a:lstStyle/>
          <a:p>
            <a:pPr indent="0" marL="0">
              <a:buNone/>
            </a:pPr>
            <a:r>
              <a:rPr lang="en-US" sz="1050" b="1" spc="220" kern="0" dirty="0">
                <a:solidFill>
                  <a:srgbClr val="8C3A1E"/>
                </a:solidFill>
                <a:latin typeface="Calibri" pitchFamily="34" charset="0"/>
                <a:ea typeface="Calibri" pitchFamily="34" charset="-122"/>
                <a:cs typeface="Calibri" pitchFamily="34" charset="-120"/>
              </a:rPr>
              <a:t>LITERATURE SURVEY  ·  4 OF 5</a:t>
            </a:r>
            <a:endParaRPr lang="en-US" sz="1050" dirty="0"/>
          </a:p>
        </p:txBody>
      </p:sp>
      <p:sp>
        <p:nvSpPr>
          <p:cNvPr id="3" name="Text 1"/>
          <p:cNvSpPr/>
          <p:nvPr/>
        </p:nvSpPr>
        <p:spPr>
          <a:xfrm>
            <a:off x="777240" y="694944"/>
            <a:ext cx="10637215" cy="603504"/>
          </a:xfrm>
          <a:prstGeom prst="rect">
            <a:avLst/>
          </a:prstGeom>
          <a:noFill/>
          <a:ln/>
        </p:spPr>
        <p:txBody>
          <a:bodyPr wrap="square" lIns="0" tIns="0" rIns="0" bIns="0" rtlCol="0" anchor="ctr"/>
          <a:lstStyle/>
          <a:p>
            <a:pPr indent="0" marL="0">
              <a:buNone/>
            </a:pPr>
            <a:r>
              <a:rPr lang="en-US" sz="3100" b="1" dirty="0">
                <a:solidFill>
                  <a:srgbClr val="1A1A1A"/>
                </a:solidFill>
                <a:latin typeface="Cambria" pitchFamily="34" charset="0"/>
                <a:ea typeface="Cambria" pitchFamily="34" charset="-122"/>
                <a:cs typeface="Cambria" pitchFamily="34" charset="-120"/>
              </a:rPr>
              <a:t>Architectural base — YOLACT and YOLOv8-seg</a:t>
            </a:r>
            <a:endParaRPr lang="en-US" sz="3100" dirty="0"/>
          </a:p>
        </p:txBody>
      </p:sp>
      <p:sp>
        <p:nvSpPr>
          <p:cNvPr id="4" name="Text 2"/>
          <p:cNvSpPr/>
          <p:nvPr/>
        </p:nvSpPr>
        <p:spPr>
          <a:xfrm>
            <a:off x="777240" y="1335024"/>
            <a:ext cx="10637215" cy="347472"/>
          </a:xfrm>
          <a:prstGeom prst="rect">
            <a:avLst/>
          </a:prstGeom>
          <a:noFill/>
          <a:ln/>
        </p:spPr>
        <p:txBody>
          <a:bodyPr wrap="square" lIns="0" tIns="0" rIns="0" bIns="0" rtlCol="0" anchor="ctr"/>
          <a:lstStyle/>
          <a:p>
            <a:pPr indent="0" marL="0">
              <a:buNone/>
            </a:pPr>
            <a:r>
              <a:rPr lang="en-US" sz="1400" dirty="0">
                <a:solidFill>
                  <a:srgbClr val="6E6E6E"/>
                </a:solidFill>
                <a:latin typeface="Calibri" pitchFamily="34" charset="0"/>
                <a:ea typeface="Calibri" pitchFamily="34" charset="-122"/>
                <a:cs typeface="Calibri" pitchFamily="34" charset="-120"/>
              </a:rPr>
              <a:t>Bolya et al., ICCV 2019  ·  Jocher et al., 2023.  Where our localization network comes from.</a:t>
            </a:r>
            <a:endParaRPr lang="en-US" sz="1400" dirty="0"/>
          </a:p>
        </p:txBody>
      </p:sp>
      <p:sp>
        <p:nvSpPr>
          <p:cNvPr id="5" name="Shape 3"/>
          <p:cNvSpPr/>
          <p:nvPr/>
        </p:nvSpPr>
        <p:spPr>
          <a:xfrm>
            <a:off x="777240" y="6291072"/>
            <a:ext cx="10637215" cy="7315"/>
          </a:xfrm>
          <a:prstGeom prst="rect">
            <a:avLst/>
          </a:prstGeom>
          <a:solidFill>
            <a:srgbClr val="DEDCD7"/>
          </a:solidFill>
          <a:ln/>
        </p:spPr>
      </p:sp>
      <p:sp>
        <p:nvSpPr>
          <p:cNvPr id="6" name="Text 4"/>
          <p:cNvSpPr/>
          <p:nvPr/>
        </p:nvSpPr>
        <p:spPr>
          <a:xfrm>
            <a:off x="777240" y="6382512"/>
            <a:ext cx="7315200" cy="256032"/>
          </a:xfrm>
          <a:prstGeom prst="rect">
            <a:avLst/>
          </a:prstGeom>
          <a:noFill/>
          <a:ln/>
        </p:spPr>
        <p:txBody>
          <a:bodyPr wrap="square" lIns="0" tIns="0" rIns="0" bIns="0" rtlCol="0" anchor="ctr"/>
          <a:lstStyle/>
          <a:p>
            <a:pPr indent="0" marL="0">
              <a:buNone/>
            </a:pPr>
            <a:r>
              <a:rPr lang="en-US" sz="900" dirty="0">
                <a:solidFill>
                  <a:srgbClr val="9A9A9A"/>
                </a:solidFill>
                <a:latin typeface="Calibri" pitchFamily="34" charset="0"/>
                <a:ea typeface="Calibri" pitchFamily="34" charset="-122"/>
                <a:cs typeface="Calibri" pitchFamily="34" charset="-120"/>
              </a:rPr>
              <a:t>Instruct-Seg-Edit  ·  Foundations of Data Science  ·  Review 1</a:t>
            </a:r>
            <a:endParaRPr lang="en-US" sz="900" dirty="0"/>
          </a:p>
        </p:txBody>
      </p:sp>
      <p:sp>
        <p:nvSpPr>
          <p:cNvPr id="7" name="Text 5"/>
          <p:cNvSpPr/>
          <p:nvPr/>
        </p:nvSpPr>
        <p:spPr>
          <a:xfrm>
            <a:off x="10865815" y="6382512"/>
            <a:ext cx="548640" cy="256032"/>
          </a:xfrm>
          <a:prstGeom prst="rect">
            <a:avLst/>
          </a:prstGeom>
          <a:noFill/>
          <a:ln/>
        </p:spPr>
        <p:txBody>
          <a:bodyPr wrap="square" lIns="0" tIns="0" rIns="0" bIns="0" rtlCol="0" anchor="ctr"/>
          <a:lstStyle/>
          <a:p>
            <a:pPr algn="r" indent="0" marL="0">
              <a:buNone/>
            </a:pPr>
            <a:r>
              <a:rPr lang="en-US" sz="900" dirty="0">
                <a:solidFill>
                  <a:srgbClr val="9A9A9A"/>
                </a:solidFill>
                <a:latin typeface="Calibri" pitchFamily="34" charset="0"/>
                <a:ea typeface="Calibri" pitchFamily="34" charset="-122"/>
                <a:cs typeface="Calibri" pitchFamily="34" charset="-120"/>
              </a:rPr>
              <a:t>9</a:t>
            </a:r>
            <a:endParaRPr lang="en-US" sz="900" dirty="0"/>
          </a:p>
        </p:txBody>
      </p:sp>
      <p:sp>
        <p:nvSpPr>
          <p:cNvPr id="8" name="Text 6"/>
          <p:cNvSpPr/>
          <p:nvPr/>
        </p:nvSpPr>
        <p:spPr>
          <a:xfrm>
            <a:off x="777240" y="1901952"/>
            <a:ext cx="4937760" cy="237744"/>
          </a:xfrm>
          <a:prstGeom prst="rect">
            <a:avLst/>
          </a:prstGeom>
          <a:noFill/>
          <a:ln/>
        </p:spPr>
        <p:txBody>
          <a:bodyPr wrap="square" lIns="0" tIns="0" rIns="0" bIns="0" rtlCol="0" anchor="ctr"/>
          <a:lstStyle/>
          <a:p>
            <a:pPr indent="0" marL="0">
              <a:buNone/>
            </a:pPr>
            <a:r>
              <a:rPr lang="en-US" sz="1350" b="1" dirty="0">
                <a:solidFill>
                  <a:srgbClr val="1A1A1A"/>
                </a:solidFill>
                <a:latin typeface="Calibri" pitchFamily="34" charset="0"/>
                <a:ea typeface="Calibri" pitchFamily="34" charset="-122"/>
                <a:cs typeface="Calibri" pitchFamily="34" charset="-120"/>
              </a:rPr>
              <a:t>YOLACT — the mask formulation</a:t>
            </a:r>
            <a:endParaRPr lang="en-US" sz="1350" dirty="0"/>
          </a:p>
        </p:txBody>
      </p:sp>
      <p:sp>
        <p:nvSpPr>
          <p:cNvPr id="9" name="Text 7"/>
          <p:cNvSpPr/>
          <p:nvPr/>
        </p:nvSpPr>
        <p:spPr>
          <a:xfrm>
            <a:off x="777240" y="2194560"/>
            <a:ext cx="4937760" cy="1600200"/>
          </a:xfrm>
          <a:prstGeom prst="rect">
            <a:avLst/>
          </a:prstGeom>
          <a:noFill/>
          <a:ln/>
        </p:spPr>
        <p:txBody>
          <a:bodyPr wrap="square" lIns="0" tIns="0" rIns="0" bIns="0" rtlCol="0" anchor="ctr"/>
          <a:lstStyle/>
          <a:p>
            <a:pPr indent="0" marL="0">
              <a:lnSpc>
                <a:spcPts val="1600"/>
              </a:lnSpc>
              <a:buNone/>
            </a:pPr>
            <a:r>
              <a:rPr lang="en-US" sz="1150" dirty="0">
                <a:solidFill>
                  <a:srgbClr val="6E6E6E"/>
                </a:solidFill>
                <a:latin typeface="Calibri" pitchFamily="34" charset="0"/>
                <a:ea typeface="Calibri" pitchFamily="34" charset="-122"/>
                <a:cs typeface="Calibri" pitchFamily="34" charset="-120"/>
              </a:rPr>
              <a:t>Rather than computing a mask per detected object, YOLACT predicts a small set of image-wide prototype masks once, plus a short coefficient vector for each instance. Each instance mask is then a linear combination of those shared prototypes. The expensive convolution work happens once per image, so per-instance cost is almost free: 29.8 mask AP at 33.5 frames per second.</a:t>
            </a:r>
            <a:endParaRPr lang="en-US" sz="1150" dirty="0"/>
          </a:p>
        </p:txBody>
      </p:sp>
      <p:sp>
        <p:nvSpPr>
          <p:cNvPr id="10" name="Text 8"/>
          <p:cNvSpPr/>
          <p:nvPr/>
        </p:nvSpPr>
        <p:spPr>
          <a:xfrm>
            <a:off x="6355080" y="1901952"/>
            <a:ext cx="5029200" cy="237744"/>
          </a:xfrm>
          <a:prstGeom prst="rect">
            <a:avLst/>
          </a:prstGeom>
          <a:noFill/>
          <a:ln/>
        </p:spPr>
        <p:txBody>
          <a:bodyPr wrap="square" lIns="0" tIns="0" rIns="0" bIns="0" rtlCol="0" anchor="ctr"/>
          <a:lstStyle/>
          <a:p>
            <a:pPr indent="0" marL="0">
              <a:buNone/>
            </a:pPr>
            <a:r>
              <a:rPr lang="en-US" sz="1350" b="1" dirty="0">
                <a:solidFill>
                  <a:srgbClr val="1A1A1A"/>
                </a:solidFill>
                <a:latin typeface="Calibri" pitchFamily="34" charset="0"/>
                <a:ea typeface="Calibri" pitchFamily="34" charset="-122"/>
                <a:cs typeface="Calibri" pitchFamily="34" charset="-120"/>
              </a:rPr>
              <a:t>YOLOv8-seg — the backbone</a:t>
            </a:r>
            <a:endParaRPr lang="en-US" sz="1350" dirty="0"/>
          </a:p>
        </p:txBody>
      </p:sp>
      <p:sp>
        <p:nvSpPr>
          <p:cNvPr id="11" name="Text 9"/>
          <p:cNvSpPr/>
          <p:nvPr/>
        </p:nvSpPr>
        <p:spPr>
          <a:xfrm>
            <a:off x="6355080" y="2194560"/>
            <a:ext cx="5029200" cy="1600200"/>
          </a:xfrm>
          <a:prstGeom prst="rect">
            <a:avLst/>
          </a:prstGeom>
          <a:noFill/>
          <a:ln/>
        </p:spPr>
        <p:txBody>
          <a:bodyPr wrap="square" lIns="0" tIns="0" rIns="0" bIns="0" rtlCol="0" anchor="ctr"/>
          <a:lstStyle/>
          <a:p>
            <a:pPr indent="0" marL="0">
              <a:lnSpc>
                <a:spcPts val="1600"/>
              </a:lnSpc>
              <a:buNone/>
            </a:pPr>
            <a:r>
              <a:rPr lang="en-US" sz="1150" dirty="0">
                <a:solidFill>
                  <a:srgbClr val="6E6E6E"/>
                </a:solidFill>
                <a:latin typeface="Calibri" pitchFamily="34" charset="0"/>
                <a:ea typeface="Calibri" pitchFamily="34" charset="-122"/>
                <a:cs typeface="Calibri" pitchFamily="34" charset="-120"/>
              </a:rPr>
              <a:t>Combines a CSP-inspired backbone using C2f modules for gradient flow, a PAN-style neck fusing multi-scale features, and an anchor-free decoupled head with Distribution Focal Loss, which predicts a distribution over each box coordinate rather than a single value. Segmentation variants span 30.5 to 43.4 mask AP; the x-scale is 71.8 million parameters.</a:t>
            </a:r>
            <a:endParaRPr lang="en-US" sz="1150" dirty="0"/>
          </a:p>
        </p:txBody>
      </p:sp>
      <p:sp>
        <p:nvSpPr>
          <p:cNvPr id="12" name="Text 10"/>
          <p:cNvSpPr/>
          <p:nvPr/>
        </p:nvSpPr>
        <p:spPr>
          <a:xfrm>
            <a:off x="777240" y="3931920"/>
            <a:ext cx="4937760" cy="237744"/>
          </a:xfrm>
          <a:prstGeom prst="rect">
            <a:avLst/>
          </a:prstGeom>
          <a:noFill/>
          <a:ln/>
        </p:spPr>
        <p:txBody>
          <a:bodyPr wrap="square" lIns="0" tIns="0" rIns="0" bIns="0" rtlCol="0" anchor="ctr"/>
          <a:lstStyle/>
          <a:p>
            <a:pPr indent="0" marL="0">
              <a:buNone/>
            </a:pPr>
            <a:r>
              <a:rPr lang="en-US" sz="1350" b="1" dirty="0">
                <a:solidFill>
                  <a:srgbClr val="1A1A1A"/>
                </a:solidFill>
                <a:latin typeface="Calibri" pitchFamily="34" charset="0"/>
                <a:ea typeface="Calibri" pitchFamily="34" charset="-122"/>
                <a:cs typeface="Calibri" pitchFamily="34" charset="-120"/>
              </a:rPr>
              <a:t>Why this pairing suits an editing system</a:t>
            </a:r>
            <a:endParaRPr lang="en-US" sz="1350" dirty="0"/>
          </a:p>
        </p:txBody>
      </p:sp>
      <p:sp>
        <p:nvSpPr>
          <p:cNvPr id="13" name="Text 11"/>
          <p:cNvSpPr/>
          <p:nvPr/>
        </p:nvSpPr>
        <p:spPr>
          <a:xfrm>
            <a:off x="777240" y="4224528"/>
            <a:ext cx="10637215" cy="594360"/>
          </a:xfrm>
          <a:prstGeom prst="rect">
            <a:avLst/>
          </a:prstGeom>
          <a:noFill/>
          <a:ln/>
        </p:spPr>
        <p:txBody>
          <a:bodyPr wrap="square" lIns="0" tIns="0" rIns="0" bIns="0" rtlCol="0" anchor="ctr"/>
          <a:lstStyle/>
          <a:p>
            <a:pPr indent="0" marL="0">
              <a:lnSpc>
                <a:spcPts val="1600"/>
              </a:lnSpc>
              <a:buNone/>
            </a:pPr>
            <a:r>
              <a:rPr lang="en-US" sz="1150" dirty="0">
                <a:solidFill>
                  <a:srgbClr val="6E6E6E"/>
                </a:solidFill>
                <a:latin typeface="Calibri" pitchFamily="34" charset="0"/>
                <a:ea typeface="Calibri" pitchFamily="34" charset="-122"/>
                <a:cs typeface="Calibri" pitchFamily="34" charset="-120"/>
              </a:rPr>
              <a:t>An editing scene usually contains many candidate objects while exactly one is finally edited. Sharing the expensive work across all instances and keeping the per-instance cost to a 32-value vector is precisely the right trade for that shape of problem, and it is what keeps the model fast enough to sit inside a human-in-the-loop interface.</a:t>
            </a:r>
            <a:endParaRPr lang="en-US" sz="1150" dirty="0"/>
          </a:p>
        </p:txBody>
      </p:sp>
      <p:sp>
        <p:nvSpPr>
          <p:cNvPr id="14" name="Shape 12"/>
          <p:cNvSpPr/>
          <p:nvPr/>
        </p:nvSpPr>
        <p:spPr>
          <a:xfrm>
            <a:off x="777240" y="4956048"/>
            <a:ext cx="10637215" cy="960120"/>
          </a:xfrm>
          <a:prstGeom prst="rect">
            <a:avLst/>
          </a:prstGeom>
          <a:solidFill>
            <a:srgbClr val="F6F5F2"/>
          </a:solidFill>
          <a:ln/>
        </p:spPr>
      </p:sp>
      <p:sp>
        <p:nvSpPr>
          <p:cNvPr id="15" name="Text 13"/>
          <p:cNvSpPr/>
          <p:nvPr/>
        </p:nvSpPr>
        <p:spPr>
          <a:xfrm>
            <a:off x="1069848" y="5138928"/>
            <a:ext cx="10051999" cy="658368"/>
          </a:xfrm>
          <a:prstGeom prst="rect">
            <a:avLst/>
          </a:prstGeom>
          <a:noFill/>
          <a:ln/>
        </p:spPr>
        <p:txBody>
          <a:bodyPr wrap="square" lIns="0" tIns="0" rIns="0" bIns="0" rtlCol="0" anchor="ctr"/>
          <a:lstStyle/>
          <a:p>
            <a:pPr indent="0" marL="0">
              <a:lnSpc>
                <a:spcPts val="1700"/>
              </a:lnSpc>
              <a:buNone/>
            </a:pPr>
            <a:r>
              <a:rPr lang="en-US" sz="1200" dirty="0">
                <a:solidFill>
                  <a:srgbClr val="1A1A1A"/>
                </a:solidFill>
                <a:latin typeface="Calibri" pitchFamily="34" charset="0"/>
                <a:ea typeface="Calibri" pitchFamily="34" charset="-122"/>
                <a:cs typeface="Calibri" pitchFamily="34" charset="-120"/>
              </a:rPr>
              <a:t>The gap they leave — neither has any language pathway at all. They segment a fixed vocabulary of 80 object classes and have no notion of an instruction. Our contribution to this lineage is the instruction-conditioning pathway: a CLIP text encoder and a fusion module added ahead of the head.</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420624"/>
            <a:ext cx="8229600" cy="219456"/>
          </a:xfrm>
          <a:prstGeom prst="rect">
            <a:avLst/>
          </a:prstGeom>
          <a:noFill/>
          <a:ln/>
        </p:spPr>
        <p:txBody>
          <a:bodyPr wrap="square" lIns="0" tIns="0" rIns="0" bIns="0" rtlCol="0" anchor="ctr"/>
          <a:lstStyle/>
          <a:p>
            <a:pPr indent="0" marL="0">
              <a:buNone/>
            </a:pPr>
            <a:r>
              <a:rPr lang="en-US" sz="1050" b="1" spc="220" kern="0" dirty="0">
                <a:solidFill>
                  <a:srgbClr val="8C3A1E"/>
                </a:solidFill>
                <a:latin typeface="Calibri" pitchFamily="34" charset="0"/>
                <a:ea typeface="Calibri" pitchFamily="34" charset="-122"/>
                <a:cs typeface="Calibri" pitchFamily="34" charset="-120"/>
              </a:rPr>
              <a:t>LITERATURE SURVEY  ·  5 OF 5</a:t>
            </a:r>
            <a:endParaRPr lang="en-US" sz="1050" dirty="0"/>
          </a:p>
        </p:txBody>
      </p:sp>
      <p:sp>
        <p:nvSpPr>
          <p:cNvPr id="3" name="Text 1"/>
          <p:cNvSpPr/>
          <p:nvPr/>
        </p:nvSpPr>
        <p:spPr>
          <a:xfrm>
            <a:off x="777240" y="694944"/>
            <a:ext cx="10637215" cy="603504"/>
          </a:xfrm>
          <a:prstGeom prst="rect">
            <a:avLst/>
          </a:prstGeom>
          <a:noFill/>
          <a:ln/>
        </p:spPr>
        <p:txBody>
          <a:bodyPr wrap="square" lIns="0" tIns="0" rIns="0" bIns="0" rtlCol="0" anchor="ctr"/>
          <a:lstStyle/>
          <a:p>
            <a:pPr indent="0" marL="0">
              <a:buNone/>
            </a:pPr>
            <a:r>
              <a:rPr lang="en-US" sz="3100" b="1" dirty="0">
                <a:solidFill>
                  <a:srgbClr val="1A1A1A"/>
                </a:solidFill>
                <a:latin typeface="Cambria" pitchFamily="34" charset="0"/>
                <a:ea typeface="Cambria" pitchFamily="34" charset="-122"/>
                <a:cs typeface="Cambria" pitchFamily="34" charset="-120"/>
              </a:rPr>
              <a:t>Where the gap is, and what we will build</a:t>
            </a:r>
            <a:endParaRPr lang="en-US" sz="3100" dirty="0"/>
          </a:p>
        </p:txBody>
      </p:sp>
      <p:sp>
        <p:nvSpPr>
          <p:cNvPr id="4" name="Text 2"/>
          <p:cNvSpPr/>
          <p:nvPr/>
        </p:nvSpPr>
        <p:spPr>
          <a:xfrm>
            <a:off x="777240" y="1335024"/>
            <a:ext cx="10637215" cy="347472"/>
          </a:xfrm>
          <a:prstGeom prst="rect">
            <a:avLst/>
          </a:prstGeom>
          <a:noFill/>
          <a:ln/>
        </p:spPr>
        <p:txBody>
          <a:bodyPr wrap="square" lIns="0" tIns="0" rIns="0" bIns="0" rtlCol="0" anchor="ctr"/>
          <a:lstStyle/>
          <a:p>
            <a:pPr indent="0" marL="0">
              <a:buNone/>
            </a:pPr>
            <a:r>
              <a:rPr lang="en-US" sz="1400" dirty="0">
                <a:solidFill>
                  <a:srgbClr val="6E6E6E"/>
                </a:solidFill>
                <a:latin typeface="Calibri" pitchFamily="34" charset="0"/>
                <a:ea typeface="Calibri" pitchFamily="34" charset="-122"/>
                <a:cs typeface="Calibri" pitchFamily="34" charset="-120"/>
              </a:rPr>
              <a:t>The base paper and the three closest works, scored on the capabilities this project requires.</a:t>
            </a:r>
            <a:endParaRPr lang="en-US" sz="1400" dirty="0"/>
          </a:p>
        </p:txBody>
      </p:sp>
      <p:sp>
        <p:nvSpPr>
          <p:cNvPr id="5" name="Shape 3"/>
          <p:cNvSpPr/>
          <p:nvPr/>
        </p:nvSpPr>
        <p:spPr>
          <a:xfrm>
            <a:off x="777240" y="6291072"/>
            <a:ext cx="10637215" cy="7315"/>
          </a:xfrm>
          <a:prstGeom prst="rect">
            <a:avLst/>
          </a:prstGeom>
          <a:solidFill>
            <a:srgbClr val="DEDCD7"/>
          </a:solidFill>
          <a:ln/>
        </p:spPr>
      </p:sp>
      <p:sp>
        <p:nvSpPr>
          <p:cNvPr id="6" name="Text 4"/>
          <p:cNvSpPr/>
          <p:nvPr/>
        </p:nvSpPr>
        <p:spPr>
          <a:xfrm>
            <a:off x="777240" y="6382512"/>
            <a:ext cx="7315200" cy="256032"/>
          </a:xfrm>
          <a:prstGeom prst="rect">
            <a:avLst/>
          </a:prstGeom>
          <a:noFill/>
          <a:ln/>
        </p:spPr>
        <p:txBody>
          <a:bodyPr wrap="square" lIns="0" tIns="0" rIns="0" bIns="0" rtlCol="0" anchor="ctr"/>
          <a:lstStyle/>
          <a:p>
            <a:pPr indent="0" marL="0">
              <a:buNone/>
            </a:pPr>
            <a:r>
              <a:rPr lang="en-US" sz="900" dirty="0">
                <a:solidFill>
                  <a:srgbClr val="9A9A9A"/>
                </a:solidFill>
                <a:latin typeface="Calibri" pitchFamily="34" charset="0"/>
                <a:ea typeface="Calibri" pitchFamily="34" charset="-122"/>
                <a:cs typeface="Calibri" pitchFamily="34" charset="-120"/>
              </a:rPr>
              <a:t>Instruct-Seg-Edit  ·  Foundations of Data Science  ·  Review 1</a:t>
            </a:r>
            <a:endParaRPr lang="en-US" sz="900" dirty="0"/>
          </a:p>
        </p:txBody>
      </p:sp>
      <p:sp>
        <p:nvSpPr>
          <p:cNvPr id="7" name="Text 5"/>
          <p:cNvSpPr/>
          <p:nvPr/>
        </p:nvSpPr>
        <p:spPr>
          <a:xfrm>
            <a:off x="10865815" y="6382512"/>
            <a:ext cx="548640" cy="256032"/>
          </a:xfrm>
          <a:prstGeom prst="rect">
            <a:avLst/>
          </a:prstGeom>
          <a:noFill/>
          <a:ln/>
        </p:spPr>
        <p:txBody>
          <a:bodyPr wrap="square" lIns="0" tIns="0" rIns="0" bIns="0" rtlCol="0" anchor="ctr"/>
          <a:lstStyle/>
          <a:p>
            <a:pPr algn="r" indent="0" marL="0">
              <a:buNone/>
            </a:pPr>
            <a:r>
              <a:rPr lang="en-US" sz="900" dirty="0">
                <a:solidFill>
                  <a:srgbClr val="9A9A9A"/>
                </a:solidFill>
                <a:latin typeface="Calibri" pitchFamily="34" charset="0"/>
                <a:ea typeface="Calibri" pitchFamily="34" charset="-122"/>
                <a:cs typeface="Calibri" pitchFamily="34" charset="-120"/>
              </a:rPr>
              <a:t>10</a:t>
            </a:r>
            <a:endParaRPr lang="en-US" sz="9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777240" y="1901952"/>
          <a:ext cx="10637215" cy="914400"/>
        </p:xfrm>
        <a:graphic>
          <a:graphicData uri="http://schemas.openxmlformats.org/drawingml/2006/table">
            <a:tbl>
              <a:tblPr/>
              <a:tblGrid>
                <a:gridCol w="3136392"/>
                <a:gridCol w="1280160"/>
                <a:gridCol w="1188720"/>
                <a:gridCol w="1280160"/>
                <a:gridCol w="1280160"/>
                <a:gridCol w="1188720"/>
                <a:gridCol w="1280160"/>
              </a:tblGrid>
              <a:tr h="384048">
                <a:tc>
                  <a:txBody>
                    <a:bodyPr/>
                    <a:lstStyle/>
                    <a:p>
                      <a:pPr indent="0" marL="0">
                        <a:buNone/>
                      </a:pPr>
                      <a:endParaRPr lang="en-US" sz="10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6F5F2"/>
                    </a:solidFill>
                  </a:tcPr>
                </a:tc>
                <a:tc>
                  <a:txBody>
                    <a:bodyPr/>
                    <a:lstStyle/>
                    <a:p>
                      <a:pPr algn="ctr" indent="0" marL="0">
                        <a:buNone/>
                      </a:pPr>
                      <a:r>
                        <a:rPr lang="en-US" sz="1000" b="1" dirty="0">
                          <a:solidFill>
                            <a:srgbClr val="1A1A1A"/>
                          </a:solidFill>
                          <a:latin typeface="Calibri" pitchFamily="34" charset="0"/>
                          <a:ea typeface="Calibri" pitchFamily="34" charset="-122"/>
                          <a:cs typeface="Calibri" pitchFamily="34" charset="-120"/>
                        </a:rPr>
                        <a:t>Text-</a:t>
                      </a:r>
                      <a:endParaRPr lang="en-US" sz="1000" dirty="0">
                        <a:latin typeface="Calibri" charset="0"/>
                        <a:ea typeface="Calibri" charset="0"/>
                        <a:cs typeface="Calibri" charset="0"/>
                      </a:endParaRPr>
                    </a:p>
                    <a:p>
                      <a:pPr algn="ctr" indent="0" marL="0">
                        <a:buNone/>
                      </a:pPr>
                      <a:r>
                        <a:rPr lang="en-US" sz="1000" b="1" dirty="0">
                          <a:solidFill>
                            <a:srgbClr val="1A1A1A"/>
                          </a:solidFill>
                          <a:latin typeface="Calibri" pitchFamily="34" charset="0"/>
                          <a:ea typeface="Calibri" pitchFamily="34" charset="-122"/>
                          <a:cs typeface="Calibri" pitchFamily="34" charset="-120"/>
                        </a:rPr>
                        <a:t>conditioned</a:t>
                      </a:r>
                      <a:endParaRPr lang="en-US" sz="10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6F5F2"/>
                    </a:solidFill>
                  </a:tcPr>
                </a:tc>
                <a:tc>
                  <a:txBody>
                    <a:bodyPr/>
                    <a:lstStyle/>
                    <a:p>
                      <a:pPr algn="ctr" indent="0" marL="0">
                        <a:buNone/>
                      </a:pPr>
                      <a:r>
                        <a:rPr lang="en-US" sz="1000" b="1" dirty="0">
                          <a:solidFill>
                            <a:srgbClr val="1A1A1A"/>
                          </a:solidFill>
                          <a:latin typeface="Calibri" pitchFamily="34" charset="0"/>
                          <a:ea typeface="Calibri" pitchFamily="34" charset="-122"/>
                          <a:cs typeface="Calibri" pitchFamily="34" charset="-120"/>
                        </a:rPr>
                        <a:t>Outputs a</a:t>
                      </a:r>
                      <a:endParaRPr lang="en-US" sz="1000" dirty="0">
                        <a:latin typeface="Calibri" charset="0"/>
                        <a:ea typeface="Calibri" charset="0"/>
                        <a:cs typeface="Calibri" charset="0"/>
                      </a:endParaRPr>
                    </a:p>
                    <a:p>
                      <a:pPr algn="ctr" indent="0" marL="0">
                        <a:buNone/>
                      </a:pPr>
                      <a:r>
                        <a:rPr lang="en-US" sz="1000" b="1" dirty="0">
                          <a:solidFill>
                            <a:srgbClr val="1A1A1A"/>
                          </a:solidFill>
                          <a:latin typeface="Calibri" pitchFamily="34" charset="0"/>
                          <a:ea typeface="Calibri" pitchFamily="34" charset="-122"/>
                          <a:cs typeface="Calibri" pitchFamily="34" charset="-120"/>
                        </a:rPr>
                        <a:t>mask</a:t>
                      </a:r>
                      <a:endParaRPr lang="en-US" sz="10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6F5F2"/>
                    </a:solidFill>
                  </a:tcPr>
                </a:tc>
                <a:tc>
                  <a:txBody>
                    <a:bodyPr/>
                    <a:lstStyle/>
                    <a:p>
                      <a:pPr algn="ctr" indent="0" marL="0">
                        <a:buNone/>
                      </a:pPr>
                      <a:r>
                        <a:rPr lang="en-US" sz="1000" b="1" dirty="0">
                          <a:solidFill>
                            <a:srgbClr val="1A1A1A"/>
                          </a:solidFill>
                          <a:latin typeface="Calibri" pitchFamily="34" charset="0"/>
                          <a:ea typeface="Calibri" pitchFamily="34" charset="-122"/>
                          <a:cs typeface="Calibri" pitchFamily="34" charset="-120"/>
                        </a:rPr>
                        <a:t>Mask is</a:t>
                      </a:r>
                      <a:endParaRPr lang="en-US" sz="1000" dirty="0">
                        <a:latin typeface="Calibri" charset="0"/>
                        <a:ea typeface="Calibri" charset="0"/>
                        <a:cs typeface="Calibri" charset="0"/>
                      </a:endParaRPr>
                    </a:p>
                    <a:p>
                      <a:pPr algn="ctr" indent="0" marL="0">
                        <a:buNone/>
                      </a:pPr>
                      <a:r>
                        <a:rPr lang="en-US" sz="1000" b="1" dirty="0">
                          <a:solidFill>
                            <a:srgbClr val="1A1A1A"/>
                          </a:solidFill>
                          <a:latin typeface="Calibri" pitchFamily="34" charset="0"/>
                          <a:ea typeface="Calibri" pitchFamily="34" charset="-122"/>
                          <a:cs typeface="Calibri" pitchFamily="34" charset="-120"/>
                        </a:rPr>
                        <a:t>supervised</a:t>
                      </a:r>
                      <a:endParaRPr lang="en-US" sz="10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6F5F2"/>
                    </a:solidFill>
                  </a:tcPr>
                </a:tc>
                <a:tc>
                  <a:txBody>
                    <a:bodyPr/>
                    <a:lstStyle/>
                    <a:p>
                      <a:pPr algn="ctr" indent="0" marL="0">
                        <a:buNone/>
                      </a:pPr>
                      <a:r>
                        <a:rPr lang="en-US" sz="1000" b="1" dirty="0">
                          <a:solidFill>
                            <a:srgbClr val="1A1A1A"/>
                          </a:solidFill>
                          <a:latin typeface="Calibri" pitchFamily="34" charset="0"/>
                          <a:ea typeface="Calibri" pitchFamily="34" charset="-122"/>
                          <a:cs typeface="Calibri" pitchFamily="34" charset="-120"/>
                        </a:rPr>
                        <a:t>Mask shown</a:t>
                      </a:r>
                      <a:endParaRPr lang="en-US" sz="1000" dirty="0">
                        <a:latin typeface="Calibri" charset="0"/>
                        <a:ea typeface="Calibri" charset="0"/>
                        <a:cs typeface="Calibri" charset="0"/>
                      </a:endParaRPr>
                    </a:p>
                    <a:p>
                      <a:pPr algn="ctr" indent="0" marL="0">
                        <a:buNone/>
                      </a:pPr>
                      <a:r>
                        <a:rPr lang="en-US" sz="1000" b="1" dirty="0">
                          <a:solidFill>
                            <a:srgbClr val="1A1A1A"/>
                          </a:solidFill>
                          <a:latin typeface="Calibri" pitchFamily="34" charset="0"/>
                          <a:ea typeface="Calibri" pitchFamily="34" charset="-122"/>
                          <a:cs typeface="Calibri" pitchFamily="34" charset="-120"/>
                        </a:rPr>
                        <a:t>to user</a:t>
                      </a:r>
                      <a:endParaRPr lang="en-US" sz="10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6F5F2"/>
                    </a:solidFill>
                  </a:tcPr>
                </a:tc>
                <a:tc>
                  <a:txBody>
                    <a:bodyPr/>
                    <a:lstStyle/>
                    <a:p>
                      <a:pPr algn="ctr" indent="0" marL="0">
                        <a:buNone/>
                      </a:pPr>
                      <a:r>
                        <a:rPr lang="en-US" sz="1000" b="1" dirty="0">
                          <a:solidFill>
                            <a:srgbClr val="1A1A1A"/>
                          </a:solidFill>
                          <a:latin typeface="Calibri" pitchFamily="34" charset="0"/>
                          <a:ea typeface="Calibri" pitchFamily="34" charset="-122"/>
                          <a:cs typeface="Calibri" pitchFamily="34" charset="-120"/>
                        </a:rPr>
                        <a:t>Performs</a:t>
                      </a:r>
                      <a:endParaRPr lang="en-US" sz="1000" dirty="0">
                        <a:latin typeface="Calibri" charset="0"/>
                        <a:ea typeface="Calibri" charset="0"/>
                        <a:cs typeface="Calibri" charset="0"/>
                      </a:endParaRPr>
                    </a:p>
                    <a:p>
                      <a:pPr algn="ctr" indent="0" marL="0">
                        <a:buNone/>
                      </a:pPr>
                      <a:r>
                        <a:rPr lang="en-US" sz="1000" b="1" dirty="0">
                          <a:solidFill>
                            <a:srgbClr val="1A1A1A"/>
                          </a:solidFill>
                          <a:latin typeface="Calibri" pitchFamily="34" charset="0"/>
                          <a:ea typeface="Calibri" pitchFamily="34" charset="-122"/>
                          <a:cs typeface="Calibri" pitchFamily="34" charset="-120"/>
                        </a:rPr>
                        <a:t>the edit</a:t>
                      </a:r>
                      <a:endParaRPr lang="en-US" sz="10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6F5F2"/>
                    </a:solidFill>
                  </a:tcPr>
                </a:tc>
                <a:tc>
                  <a:txBody>
                    <a:bodyPr/>
                    <a:lstStyle/>
                    <a:p>
                      <a:pPr algn="ctr" indent="0" marL="0">
                        <a:buNone/>
                      </a:pPr>
                      <a:r>
                        <a:rPr lang="en-US" sz="1000" b="1" dirty="0">
                          <a:solidFill>
                            <a:srgbClr val="1A1A1A"/>
                          </a:solidFill>
                          <a:latin typeface="Calibri" pitchFamily="34" charset="0"/>
                          <a:ea typeface="Calibri" pitchFamily="34" charset="-122"/>
                          <a:cs typeface="Calibri" pitchFamily="34" charset="-120"/>
                        </a:rPr>
                        <a:t>Relevance</a:t>
                      </a:r>
                      <a:endParaRPr lang="en-US" sz="10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6F5F2"/>
                    </a:solidFill>
                  </a:tcPr>
                </a:tc>
              </a:tr>
              <a:tr h="384048">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InstructPix2Pix   (base paper)</a:t>
                      </a:r>
                      <a:endParaRPr lang="en-US" sz="10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1A1A"/>
                          </a:solidFill>
                          <a:latin typeface="Calibri" pitchFamily="34" charset="0"/>
                          <a:ea typeface="Calibri" pitchFamily="34" charset="-122"/>
                          <a:cs typeface="Calibri" pitchFamily="34" charset="-120"/>
                        </a:rPr>
                        <a:t>Yes</a:t>
                      </a:r>
                      <a:endParaRPr lang="en-US" sz="10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1A1A"/>
                          </a:solidFill>
                          <a:latin typeface="Calibri" pitchFamily="34" charset="0"/>
                          <a:ea typeface="Calibri" pitchFamily="34" charset="-122"/>
                          <a:cs typeface="Calibri" pitchFamily="34" charset="-120"/>
                        </a:rPr>
                        <a:t>No</a:t>
                      </a:r>
                      <a:endParaRPr lang="en-US" sz="10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1A1A"/>
                          </a:solidFill>
                          <a:latin typeface="Calibri" pitchFamily="34" charset="0"/>
                          <a:ea typeface="Calibri" pitchFamily="34" charset="-122"/>
                          <a:cs typeface="Calibri" pitchFamily="34" charset="-120"/>
                        </a:rPr>
                        <a:t>No</a:t>
                      </a:r>
                      <a:endParaRPr lang="en-US" sz="10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1A1A"/>
                          </a:solidFill>
                          <a:latin typeface="Calibri" pitchFamily="34" charset="0"/>
                          <a:ea typeface="Calibri" pitchFamily="34" charset="-122"/>
                          <a:cs typeface="Calibri" pitchFamily="34" charset="-120"/>
                        </a:rPr>
                        <a:t>No</a:t>
                      </a:r>
                      <a:endParaRPr lang="en-US" sz="10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1A1A"/>
                          </a:solidFill>
                          <a:latin typeface="Calibri" pitchFamily="34" charset="0"/>
                          <a:ea typeface="Calibri" pitchFamily="34" charset="-122"/>
                          <a:cs typeface="Calibri" pitchFamily="34" charset="-120"/>
                        </a:rPr>
                        <a:t>Yes</a:t>
                      </a:r>
                      <a:endParaRPr lang="en-US" sz="10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1A1A"/>
                          </a:solidFill>
                          <a:latin typeface="Calibri" pitchFamily="34" charset="0"/>
                          <a:ea typeface="Calibri" pitchFamily="34" charset="-122"/>
                          <a:cs typeface="Calibri" pitchFamily="34" charset="-120"/>
                        </a:rPr>
                        <a:t>0.612</a:t>
                      </a:r>
                      <a:endParaRPr lang="en-US" sz="10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r>
              <a:tr h="384048">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DiffEdit</a:t>
                      </a:r>
                      <a:endParaRPr lang="en-US" sz="10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1A1A"/>
                          </a:solidFill>
                          <a:latin typeface="Calibri" pitchFamily="34" charset="0"/>
                          <a:ea typeface="Calibri" pitchFamily="34" charset="-122"/>
                          <a:cs typeface="Calibri" pitchFamily="34" charset="-120"/>
                        </a:rPr>
                        <a:t>Yes</a:t>
                      </a:r>
                      <a:endParaRPr lang="en-US" sz="10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1A1A"/>
                          </a:solidFill>
                          <a:latin typeface="Calibri" pitchFamily="34" charset="0"/>
                          <a:ea typeface="Calibri" pitchFamily="34" charset="-122"/>
                          <a:cs typeface="Calibri" pitchFamily="34" charset="-120"/>
                        </a:rPr>
                        <a:t>Yes</a:t>
                      </a:r>
                      <a:endParaRPr lang="en-US" sz="10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1A1A"/>
                          </a:solidFill>
                          <a:latin typeface="Calibri" pitchFamily="34" charset="0"/>
                          <a:ea typeface="Calibri" pitchFamily="34" charset="-122"/>
                          <a:cs typeface="Calibri" pitchFamily="34" charset="-120"/>
                        </a:rPr>
                        <a:t>No</a:t>
                      </a:r>
                      <a:endParaRPr lang="en-US" sz="10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1A1A"/>
                          </a:solidFill>
                          <a:latin typeface="Calibri" pitchFamily="34" charset="0"/>
                          <a:ea typeface="Calibri" pitchFamily="34" charset="-122"/>
                          <a:cs typeface="Calibri" pitchFamily="34" charset="-120"/>
                        </a:rPr>
                        <a:t>No</a:t>
                      </a:r>
                      <a:endParaRPr lang="en-US" sz="10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1A1A"/>
                          </a:solidFill>
                          <a:latin typeface="Calibri" pitchFamily="34" charset="0"/>
                          <a:ea typeface="Calibri" pitchFamily="34" charset="-122"/>
                          <a:cs typeface="Calibri" pitchFamily="34" charset="-120"/>
                        </a:rPr>
                        <a:t>Yes</a:t>
                      </a:r>
                      <a:endParaRPr lang="en-US" sz="10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1A1A"/>
                          </a:solidFill>
                          <a:latin typeface="Calibri" pitchFamily="34" charset="0"/>
                          <a:ea typeface="Calibri" pitchFamily="34" charset="-122"/>
                          <a:cs typeface="Calibri" pitchFamily="34" charset="-120"/>
                        </a:rPr>
                        <a:t>0.791</a:t>
                      </a:r>
                      <a:endParaRPr lang="en-US" sz="10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r>
              <a:tr h="384048">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Grounded-SAM</a:t>
                      </a:r>
                      <a:endParaRPr lang="en-US" sz="10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1A1A"/>
                          </a:solidFill>
                          <a:latin typeface="Calibri" pitchFamily="34" charset="0"/>
                          <a:ea typeface="Calibri" pitchFamily="34" charset="-122"/>
                          <a:cs typeface="Calibri" pitchFamily="34" charset="-120"/>
                        </a:rPr>
                        <a:t>Yes</a:t>
                      </a:r>
                      <a:endParaRPr lang="en-US" sz="10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1A1A"/>
                          </a:solidFill>
                          <a:latin typeface="Calibri" pitchFamily="34" charset="0"/>
                          <a:ea typeface="Calibri" pitchFamily="34" charset="-122"/>
                          <a:cs typeface="Calibri" pitchFamily="34" charset="-120"/>
                        </a:rPr>
                        <a:t>Yes</a:t>
                      </a:r>
                      <a:endParaRPr lang="en-US" sz="10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1A1A"/>
                          </a:solidFill>
                          <a:latin typeface="Calibri" pitchFamily="34" charset="0"/>
                          <a:ea typeface="Calibri" pitchFamily="34" charset="-122"/>
                          <a:cs typeface="Calibri" pitchFamily="34" charset="-120"/>
                        </a:rPr>
                        <a:t>n/a</a:t>
                      </a:r>
                      <a:endParaRPr lang="en-US" sz="10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1A1A"/>
                          </a:solidFill>
                          <a:latin typeface="Calibri" pitchFamily="34" charset="0"/>
                          <a:ea typeface="Calibri" pitchFamily="34" charset="-122"/>
                          <a:cs typeface="Calibri" pitchFamily="34" charset="-120"/>
                        </a:rPr>
                        <a:t>No</a:t>
                      </a:r>
                      <a:endParaRPr lang="en-US" sz="10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1A1A"/>
                          </a:solidFill>
                          <a:latin typeface="Calibri" pitchFamily="34" charset="0"/>
                          <a:ea typeface="Calibri" pitchFamily="34" charset="-122"/>
                          <a:cs typeface="Calibri" pitchFamily="34" charset="-120"/>
                        </a:rPr>
                        <a:t>No</a:t>
                      </a:r>
                      <a:endParaRPr lang="en-US" sz="10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1A1A"/>
                          </a:solidFill>
                          <a:latin typeface="Calibri" pitchFamily="34" charset="0"/>
                          <a:ea typeface="Calibri" pitchFamily="34" charset="-122"/>
                          <a:cs typeface="Calibri" pitchFamily="34" charset="-120"/>
                        </a:rPr>
                        <a:t>0.833</a:t>
                      </a:r>
                      <a:endParaRPr lang="en-US" sz="10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r>
              <a:tr h="384048">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YOLOv8-seg</a:t>
                      </a:r>
                      <a:endParaRPr lang="en-US" sz="10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1A1A"/>
                          </a:solidFill>
                          <a:latin typeface="Calibri" pitchFamily="34" charset="0"/>
                          <a:ea typeface="Calibri" pitchFamily="34" charset="-122"/>
                          <a:cs typeface="Calibri" pitchFamily="34" charset="-120"/>
                        </a:rPr>
                        <a:t>No</a:t>
                      </a:r>
                      <a:endParaRPr lang="en-US" sz="10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1A1A"/>
                          </a:solidFill>
                          <a:latin typeface="Calibri" pitchFamily="34" charset="0"/>
                          <a:ea typeface="Calibri" pitchFamily="34" charset="-122"/>
                          <a:cs typeface="Calibri" pitchFamily="34" charset="-120"/>
                        </a:rPr>
                        <a:t>Yes</a:t>
                      </a:r>
                      <a:endParaRPr lang="en-US" sz="10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1A1A"/>
                          </a:solidFill>
                          <a:latin typeface="Calibri" pitchFamily="34" charset="0"/>
                          <a:ea typeface="Calibri" pitchFamily="34" charset="-122"/>
                          <a:cs typeface="Calibri" pitchFamily="34" charset="-120"/>
                        </a:rPr>
                        <a:t>Yes</a:t>
                      </a:r>
                      <a:endParaRPr lang="en-US" sz="10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1A1A"/>
                          </a:solidFill>
                          <a:latin typeface="Calibri" pitchFamily="34" charset="0"/>
                          <a:ea typeface="Calibri" pitchFamily="34" charset="-122"/>
                          <a:cs typeface="Calibri" pitchFamily="34" charset="-120"/>
                        </a:rPr>
                        <a:t>No</a:t>
                      </a:r>
                      <a:endParaRPr lang="en-US" sz="10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1A1A"/>
                          </a:solidFill>
                          <a:latin typeface="Calibri" pitchFamily="34" charset="0"/>
                          <a:ea typeface="Calibri" pitchFamily="34" charset="-122"/>
                          <a:cs typeface="Calibri" pitchFamily="34" charset="-120"/>
                        </a:rPr>
                        <a:t>No</a:t>
                      </a:r>
                      <a:endParaRPr lang="en-US" sz="10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1A1A"/>
                          </a:solidFill>
                          <a:latin typeface="Calibri" pitchFamily="34" charset="0"/>
                          <a:ea typeface="Calibri" pitchFamily="34" charset="-122"/>
                          <a:cs typeface="Calibri" pitchFamily="34" charset="-120"/>
                        </a:rPr>
                        <a:t>0.612</a:t>
                      </a:r>
                      <a:endParaRPr lang="en-US" sz="10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r>
              <a:tr h="384048">
                <a:tc>
                  <a:txBody>
                    <a:bodyPr/>
                    <a:lstStyle/>
                    <a:p>
                      <a:pPr indent="0" marL="0">
                        <a:buNone/>
                      </a:pPr>
                      <a:r>
                        <a:rPr lang="en-US" sz="1000" b="1" dirty="0">
                          <a:solidFill>
                            <a:srgbClr val="1A1A1A"/>
                          </a:solidFill>
                          <a:latin typeface="Calibri" pitchFamily="34" charset="0"/>
                          <a:ea typeface="Calibri" pitchFamily="34" charset="-122"/>
                          <a:cs typeface="Calibri" pitchFamily="34" charset="-120"/>
                        </a:rPr>
                        <a:t>Instruct-Seg-Edit   (ours)</a:t>
                      </a:r>
                      <a:endParaRPr lang="en-US" sz="10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1A1A1A"/>
                          </a:solidFill>
                          <a:latin typeface="Calibri" pitchFamily="34" charset="0"/>
                          <a:ea typeface="Calibri" pitchFamily="34" charset="-122"/>
                          <a:cs typeface="Calibri" pitchFamily="34" charset="-120"/>
                        </a:rPr>
                        <a:t>Yes</a:t>
                      </a:r>
                      <a:endParaRPr lang="en-US" sz="10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1A1A1A"/>
                          </a:solidFill>
                          <a:latin typeface="Calibri" pitchFamily="34" charset="0"/>
                          <a:ea typeface="Calibri" pitchFamily="34" charset="-122"/>
                          <a:cs typeface="Calibri" pitchFamily="34" charset="-120"/>
                        </a:rPr>
                        <a:t>Yes</a:t>
                      </a:r>
                      <a:endParaRPr lang="en-US" sz="10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1A1A1A"/>
                          </a:solidFill>
                          <a:latin typeface="Calibri" pitchFamily="34" charset="0"/>
                          <a:ea typeface="Calibri" pitchFamily="34" charset="-122"/>
                          <a:cs typeface="Calibri" pitchFamily="34" charset="-120"/>
                        </a:rPr>
                        <a:t>Yes</a:t>
                      </a:r>
                      <a:endParaRPr lang="en-US" sz="10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1A1A1A"/>
                          </a:solidFill>
                          <a:latin typeface="Calibri" pitchFamily="34" charset="0"/>
                          <a:ea typeface="Calibri" pitchFamily="34" charset="-122"/>
                          <a:cs typeface="Calibri" pitchFamily="34" charset="-120"/>
                        </a:rPr>
                        <a:t>Yes</a:t>
                      </a:r>
                      <a:endParaRPr lang="en-US" sz="10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1A1A1A"/>
                          </a:solidFill>
                          <a:latin typeface="Calibri" pitchFamily="34" charset="0"/>
                          <a:ea typeface="Calibri" pitchFamily="34" charset="-122"/>
                          <a:cs typeface="Calibri" pitchFamily="34" charset="-120"/>
                        </a:rPr>
                        <a:t>Yes</a:t>
                      </a:r>
                      <a:endParaRPr lang="en-US" sz="10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1A1A1A"/>
                          </a:solidFill>
                          <a:latin typeface="Calibri" pitchFamily="34" charset="0"/>
                          <a:ea typeface="Calibri" pitchFamily="34" charset="-122"/>
                          <a:cs typeface="Calibri" pitchFamily="34" charset="-120"/>
                        </a:rPr>
                        <a:t>target</a:t>
                      </a:r>
                      <a:endParaRPr lang="en-US" sz="10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r>
            </a:tbl>
          </a:graphicData>
        </a:graphic>
      </p:graphicFrame>
      <p:sp>
        <p:nvSpPr>
          <p:cNvPr id="9" name="Text 6"/>
          <p:cNvSpPr/>
          <p:nvPr/>
        </p:nvSpPr>
        <p:spPr>
          <a:xfrm>
            <a:off x="777240" y="4297680"/>
            <a:ext cx="10637215" cy="457200"/>
          </a:xfrm>
          <a:prstGeom prst="rect">
            <a:avLst/>
          </a:prstGeom>
          <a:noFill/>
          <a:ln/>
        </p:spPr>
        <p:txBody>
          <a:bodyPr wrap="square" lIns="0" tIns="0" rIns="0" bIns="0" rtlCol="0" anchor="ctr"/>
          <a:lstStyle/>
          <a:p>
            <a:pPr indent="0" marL="0">
              <a:lnSpc>
                <a:spcPts val="1400"/>
              </a:lnSpc>
              <a:buNone/>
            </a:pPr>
            <a:r>
              <a:rPr lang="en-US" sz="1050" dirty="0">
                <a:solidFill>
                  <a:srgbClr val="9A9A9A"/>
                </a:solidFill>
                <a:latin typeface="Calibri" pitchFamily="34" charset="0"/>
                <a:ea typeface="Calibri" pitchFamily="34" charset="-122"/>
                <a:cs typeface="Calibri" pitchFamily="34" charset="-120"/>
              </a:rPr>
              <a:t>Relevance is the cosine similarity of each work to this project over an eight-dimension capability vector; the full seventeen-work survey is in the report. No existing work fills the final row.</a:t>
            </a:r>
            <a:endParaRPr lang="en-US" sz="1050" dirty="0"/>
          </a:p>
        </p:txBody>
      </p:sp>
      <p:sp>
        <p:nvSpPr>
          <p:cNvPr id="10" name="Shape 7"/>
          <p:cNvSpPr/>
          <p:nvPr/>
        </p:nvSpPr>
        <p:spPr>
          <a:xfrm>
            <a:off x="777240" y="4709160"/>
            <a:ext cx="10637215" cy="1207008"/>
          </a:xfrm>
          <a:prstGeom prst="rect">
            <a:avLst/>
          </a:prstGeom>
          <a:solidFill>
            <a:srgbClr val="F6F5F2"/>
          </a:solidFill>
          <a:ln/>
        </p:spPr>
      </p:sp>
      <p:sp>
        <p:nvSpPr>
          <p:cNvPr id="11" name="Text 8"/>
          <p:cNvSpPr/>
          <p:nvPr/>
        </p:nvSpPr>
        <p:spPr>
          <a:xfrm>
            <a:off x="1069848" y="4873752"/>
            <a:ext cx="5486400" cy="219456"/>
          </a:xfrm>
          <a:prstGeom prst="rect">
            <a:avLst/>
          </a:prstGeom>
          <a:noFill/>
          <a:ln/>
        </p:spPr>
        <p:txBody>
          <a:bodyPr wrap="square" lIns="0" tIns="0" rIns="0" bIns="0" rtlCol="0" anchor="ctr"/>
          <a:lstStyle/>
          <a:p>
            <a:pPr indent="0" marL="0">
              <a:buNone/>
            </a:pPr>
            <a:r>
              <a:rPr lang="en-US" sz="1000" b="1" spc="180" kern="0" dirty="0">
                <a:solidFill>
                  <a:srgbClr val="8C3A1E"/>
                </a:solidFill>
                <a:latin typeface="Calibri" pitchFamily="34" charset="0"/>
                <a:ea typeface="Calibri" pitchFamily="34" charset="-122"/>
                <a:cs typeface="Calibri" pitchFamily="34" charset="-120"/>
              </a:rPr>
              <a:t>WHAT WE ARE PLANNING TO WORK ON</a:t>
            </a:r>
            <a:endParaRPr lang="en-US" sz="1000" dirty="0"/>
          </a:p>
        </p:txBody>
      </p:sp>
      <p:sp>
        <p:nvSpPr>
          <p:cNvPr id="12" name="Text 9"/>
          <p:cNvSpPr/>
          <p:nvPr/>
        </p:nvSpPr>
        <p:spPr>
          <a:xfrm>
            <a:off x="1069848" y="5138928"/>
            <a:ext cx="10051999" cy="694944"/>
          </a:xfrm>
          <a:prstGeom prst="rect">
            <a:avLst/>
          </a:prstGeom>
          <a:noFill/>
          <a:ln/>
        </p:spPr>
        <p:txBody>
          <a:bodyPr wrap="square" lIns="0" tIns="0" rIns="0" bIns="0" rtlCol="0" anchor="ctr"/>
          <a:lstStyle/>
          <a:p>
            <a:pPr indent="0" marL="0">
              <a:lnSpc>
                <a:spcPts val="1800"/>
              </a:lnSpc>
              <a:buNone/>
            </a:pPr>
            <a:r>
              <a:rPr lang="en-US" sz="1250" dirty="0">
                <a:solidFill>
                  <a:srgbClr val="1A1A1A"/>
                </a:solidFill>
                <a:latin typeface="Calibri" pitchFamily="34" charset="0"/>
                <a:ea typeface="Calibri" pitchFamily="34" charset="-122"/>
                <a:cs typeface="Calibri" pitchFamily="34" charset="-120"/>
              </a:rPr>
              <a:t>Take the localization decision out of InstructPix2Pix's denoising U-Net and give it to a dedicated, supervised model — a YOLOv8-derived segmenter conditioned on the instruction through a CLIP text encoder, trained on edit masks recovered from real before-and-after pairs, and exposed to the user for correction before any generation runs.</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420624"/>
            <a:ext cx="8229600" cy="219456"/>
          </a:xfrm>
          <a:prstGeom prst="rect">
            <a:avLst/>
          </a:prstGeom>
          <a:noFill/>
          <a:ln/>
        </p:spPr>
        <p:txBody>
          <a:bodyPr wrap="square" lIns="0" tIns="0" rIns="0" bIns="0" rtlCol="0" anchor="ctr"/>
          <a:lstStyle/>
          <a:p>
            <a:pPr indent="0" marL="0">
              <a:buNone/>
            </a:pPr>
            <a:r>
              <a:rPr lang="en-US" sz="1050" b="1" spc="220" kern="0" dirty="0">
                <a:solidFill>
                  <a:srgbClr val="8C3A1E"/>
                </a:solidFill>
                <a:latin typeface="Calibri" pitchFamily="34" charset="0"/>
                <a:ea typeface="Calibri" pitchFamily="34" charset="-122"/>
                <a:cs typeface="Calibri" pitchFamily="34" charset="-120"/>
              </a:rPr>
              <a:t>RESEARCH GAPS</a:t>
            </a:r>
            <a:endParaRPr lang="en-US" sz="1050" dirty="0"/>
          </a:p>
        </p:txBody>
      </p:sp>
      <p:sp>
        <p:nvSpPr>
          <p:cNvPr id="3" name="Text 1"/>
          <p:cNvSpPr/>
          <p:nvPr/>
        </p:nvSpPr>
        <p:spPr>
          <a:xfrm>
            <a:off x="777240" y="694944"/>
            <a:ext cx="10637215" cy="603504"/>
          </a:xfrm>
          <a:prstGeom prst="rect">
            <a:avLst/>
          </a:prstGeom>
          <a:noFill/>
          <a:ln/>
        </p:spPr>
        <p:txBody>
          <a:bodyPr wrap="square" lIns="0" tIns="0" rIns="0" bIns="0" rtlCol="0" anchor="ctr"/>
          <a:lstStyle/>
          <a:p>
            <a:pPr indent="0" marL="0">
              <a:buNone/>
            </a:pPr>
            <a:r>
              <a:rPr lang="en-US" sz="3100" b="1" dirty="0">
                <a:solidFill>
                  <a:srgbClr val="1A1A1A"/>
                </a:solidFill>
                <a:latin typeface="Cambria" pitchFamily="34" charset="0"/>
                <a:ea typeface="Cambria" pitchFamily="34" charset="-122"/>
                <a:cs typeface="Cambria" pitchFamily="34" charset="-120"/>
              </a:rPr>
              <a:t>Five gaps, five contributions</a:t>
            </a:r>
            <a:endParaRPr lang="en-US" sz="3100" dirty="0"/>
          </a:p>
        </p:txBody>
      </p:sp>
      <p:sp>
        <p:nvSpPr>
          <p:cNvPr id="4" name="Text 2"/>
          <p:cNvSpPr/>
          <p:nvPr/>
        </p:nvSpPr>
        <p:spPr>
          <a:xfrm>
            <a:off x="777240" y="1335024"/>
            <a:ext cx="10637215" cy="347472"/>
          </a:xfrm>
          <a:prstGeom prst="rect">
            <a:avLst/>
          </a:prstGeom>
          <a:noFill/>
          <a:ln/>
        </p:spPr>
        <p:txBody>
          <a:bodyPr wrap="square" lIns="0" tIns="0" rIns="0" bIns="0" rtlCol="0" anchor="ctr"/>
          <a:lstStyle/>
          <a:p>
            <a:pPr indent="0" marL="0">
              <a:buNone/>
            </a:pPr>
            <a:r>
              <a:rPr lang="en-US" sz="1400" dirty="0">
                <a:solidFill>
                  <a:srgbClr val="6E6E6E"/>
                </a:solidFill>
                <a:latin typeface="Calibri" pitchFamily="34" charset="0"/>
                <a:ea typeface="Calibri" pitchFamily="34" charset="-122"/>
                <a:cs typeface="Calibri" pitchFamily="34" charset="-120"/>
              </a:rPr>
              <a:t>Each gap is drawn from the survey; each technique is what we propose against it.</a:t>
            </a:r>
            <a:endParaRPr lang="en-US" sz="1400" dirty="0"/>
          </a:p>
        </p:txBody>
      </p:sp>
      <p:sp>
        <p:nvSpPr>
          <p:cNvPr id="5" name="Shape 3"/>
          <p:cNvSpPr/>
          <p:nvPr/>
        </p:nvSpPr>
        <p:spPr>
          <a:xfrm>
            <a:off x="777240" y="6291072"/>
            <a:ext cx="10637215" cy="7315"/>
          </a:xfrm>
          <a:prstGeom prst="rect">
            <a:avLst/>
          </a:prstGeom>
          <a:solidFill>
            <a:srgbClr val="DEDCD7"/>
          </a:solidFill>
          <a:ln/>
        </p:spPr>
      </p:sp>
      <p:sp>
        <p:nvSpPr>
          <p:cNvPr id="6" name="Text 4"/>
          <p:cNvSpPr/>
          <p:nvPr/>
        </p:nvSpPr>
        <p:spPr>
          <a:xfrm>
            <a:off x="777240" y="6382512"/>
            <a:ext cx="7315200" cy="256032"/>
          </a:xfrm>
          <a:prstGeom prst="rect">
            <a:avLst/>
          </a:prstGeom>
          <a:noFill/>
          <a:ln/>
        </p:spPr>
        <p:txBody>
          <a:bodyPr wrap="square" lIns="0" tIns="0" rIns="0" bIns="0" rtlCol="0" anchor="ctr"/>
          <a:lstStyle/>
          <a:p>
            <a:pPr indent="0" marL="0">
              <a:buNone/>
            </a:pPr>
            <a:r>
              <a:rPr lang="en-US" sz="900" dirty="0">
                <a:solidFill>
                  <a:srgbClr val="9A9A9A"/>
                </a:solidFill>
                <a:latin typeface="Calibri" pitchFamily="34" charset="0"/>
                <a:ea typeface="Calibri" pitchFamily="34" charset="-122"/>
                <a:cs typeface="Calibri" pitchFamily="34" charset="-120"/>
              </a:rPr>
              <a:t>Instruct-Seg-Edit  ·  Foundations of Data Science  ·  Review 1</a:t>
            </a:r>
            <a:endParaRPr lang="en-US" sz="900" dirty="0"/>
          </a:p>
        </p:txBody>
      </p:sp>
      <p:sp>
        <p:nvSpPr>
          <p:cNvPr id="7" name="Text 5"/>
          <p:cNvSpPr/>
          <p:nvPr/>
        </p:nvSpPr>
        <p:spPr>
          <a:xfrm>
            <a:off x="10865815" y="6382512"/>
            <a:ext cx="548640" cy="256032"/>
          </a:xfrm>
          <a:prstGeom prst="rect">
            <a:avLst/>
          </a:prstGeom>
          <a:noFill/>
          <a:ln/>
        </p:spPr>
        <p:txBody>
          <a:bodyPr wrap="square" lIns="0" tIns="0" rIns="0" bIns="0" rtlCol="0" anchor="ctr"/>
          <a:lstStyle/>
          <a:p>
            <a:pPr algn="r" indent="0" marL="0">
              <a:buNone/>
            </a:pPr>
            <a:r>
              <a:rPr lang="en-US" sz="900" dirty="0">
                <a:solidFill>
                  <a:srgbClr val="9A9A9A"/>
                </a:solidFill>
                <a:latin typeface="Calibri" pitchFamily="34" charset="0"/>
                <a:ea typeface="Calibri" pitchFamily="34" charset="-122"/>
                <a:cs typeface="Calibri" pitchFamily="34" charset="-120"/>
              </a:rPr>
              <a:t>11</a:t>
            </a:r>
            <a:endParaRPr lang="en-US" sz="9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777240" y="1901952"/>
          <a:ext cx="10637215" cy="914400"/>
        </p:xfrm>
        <a:graphic>
          <a:graphicData uri="http://schemas.openxmlformats.org/drawingml/2006/table">
            <a:tbl>
              <a:tblPr/>
              <a:tblGrid>
                <a:gridCol w="548640"/>
                <a:gridCol w="5029200"/>
                <a:gridCol w="5056632"/>
              </a:tblGrid>
              <a:tr h="713232">
                <a:tc>
                  <a:txBody>
                    <a:bodyPr/>
                    <a:lstStyle/>
                    <a:p>
                      <a:pPr indent="0" marL="0">
                        <a:buNone/>
                      </a:pPr>
                      <a:endParaRPr lang="en-US" sz="11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6F5F2"/>
                    </a:solidFill>
                  </a:tcPr>
                </a:tc>
                <a:tc>
                  <a:txBody>
                    <a:bodyPr/>
                    <a:lstStyle/>
                    <a:p>
                      <a:pPr indent="0" marL="0">
                        <a:buNone/>
                      </a:pPr>
                      <a:r>
                        <a:rPr lang="en-US" sz="1100" b="1" dirty="0">
                          <a:solidFill>
                            <a:srgbClr val="1A1A1A"/>
                          </a:solidFill>
                          <a:latin typeface="Calibri" pitchFamily="34" charset="0"/>
                          <a:ea typeface="Calibri" pitchFamily="34" charset="-122"/>
                          <a:cs typeface="Calibri" pitchFamily="34" charset="-120"/>
                        </a:rPr>
                        <a:t>Research gap</a:t>
                      </a:r>
                      <a:endParaRPr lang="en-US" sz="11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6F5F2"/>
                    </a:solidFill>
                  </a:tcPr>
                </a:tc>
                <a:tc>
                  <a:txBody>
                    <a:bodyPr/>
                    <a:lstStyle/>
                    <a:p>
                      <a:pPr indent="0" marL="0">
                        <a:buNone/>
                      </a:pPr>
                      <a:r>
                        <a:rPr lang="en-US" sz="1100" b="1" dirty="0">
                          <a:solidFill>
                            <a:srgbClr val="1A1A1A"/>
                          </a:solidFill>
                          <a:latin typeface="Calibri" pitchFamily="34" charset="0"/>
                          <a:ea typeface="Calibri" pitchFamily="34" charset="-122"/>
                          <a:cs typeface="Calibri" pitchFamily="34" charset="-120"/>
                        </a:rPr>
                        <a:t>Our proposed technique</a:t>
                      </a:r>
                      <a:endParaRPr lang="en-US" sz="11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6F5F2"/>
                    </a:solidFill>
                  </a:tcPr>
                </a:tc>
              </a:tr>
              <a:tr h="713232">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G1</a:t>
                      </a:r>
                      <a:endParaRPr lang="en-US" sz="11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Instruction editors learn localization implicitly inside the denoising U-Net, so edits leak outside the intended region and the spatial decision cannot be inspected.</a:t>
                      </a:r>
                      <a:endParaRPr lang="en-US" sz="11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A two-stage architecture in which a dedicated localization model predicts the edit mask before any generation happens.</a:t>
                      </a:r>
                      <a:endParaRPr lang="en-US" sz="11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r>
              <a:tr h="713232">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G2</a:t>
                      </a:r>
                      <a:endParaRPr lang="en-US" sz="11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Inpainting and mask-conditioned models produce controlled edits but require the mask as an input and cannot derive it from an instruction.</a:t>
                      </a:r>
                      <a:endParaRPr lang="en-US" sz="11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An instruction-conditioned localization network producing exactly the mask the inpainting stage consumes.</a:t>
                      </a:r>
                      <a:endParaRPr lang="en-US" sz="11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r>
              <a:tr h="713232">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G3</a:t>
                      </a:r>
                      <a:endParaRPr lang="en-US" sz="11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Text-conditioned segmentation is trained on referring expressions, which describe what a phrase denotes rather than what an instruction changes.</a:t>
                      </a:r>
                      <a:endParaRPr lang="en-US" sz="11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Direct supervision from edit masks recovered from before-and-after pairs, training on the edit-region objective itself.</a:t>
                      </a:r>
                      <a:endParaRPr lang="en-US" sz="11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r>
              <a:tr h="713232">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G4</a:t>
                      </a:r>
                      <a:endParaRPr lang="en-US" sz="11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No public dataset provides the image, instruction, edited image and edit mask quadruple. Segmentation corpora annotate referents, not edit regions.</a:t>
                      </a:r>
                      <a:endParaRPr lang="en-US" sz="11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An automated generation pipeline: VLM for instructions, diffusion editor for edited images, perceptual differencing for masks.</a:t>
                      </a:r>
                      <a:endParaRPr lang="en-US" sz="11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r>
              <a:tr h="713232">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G5</a:t>
                      </a:r>
                      <a:endParaRPr lang="en-US" sz="11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No point of intervention exists between interpretation and generation. The only available control is rewording the prompt.</a:t>
                      </a:r>
                      <a:endParaRPr lang="en-US" sz="11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A human-in-the-loop interface exposing the predicted mask for correction before diffusion runs.</a:t>
                      </a:r>
                      <a:endParaRPr lang="en-US" sz="11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420624"/>
            <a:ext cx="8229600" cy="219456"/>
          </a:xfrm>
          <a:prstGeom prst="rect">
            <a:avLst/>
          </a:prstGeom>
          <a:noFill/>
          <a:ln/>
        </p:spPr>
        <p:txBody>
          <a:bodyPr wrap="square" lIns="0" tIns="0" rIns="0" bIns="0" rtlCol="0" anchor="ctr"/>
          <a:lstStyle/>
          <a:p>
            <a:pPr indent="0" marL="0">
              <a:buNone/>
            </a:pPr>
            <a:r>
              <a:rPr lang="en-US" sz="1050" b="1" spc="220" kern="0" dirty="0">
                <a:solidFill>
                  <a:srgbClr val="8C3A1E"/>
                </a:solidFill>
                <a:latin typeface="Calibri" pitchFamily="34" charset="0"/>
                <a:ea typeface="Calibri" pitchFamily="34" charset="-122"/>
                <a:cs typeface="Calibri" pitchFamily="34" charset="-120"/>
              </a:rPr>
              <a:t>METHODOLOGY</a:t>
            </a:r>
            <a:endParaRPr lang="en-US" sz="1050" dirty="0"/>
          </a:p>
        </p:txBody>
      </p:sp>
      <p:sp>
        <p:nvSpPr>
          <p:cNvPr id="3" name="Text 1"/>
          <p:cNvSpPr/>
          <p:nvPr/>
        </p:nvSpPr>
        <p:spPr>
          <a:xfrm>
            <a:off x="777240" y="694944"/>
            <a:ext cx="10637215" cy="603504"/>
          </a:xfrm>
          <a:prstGeom prst="rect">
            <a:avLst/>
          </a:prstGeom>
          <a:noFill/>
          <a:ln/>
        </p:spPr>
        <p:txBody>
          <a:bodyPr wrap="square" lIns="0" tIns="0" rIns="0" bIns="0" rtlCol="0" anchor="ctr"/>
          <a:lstStyle/>
          <a:p>
            <a:pPr indent="0" marL="0">
              <a:buNone/>
            </a:pPr>
            <a:r>
              <a:rPr lang="en-US" sz="3100" b="1" dirty="0">
                <a:solidFill>
                  <a:srgbClr val="1A1A1A"/>
                </a:solidFill>
                <a:latin typeface="Cambria" pitchFamily="34" charset="0"/>
                <a:ea typeface="Cambria" pitchFamily="34" charset="-122"/>
                <a:cs typeface="Cambria" pitchFamily="34" charset="-120"/>
              </a:rPr>
              <a:t>Stage 1 — the localization model</a:t>
            </a:r>
            <a:endParaRPr lang="en-US" sz="3100" dirty="0"/>
          </a:p>
        </p:txBody>
      </p:sp>
      <p:sp>
        <p:nvSpPr>
          <p:cNvPr id="4" name="Text 2"/>
          <p:cNvSpPr/>
          <p:nvPr/>
        </p:nvSpPr>
        <p:spPr>
          <a:xfrm>
            <a:off x="777240" y="1335024"/>
            <a:ext cx="10637215" cy="347472"/>
          </a:xfrm>
          <a:prstGeom prst="rect">
            <a:avLst/>
          </a:prstGeom>
          <a:noFill/>
          <a:ln/>
        </p:spPr>
        <p:txBody>
          <a:bodyPr wrap="square" lIns="0" tIns="0" rIns="0" bIns="0" rtlCol="0" anchor="ctr"/>
          <a:lstStyle/>
          <a:p>
            <a:pPr indent="0" marL="0">
              <a:buNone/>
            </a:pPr>
            <a:r>
              <a:rPr lang="en-US" sz="1400" dirty="0">
                <a:solidFill>
                  <a:srgbClr val="6E6E6E"/>
                </a:solidFill>
                <a:latin typeface="Calibri" pitchFamily="34" charset="0"/>
                <a:ea typeface="Calibri" pitchFamily="34" charset="-122"/>
                <a:cs typeface="Calibri" pitchFamily="34" charset="-120"/>
              </a:rPr>
              <a:t>An instruction-conditioned instance segmenter derived from the YOLOv8 family.</a:t>
            </a:r>
            <a:endParaRPr lang="en-US" sz="1400" dirty="0"/>
          </a:p>
        </p:txBody>
      </p:sp>
      <p:sp>
        <p:nvSpPr>
          <p:cNvPr id="5" name="Shape 3"/>
          <p:cNvSpPr/>
          <p:nvPr/>
        </p:nvSpPr>
        <p:spPr>
          <a:xfrm>
            <a:off x="777240" y="6291072"/>
            <a:ext cx="10637215" cy="7315"/>
          </a:xfrm>
          <a:prstGeom prst="rect">
            <a:avLst/>
          </a:prstGeom>
          <a:solidFill>
            <a:srgbClr val="DEDCD7"/>
          </a:solidFill>
          <a:ln/>
        </p:spPr>
      </p:sp>
      <p:sp>
        <p:nvSpPr>
          <p:cNvPr id="6" name="Text 4"/>
          <p:cNvSpPr/>
          <p:nvPr/>
        </p:nvSpPr>
        <p:spPr>
          <a:xfrm>
            <a:off x="777240" y="6382512"/>
            <a:ext cx="7315200" cy="256032"/>
          </a:xfrm>
          <a:prstGeom prst="rect">
            <a:avLst/>
          </a:prstGeom>
          <a:noFill/>
          <a:ln/>
        </p:spPr>
        <p:txBody>
          <a:bodyPr wrap="square" lIns="0" tIns="0" rIns="0" bIns="0" rtlCol="0" anchor="ctr"/>
          <a:lstStyle/>
          <a:p>
            <a:pPr indent="0" marL="0">
              <a:buNone/>
            </a:pPr>
            <a:r>
              <a:rPr lang="en-US" sz="900" dirty="0">
                <a:solidFill>
                  <a:srgbClr val="9A9A9A"/>
                </a:solidFill>
                <a:latin typeface="Calibri" pitchFamily="34" charset="0"/>
                <a:ea typeface="Calibri" pitchFamily="34" charset="-122"/>
                <a:cs typeface="Calibri" pitchFamily="34" charset="-120"/>
              </a:rPr>
              <a:t>Instruct-Seg-Edit  ·  Foundations of Data Science  ·  Review 1</a:t>
            </a:r>
            <a:endParaRPr lang="en-US" sz="900" dirty="0"/>
          </a:p>
        </p:txBody>
      </p:sp>
      <p:sp>
        <p:nvSpPr>
          <p:cNvPr id="7" name="Text 5"/>
          <p:cNvSpPr/>
          <p:nvPr/>
        </p:nvSpPr>
        <p:spPr>
          <a:xfrm>
            <a:off x="10865815" y="6382512"/>
            <a:ext cx="548640" cy="256032"/>
          </a:xfrm>
          <a:prstGeom prst="rect">
            <a:avLst/>
          </a:prstGeom>
          <a:noFill/>
          <a:ln/>
        </p:spPr>
        <p:txBody>
          <a:bodyPr wrap="square" lIns="0" tIns="0" rIns="0" bIns="0" rtlCol="0" anchor="ctr"/>
          <a:lstStyle/>
          <a:p>
            <a:pPr algn="r" indent="0" marL="0">
              <a:buNone/>
            </a:pPr>
            <a:r>
              <a:rPr lang="en-US" sz="900" dirty="0">
                <a:solidFill>
                  <a:srgbClr val="9A9A9A"/>
                </a:solidFill>
                <a:latin typeface="Calibri" pitchFamily="34" charset="0"/>
                <a:ea typeface="Calibri" pitchFamily="34" charset="-122"/>
                <a:cs typeface="Calibri" pitchFamily="34" charset="-120"/>
              </a:rPr>
              <a:t>12</a:t>
            </a:r>
            <a:endParaRPr lang="en-US" sz="900" dirty="0"/>
          </a:p>
        </p:txBody>
      </p:sp>
      <p:sp>
        <p:nvSpPr>
          <p:cNvPr id="8" name="Text 6"/>
          <p:cNvSpPr/>
          <p:nvPr/>
        </p:nvSpPr>
        <p:spPr>
          <a:xfrm>
            <a:off x="777240" y="1901952"/>
            <a:ext cx="2286000" cy="274320"/>
          </a:xfrm>
          <a:prstGeom prst="rect">
            <a:avLst/>
          </a:prstGeom>
          <a:noFill/>
          <a:ln/>
        </p:spPr>
        <p:txBody>
          <a:bodyPr wrap="square" lIns="0" tIns="0" rIns="0" bIns="0" rtlCol="0" anchor="ctr"/>
          <a:lstStyle/>
          <a:p>
            <a:pPr indent="0" marL="0">
              <a:buNone/>
            </a:pPr>
            <a:r>
              <a:rPr lang="en-US" sz="1250" b="1" dirty="0">
                <a:solidFill>
                  <a:srgbClr val="1A1A1A"/>
                </a:solidFill>
                <a:latin typeface="Calibri" pitchFamily="34" charset="0"/>
                <a:ea typeface="Calibri" pitchFamily="34" charset="-122"/>
                <a:cs typeface="Calibri" pitchFamily="34" charset="-120"/>
              </a:rPr>
              <a:t>Image encoder</a:t>
            </a:r>
            <a:endParaRPr lang="en-US" sz="1250" dirty="0"/>
          </a:p>
        </p:txBody>
      </p:sp>
      <p:sp>
        <p:nvSpPr>
          <p:cNvPr id="9" name="Text 7"/>
          <p:cNvSpPr/>
          <p:nvPr/>
        </p:nvSpPr>
        <p:spPr>
          <a:xfrm>
            <a:off x="3246120" y="1892808"/>
            <a:ext cx="8138160" cy="512064"/>
          </a:xfrm>
          <a:prstGeom prst="rect">
            <a:avLst/>
          </a:prstGeom>
          <a:noFill/>
          <a:ln/>
        </p:spPr>
        <p:txBody>
          <a:bodyPr wrap="square" lIns="0" tIns="0" rIns="0" bIns="0" rtlCol="0" anchor="ctr"/>
          <a:lstStyle/>
          <a:p>
            <a:pPr indent="0" marL="0">
              <a:lnSpc>
                <a:spcPts val="1700"/>
              </a:lnSpc>
              <a:buNone/>
            </a:pPr>
            <a:r>
              <a:rPr lang="en-US" sz="1200" dirty="0">
                <a:solidFill>
                  <a:srgbClr val="6E6E6E"/>
                </a:solidFill>
                <a:latin typeface="Calibri" pitchFamily="34" charset="0"/>
                <a:ea typeface="Calibri" pitchFamily="34" charset="-122"/>
                <a:cs typeface="Calibri" pitchFamily="34" charset="-120"/>
              </a:rPr>
              <a:t>Pre-trained ViT-B/16 or CLIP image encoder.</a:t>
            </a:r>
            <a:endParaRPr lang="en-US" sz="1200" dirty="0"/>
          </a:p>
        </p:txBody>
      </p:sp>
      <p:sp>
        <p:nvSpPr>
          <p:cNvPr id="10" name="Text 8"/>
          <p:cNvSpPr/>
          <p:nvPr/>
        </p:nvSpPr>
        <p:spPr>
          <a:xfrm>
            <a:off x="777240" y="2542032"/>
            <a:ext cx="2286000" cy="274320"/>
          </a:xfrm>
          <a:prstGeom prst="rect">
            <a:avLst/>
          </a:prstGeom>
          <a:noFill/>
          <a:ln/>
        </p:spPr>
        <p:txBody>
          <a:bodyPr wrap="square" lIns="0" tIns="0" rIns="0" bIns="0" rtlCol="0" anchor="ctr"/>
          <a:lstStyle/>
          <a:p>
            <a:pPr indent="0" marL="0">
              <a:buNone/>
            </a:pPr>
            <a:r>
              <a:rPr lang="en-US" sz="1250" b="1" dirty="0">
                <a:solidFill>
                  <a:srgbClr val="1A1A1A"/>
                </a:solidFill>
                <a:latin typeface="Calibri" pitchFamily="34" charset="0"/>
                <a:ea typeface="Calibri" pitchFamily="34" charset="-122"/>
                <a:cs typeface="Calibri" pitchFamily="34" charset="-120"/>
              </a:rPr>
              <a:t>Text encoder</a:t>
            </a:r>
            <a:endParaRPr lang="en-US" sz="1250" dirty="0"/>
          </a:p>
        </p:txBody>
      </p:sp>
      <p:sp>
        <p:nvSpPr>
          <p:cNvPr id="11" name="Text 9"/>
          <p:cNvSpPr/>
          <p:nvPr/>
        </p:nvSpPr>
        <p:spPr>
          <a:xfrm>
            <a:off x="3246120" y="2532888"/>
            <a:ext cx="8138160" cy="512064"/>
          </a:xfrm>
          <a:prstGeom prst="rect">
            <a:avLst/>
          </a:prstGeom>
          <a:noFill/>
          <a:ln/>
        </p:spPr>
        <p:txBody>
          <a:bodyPr wrap="square" lIns="0" tIns="0" rIns="0" bIns="0" rtlCol="0" anchor="ctr"/>
          <a:lstStyle/>
          <a:p>
            <a:pPr indent="0" marL="0">
              <a:lnSpc>
                <a:spcPts val="1700"/>
              </a:lnSpc>
              <a:buNone/>
            </a:pPr>
            <a:r>
              <a:rPr lang="en-US" sz="1200" dirty="0">
                <a:solidFill>
                  <a:srgbClr val="6E6E6E"/>
                </a:solidFill>
                <a:latin typeface="Calibri" pitchFamily="34" charset="0"/>
                <a:ea typeface="Calibri" pitchFamily="34" charset="-122"/>
                <a:cs typeface="Calibri" pitchFamily="34" charset="-120"/>
              </a:rPr>
              <a:t>CLIP text encoder for the instruction and caption embeddings. CLIP is trained for image conditioning, which makes it close to ideal here.</a:t>
            </a:r>
            <a:endParaRPr lang="en-US" sz="1200" dirty="0"/>
          </a:p>
        </p:txBody>
      </p:sp>
      <p:sp>
        <p:nvSpPr>
          <p:cNvPr id="12" name="Text 10"/>
          <p:cNvSpPr/>
          <p:nvPr/>
        </p:nvSpPr>
        <p:spPr>
          <a:xfrm>
            <a:off x="777240" y="3182112"/>
            <a:ext cx="2286000" cy="274320"/>
          </a:xfrm>
          <a:prstGeom prst="rect">
            <a:avLst/>
          </a:prstGeom>
          <a:noFill/>
          <a:ln/>
        </p:spPr>
        <p:txBody>
          <a:bodyPr wrap="square" lIns="0" tIns="0" rIns="0" bIns="0" rtlCol="0" anchor="ctr"/>
          <a:lstStyle/>
          <a:p>
            <a:pPr indent="0" marL="0">
              <a:buNone/>
            </a:pPr>
            <a:r>
              <a:rPr lang="en-US" sz="1250" b="1" dirty="0">
                <a:solidFill>
                  <a:srgbClr val="1A1A1A"/>
                </a:solidFill>
                <a:latin typeface="Calibri" pitchFamily="34" charset="0"/>
                <a:ea typeface="Calibri" pitchFamily="34" charset="-122"/>
                <a:cs typeface="Calibri" pitchFamily="34" charset="-120"/>
              </a:rPr>
              <a:t>Fusion module</a:t>
            </a:r>
            <a:endParaRPr lang="en-US" sz="1250" dirty="0"/>
          </a:p>
        </p:txBody>
      </p:sp>
      <p:sp>
        <p:nvSpPr>
          <p:cNvPr id="13" name="Text 11"/>
          <p:cNvSpPr/>
          <p:nvPr/>
        </p:nvSpPr>
        <p:spPr>
          <a:xfrm>
            <a:off x="3246120" y="3172968"/>
            <a:ext cx="8138160" cy="512064"/>
          </a:xfrm>
          <a:prstGeom prst="rect">
            <a:avLst/>
          </a:prstGeom>
          <a:noFill/>
          <a:ln/>
        </p:spPr>
        <p:txBody>
          <a:bodyPr wrap="square" lIns="0" tIns="0" rIns="0" bIns="0" rtlCol="0" anchor="ctr"/>
          <a:lstStyle/>
          <a:p>
            <a:pPr indent="0" marL="0">
              <a:lnSpc>
                <a:spcPts val="1700"/>
              </a:lnSpc>
              <a:buNone/>
            </a:pPr>
            <a:r>
              <a:rPr lang="en-US" sz="1200" dirty="0">
                <a:solidFill>
                  <a:srgbClr val="6E6E6E"/>
                </a:solidFill>
                <a:latin typeface="Calibri" pitchFamily="34" charset="0"/>
                <a:ea typeface="Calibri" pitchFamily="34" charset="-122"/>
                <a:cs typeface="Calibri" pitchFamily="34" charset="-120"/>
              </a:rPr>
              <a:t>Hybrid attention using both self-attention and cross-attention to fuse image and text latents.</a:t>
            </a:r>
            <a:endParaRPr lang="en-US" sz="1200" dirty="0"/>
          </a:p>
        </p:txBody>
      </p:sp>
      <p:sp>
        <p:nvSpPr>
          <p:cNvPr id="14" name="Text 12"/>
          <p:cNvSpPr/>
          <p:nvPr/>
        </p:nvSpPr>
        <p:spPr>
          <a:xfrm>
            <a:off x="777240" y="3822192"/>
            <a:ext cx="2286000" cy="274320"/>
          </a:xfrm>
          <a:prstGeom prst="rect">
            <a:avLst/>
          </a:prstGeom>
          <a:noFill/>
          <a:ln/>
        </p:spPr>
        <p:txBody>
          <a:bodyPr wrap="square" lIns="0" tIns="0" rIns="0" bIns="0" rtlCol="0" anchor="ctr"/>
          <a:lstStyle/>
          <a:p>
            <a:pPr indent="0" marL="0">
              <a:buNone/>
            </a:pPr>
            <a:r>
              <a:rPr lang="en-US" sz="1250" b="1" dirty="0">
                <a:solidFill>
                  <a:srgbClr val="1A1A1A"/>
                </a:solidFill>
                <a:latin typeface="Calibri" pitchFamily="34" charset="0"/>
                <a:ea typeface="Calibri" pitchFamily="34" charset="-122"/>
                <a:cs typeface="Calibri" pitchFamily="34" charset="-120"/>
              </a:rPr>
              <a:t>Backbone and neck</a:t>
            </a:r>
            <a:endParaRPr lang="en-US" sz="1250" dirty="0"/>
          </a:p>
        </p:txBody>
      </p:sp>
      <p:sp>
        <p:nvSpPr>
          <p:cNvPr id="15" name="Text 13"/>
          <p:cNvSpPr/>
          <p:nvPr/>
        </p:nvSpPr>
        <p:spPr>
          <a:xfrm>
            <a:off x="3246120" y="3813048"/>
            <a:ext cx="8138160" cy="512064"/>
          </a:xfrm>
          <a:prstGeom prst="rect">
            <a:avLst/>
          </a:prstGeom>
          <a:noFill/>
          <a:ln/>
        </p:spPr>
        <p:txBody>
          <a:bodyPr wrap="square" lIns="0" tIns="0" rIns="0" bIns="0" rtlCol="0" anchor="ctr"/>
          <a:lstStyle/>
          <a:p>
            <a:pPr indent="0" marL="0">
              <a:lnSpc>
                <a:spcPts val="1700"/>
              </a:lnSpc>
              <a:buNone/>
            </a:pPr>
            <a:r>
              <a:rPr lang="en-US" sz="1200" dirty="0">
                <a:solidFill>
                  <a:srgbClr val="6E6E6E"/>
                </a:solidFill>
                <a:latin typeface="Calibri" pitchFamily="34" charset="0"/>
                <a:ea typeface="Calibri" pitchFamily="34" charset="-122"/>
                <a:cs typeface="Calibri" pitchFamily="34" charset="-120"/>
              </a:rPr>
              <a:t>CSP-inspired convolution stages with C2f modules for efficient gradient flow; PAN-style FPN with a bottom-up path fusing multi-scale features.</a:t>
            </a:r>
            <a:endParaRPr lang="en-US" sz="1200" dirty="0"/>
          </a:p>
        </p:txBody>
      </p:sp>
      <p:sp>
        <p:nvSpPr>
          <p:cNvPr id="16" name="Text 14"/>
          <p:cNvSpPr/>
          <p:nvPr/>
        </p:nvSpPr>
        <p:spPr>
          <a:xfrm>
            <a:off x="777240" y="4462272"/>
            <a:ext cx="2286000" cy="274320"/>
          </a:xfrm>
          <a:prstGeom prst="rect">
            <a:avLst/>
          </a:prstGeom>
          <a:noFill/>
          <a:ln/>
        </p:spPr>
        <p:txBody>
          <a:bodyPr wrap="square" lIns="0" tIns="0" rIns="0" bIns="0" rtlCol="0" anchor="ctr"/>
          <a:lstStyle/>
          <a:p>
            <a:pPr indent="0" marL="0">
              <a:buNone/>
            </a:pPr>
            <a:r>
              <a:rPr lang="en-US" sz="1250" b="1" dirty="0">
                <a:solidFill>
                  <a:srgbClr val="1A1A1A"/>
                </a:solidFill>
                <a:latin typeface="Calibri" pitchFamily="34" charset="0"/>
                <a:ea typeface="Calibri" pitchFamily="34" charset="-122"/>
                <a:cs typeface="Calibri" pitchFamily="34" charset="-120"/>
              </a:rPr>
              <a:t>Segmentation head</a:t>
            </a:r>
            <a:endParaRPr lang="en-US" sz="1250" dirty="0"/>
          </a:p>
        </p:txBody>
      </p:sp>
      <p:sp>
        <p:nvSpPr>
          <p:cNvPr id="17" name="Text 15"/>
          <p:cNvSpPr/>
          <p:nvPr/>
        </p:nvSpPr>
        <p:spPr>
          <a:xfrm>
            <a:off x="3246120" y="4453128"/>
            <a:ext cx="8138160" cy="512064"/>
          </a:xfrm>
          <a:prstGeom prst="rect">
            <a:avLst/>
          </a:prstGeom>
          <a:noFill/>
          <a:ln/>
        </p:spPr>
        <p:txBody>
          <a:bodyPr wrap="square" lIns="0" tIns="0" rIns="0" bIns="0" rtlCol="0" anchor="ctr"/>
          <a:lstStyle/>
          <a:p>
            <a:pPr indent="0" marL="0">
              <a:lnSpc>
                <a:spcPts val="1700"/>
              </a:lnSpc>
              <a:buNone/>
            </a:pPr>
            <a:r>
              <a:rPr lang="en-US" sz="1200" dirty="0">
                <a:solidFill>
                  <a:srgbClr val="6E6E6E"/>
                </a:solidFill>
                <a:latin typeface="Calibri" pitchFamily="34" charset="0"/>
                <a:ea typeface="Calibri" pitchFamily="34" charset="-122"/>
                <a:cs typeface="Calibri" pitchFamily="34" charset="-120"/>
              </a:rPr>
              <a:t>Prototype branch — a small FCN with upsampling emitting K = 32 prototype masks at near-input resolution — plus a coefficient branch predicting the weights that combine them.</a:t>
            </a:r>
            <a:endParaRPr lang="en-US" sz="1200" dirty="0"/>
          </a:p>
        </p:txBody>
      </p:sp>
      <p:sp>
        <p:nvSpPr>
          <p:cNvPr id="18" name="Text 16"/>
          <p:cNvSpPr/>
          <p:nvPr/>
        </p:nvSpPr>
        <p:spPr>
          <a:xfrm>
            <a:off x="777240" y="5102352"/>
            <a:ext cx="2286000" cy="274320"/>
          </a:xfrm>
          <a:prstGeom prst="rect">
            <a:avLst/>
          </a:prstGeom>
          <a:noFill/>
          <a:ln/>
        </p:spPr>
        <p:txBody>
          <a:bodyPr wrap="square" lIns="0" tIns="0" rIns="0" bIns="0" rtlCol="0" anchor="ctr"/>
          <a:lstStyle/>
          <a:p>
            <a:pPr indent="0" marL="0">
              <a:buNone/>
            </a:pPr>
            <a:r>
              <a:rPr lang="en-US" sz="1250" b="1" dirty="0">
                <a:solidFill>
                  <a:srgbClr val="1A1A1A"/>
                </a:solidFill>
                <a:latin typeface="Calibri" pitchFamily="34" charset="0"/>
                <a:ea typeface="Calibri" pitchFamily="34" charset="-122"/>
                <a:cs typeface="Calibri" pitchFamily="34" charset="-120"/>
              </a:rPr>
              <a:t>Decoder</a:t>
            </a:r>
            <a:endParaRPr lang="en-US" sz="1250" dirty="0"/>
          </a:p>
        </p:txBody>
      </p:sp>
      <p:sp>
        <p:nvSpPr>
          <p:cNvPr id="19" name="Text 17"/>
          <p:cNvSpPr/>
          <p:nvPr/>
        </p:nvSpPr>
        <p:spPr>
          <a:xfrm>
            <a:off x="3246120" y="5093208"/>
            <a:ext cx="8138160" cy="512064"/>
          </a:xfrm>
          <a:prstGeom prst="rect">
            <a:avLst/>
          </a:prstGeom>
          <a:noFill/>
          <a:ln/>
        </p:spPr>
        <p:txBody>
          <a:bodyPr wrap="square" lIns="0" tIns="0" rIns="0" bIns="0" rtlCol="0" anchor="ctr"/>
          <a:lstStyle/>
          <a:p>
            <a:pPr indent="0" marL="0">
              <a:lnSpc>
                <a:spcPts val="1700"/>
              </a:lnSpc>
              <a:buNone/>
            </a:pPr>
            <a:r>
              <a:rPr lang="en-US" sz="1200" dirty="0">
                <a:solidFill>
                  <a:srgbClr val="6E6E6E"/>
                </a:solidFill>
                <a:latin typeface="Calibri" pitchFamily="34" charset="0"/>
                <a:ea typeface="Calibri" pitchFamily="34" charset="-122"/>
                <a:cs typeface="Calibri" pitchFamily="34" charset="-120"/>
              </a:rPr>
              <a:t>U-Net style with skip connections, producing the edit mask, thresholded at 0.5.</a:t>
            </a:r>
            <a:endParaRPr lang="en-US" sz="1200" dirty="0"/>
          </a:p>
        </p:txBody>
      </p:sp>
      <p:sp>
        <p:nvSpPr>
          <p:cNvPr id="20" name="Text 18"/>
          <p:cNvSpPr/>
          <p:nvPr/>
        </p:nvSpPr>
        <p:spPr>
          <a:xfrm>
            <a:off x="777240" y="5806440"/>
            <a:ext cx="2743200" cy="237744"/>
          </a:xfrm>
          <a:prstGeom prst="rect">
            <a:avLst/>
          </a:prstGeom>
          <a:noFill/>
          <a:ln/>
        </p:spPr>
        <p:txBody>
          <a:bodyPr wrap="square" lIns="0" tIns="0" rIns="0" bIns="0" rtlCol="0" anchor="ctr"/>
          <a:lstStyle/>
          <a:p>
            <a:pPr indent="0" marL="0">
              <a:buNone/>
            </a:pPr>
            <a:r>
              <a:rPr lang="en-US" sz="1350" b="1" dirty="0">
                <a:solidFill>
                  <a:srgbClr val="1A1A1A"/>
                </a:solidFill>
                <a:latin typeface="Calibri" pitchFamily="34" charset="0"/>
                <a:ea typeface="Calibri" pitchFamily="34" charset="-122"/>
                <a:cs typeface="Calibri" pitchFamily="34" charset="-120"/>
              </a:rPr>
              <a:t>Loss functions</a:t>
            </a:r>
            <a:endParaRPr lang="en-US" sz="1350" dirty="0"/>
          </a:p>
        </p:txBody>
      </p:sp>
      <p:sp>
        <p:nvSpPr>
          <p:cNvPr id="21" name="Text 19"/>
          <p:cNvSpPr/>
          <p:nvPr/>
        </p:nvSpPr>
        <p:spPr>
          <a:xfrm>
            <a:off x="3246120" y="5760720"/>
            <a:ext cx="8138160" cy="603504"/>
          </a:xfrm>
          <a:prstGeom prst="rect">
            <a:avLst/>
          </a:prstGeom>
          <a:noFill/>
          <a:ln/>
        </p:spPr>
        <p:txBody>
          <a:bodyPr wrap="square" lIns="0" tIns="0" rIns="0" bIns="0" rtlCol="0" anchor="ctr"/>
          <a:lstStyle/>
          <a:p>
            <a:pPr indent="0" marL="0">
              <a:lnSpc>
                <a:spcPts val="1400"/>
              </a:lnSpc>
              <a:buNone/>
            </a:pPr>
            <a:r>
              <a:rPr lang="en-US" sz="1050" dirty="0">
                <a:solidFill>
                  <a:srgbClr val="6E6E6E"/>
                </a:solidFill>
                <a:latin typeface="Calibri" pitchFamily="34" charset="0"/>
                <a:ea typeface="Calibri" pitchFamily="34" charset="-122"/>
                <a:cs typeface="Calibri" pitchFamily="34" charset="-120"/>
              </a:rPr>
              <a:t>Box regression CIoU with DFL  ·  objectness and classification BCE with logits  ·  mask loss BCE / Dice / focal computed after cropping to the box  ·  multi-task weighting 1:2 detection to segmentation, so the head does not overwhelm the pre-trained weights.</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420624"/>
            <a:ext cx="8229600" cy="219456"/>
          </a:xfrm>
          <a:prstGeom prst="rect">
            <a:avLst/>
          </a:prstGeom>
          <a:noFill/>
          <a:ln/>
        </p:spPr>
        <p:txBody>
          <a:bodyPr wrap="square" lIns="0" tIns="0" rIns="0" bIns="0" rtlCol="0" anchor="ctr"/>
          <a:lstStyle/>
          <a:p>
            <a:pPr indent="0" marL="0">
              <a:buNone/>
            </a:pPr>
            <a:r>
              <a:rPr lang="en-US" sz="1050" b="1" spc="220" kern="0" dirty="0">
                <a:solidFill>
                  <a:srgbClr val="8C3A1E"/>
                </a:solidFill>
                <a:latin typeface="Calibri" pitchFamily="34" charset="0"/>
                <a:ea typeface="Calibri" pitchFamily="34" charset="-122"/>
                <a:cs typeface="Calibri" pitchFamily="34" charset="-120"/>
              </a:rPr>
              <a:t>MODEL CAPACITY</a:t>
            </a:r>
            <a:endParaRPr lang="en-US" sz="1050" dirty="0"/>
          </a:p>
        </p:txBody>
      </p:sp>
      <p:sp>
        <p:nvSpPr>
          <p:cNvPr id="3" name="Text 1"/>
          <p:cNvSpPr/>
          <p:nvPr/>
        </p:nvSpPr>
        <p:spPr>
          <a:xfrm>
            <a:off x="777240" y="694944"/>
            <a:ext cx="10637215" cy="603504"/>
          </a:xfrm>
          <a:prstGeom prst="rect">
            <a:avLst/>
          </a:prstGeom>
          <a:noFill/>
          <a:ln/>
        </p:spPr>
        <p:txBody>
          <a:bodyPr wrap="square" lIns="0" tIns="0" rIns="0" bIns="0" rtlCol="0" anchor="ctr"/>
          <a:lstStyle/>
          <a:p>
            <a:pPr indent="0" marL="0">
              <a:buNone/>
            </a:pPr>
            <a:r>
              <a:rPr lang="en-US" sz="3100" b="1" dirty="0">
                <a:solidFill>
                  <a:srgbClr val="1A1A1A"/>
                </a:solidFill>
                <a:latin typeface="Cambria" pitchFamily="34" charset="0"/>
                <a:ea typeface="Cambria" pitchFamily="34" charset="-122"/>
                <a:cs typeface="Cambria" pitchFamily="34" charset="-120"/>
              </a:rPr>
              <a:t>Parameter distribution</a:t>
            </a:r>
            <a:endParaRPr lang="en-US" sz="3100" dirty="0"/>
          </a:p>
        </p:txBody>
      </p:sp>
      <p:sp>
        <p:nvSpPr>
          <p:cNvPr id="4" name="Text 2"/>
          <p:cNvSpPr/>
          <p:nvPr/>
        </p:nvSpPr>
        <p:spPr>
          <a:xfrm>
            <a:off x="777240" y="1335024"/>
            <a:ext cx="10637215" cy="347472"/>
          </a:xfrm>
          <a:prstGeom prst="rect">
            <a:avLst/>
          </a:prstGeom>
          <a:noFill/>
          <a:ln/>
        </p:spPr>
        <p:txBody>
          <a:bodyPr wrap="square" lIns="0" tIns="0" rIns="0" bIns="0" rtlCol="0" anchor="ctr"/>
          <a:lstStyle/>
          <a:p>
            <a:pPr indent="0" marL="0">
              <a:buNone/>
            </a:pPr>
            <a:r>
              <a:rPr lang="en-US" sz="1400" dirty="0">
                <a:solidFill>
                  <a:srgbClr val="6E6E6E"/>
                </a:solidFill>
                <a:latin typeface="Calibri" pitchFamily="34" charset="0"/>
                <a:ea typeface="Calibri" pitchFamily="34" charset="-122"/>
                <a:cs typeface="Calibri" pitchFamily="34" charset="-120"/>
              </a:rPr>
              <a:t>Itemised so the totals can be checked directly.</a:t>
            </a:r>
            <a:endParaRPr lang="en-US" sz="1400" dirty="0"/>
          </a:p>
        </p:txBody>
      </p:sp>
      <p:sp>
        <p:nvSpPr>
          <p:cNvPr id="5" name="Shape 3"/>
          <p:cNvSpPr/>
          <p:nvPr/>
        </p:nvSpPr>
        <p:spPr>
          <a:xfrm>
            <a:off x="777240" y="6291072"/>
            <a:ext cx="10637215" cy="7315"/>
          </a:xfrm>
          <a:prstGeom prst="rect">
            <a:avLst/>
          </a:prstGeom>
          <a:solidFill>
            <a:srgbClr val="DEDCD7"/>
          </a:solidFill>
          <a:ln/>
        </p:spPr>
      </p:sp>
      <p:sp>
        <p:nvSpPr>
          <p:cNvPr id="6" name="Text 4"/>
          <p:cNvSpPr/>
          <p:nvPr/>
        </p:nvSpPr>
        <p:spPr>
          <a:xfrm>
            <a:off x="777240" y="6382512"/>
            <a:ext cx="7315200" cy="256032"/>
          </a:xfrm>
          <a:prstGeom prst="rect">
            <a:avLst/>
          </a:prstGeom>
          <a:noFill/>
          <a:ln/>
        </p:spPr>
        <p:txBody>
          <a:bodyPr wrap="square" lIns="0" tIns="0" rIns="0" bIns="0" rtlCol="0" anchor="ctr"/>
          <a:lstStyle/>
          <a:p>
            <a:pPr indent="0" marL="0">
              <a:buNone/>
            </a:pPr>
            <a:r>
              <a:rPr lang="en-US" sz="900" dirty="0">
                <a:solidFill>
                  <a:srgbClr val="9A9A9A"/>
                </a:solidFill>
                <a:latin typeface="Calibri" pitchFamily="34" charset="0"/>
                <a:ea typeface="Calibri" pitchFamily="34" charset="-122"/>
                <a:cs typeface="Calibri" pitchFamily="34" charset="-120"/>
              </a:rPr>
              <a:t>Instruct-Seg-Edit  ·  Foundations of Data Science  ·  Review 1</a:t>
            </a:r>
            <a:endParaRPr lang="en-US" sz="900" dirty="0"/>
          </a:p>
        </p:txBody>
      </p:sp>
      <p:sp>
        <p:nvSpPr>
          <p:cNvPr id="7" name="Text 5"/>
          <p:cNvSpPr/>
          <p:nvPr/>
        </p:nvSpPr>
        <p:spPr>
          <a:xfrm>
            <a:off x="10865815" y="6382512"/>
            <a:ext cx="548640" cy="256032"/>
          </a:xfrm>
          <a:prstGeom prst="rect">
            <a:avLst/>
          </a:prstGeom>
          <a:noFill/>
          <a:ln/>
        </p:spPr>
        <p:txBody>
          <a:bodyPr wrap="square" lIns="0" tIns="0" rIns="0" bIns="0" rtlCol="0" anchor="ctr"/>
          <a:lstStyle/>
          <a:p>
            <a:pPr algn="r" indent="0" marL="0">
              <a:buNone/>
            </a:pPr>
            <a:r>
              <a:rPr lang="en-US" sz="900" dirty="0">
                <a:solidFill>
                  <a:srgbClr val="9A9A9A"/>
                </a:solidFill>
                <a:latin typeface="Calibri" pitchFamily="34" charset="0"/>
                <a:ea typeface="Calibri" pitchFamily="34" charset="-122"/>
                <a:cs typeface="Calibri" pitchFamily="34" charset="-120"/>
              </a:rPr>
              <a:t>13</a:t>
            </a:r>
            <a:endParaRPr lang="en-US" sz="900" dirty="0"/>
          </a:p>
        </p:txBody>
      </p:sp>
      <p:sp>
        <p:nvSpPr>
          <p:cNvPr id="8" name="Text 6"/>
          <p:cNvSpPr/>
          <p:nvPr/>
        </p:nvSpPr>
        <p:spPr>
          <a:xfrm>
            <a:off x="777240" y="2240280"/>
            <a:ext cx="1554480" cy="310896"/>
          </a:xfrm>
          <a:prstGeom prst="rect">
            <a:avLst/>
          </a:prstGeom>
          <a:noFill/>
          <a:ln/>
        </p:spPr>
        <p:txBody>
          <a:bodyPr wrap="square" lIns="0" tIns="0" rIns="0" bIns="0" rtlCol="0" anchor="ctr"/>
          <a:lstStyle/>
          <a:p>
            <a:pPr algn="r" indent="0" marL="0">
              <a:buNone/>
            </a:pPr>
            <a:r>
              <a:rPr lang="en-US" sz="1150" dirty="0">
                <a:solidFill>
                  <a:srgbClr val="1A1A1A"/>
                </a:solidFill>
                <a:latin typeface="Calibri" pitchFamily="34" charset="0"/>
                <a:ea typeface="Calibri" pitchFamily="34" charset="-122"/>
                <a:cs typeface="Calibri" pitchFamily="34" charset="-120"/>
              </a:rPr>
              <a:t>Backbone</a:t>
            </a:r>
            <a:endParaRPr lang="en-US" sz="1150" dirty="0"/>
          </a:p>
        </p:txBody>
      </p:sp>
      <p:sp>
        <p:nvSpPr>
          <p:cNvPr id="9" name="Shape 7"/>
          <p:cNvSpPr/>
          <p:nvPr/>
        </p:nvSpPr>
        <p:spPr>
          <a:xfrm>
            <a:off x="2395728" y="2276856"/>
            <a:ext cx="2931392" cy="237744"/>
          </a:xfrm>
          <a:prstGeom prst="rect">
            <a:avLst/>
          </a:prstGeom>
          <a:solidFill>
            <a:srgbClr val="8C3A1E"/>
          </a:solidFill>
          <a:ln/>
        </p:spPr>
      </p:sp>
      <p:sp>
        <p:nvSpPr>
          <p:cNvPr id="10" name="Text 8"/>
          <p:cNvSpPr/>
          <p:nvPr/>
        </p:nvSpPr>
        <p:spPr>
          <a:xfrm>
            <a:off x="5418560" y="2240280"/>
            <a:ext cx="822960" cy="310896"/>
          </a:xfrm>
          <a:prstGeom prst="rect">
            <a:avLst/>
          </a:prstGeom>
          <a:noFill/>
          <a:ln/>
        </p:spPr>
        <p:txBody>
          <a:bodyPr wrap="square" lIns="0" tIns="0" rIns="0" bIns="0" rtlCol="0" anchor="ctr"/>
          <a:lstStyle/>
          <a:p>
            <a:pPr indent="0" marL="0">
              <a:buNone/>
            </a:pPr>
            <a:r>
              <a:rPr lang="en-US" sz="1100" dirty="0">
                <a:solidFill>
                  <a:srgbClr val="6E6E6E"/>
                </a:solidFill>
                <a:latin typeface="Calibri" pitchFamily="34" charset="0"/>
                <a:ea typeface="Calibri" pitchFamily="34" charset="-122"/>
                <a:cs typeface="Calibri" pitchFamily="34" charset="-120"/>
              </a:rPr>
              <a:t>30.5M</a:t>
            </a:r>
            <a:endParaRPr lang="en-US" sz="1100" dirty="0"/>
          </a:p>
        </p:txBody>
      </p:sp>
      <p:sp>
        <p:nvSpPr>
          <p:cNvPr id="11" name="Text 9"/>
          <p:cNvSpPr/>
          <p:nvPr/>
        </p:nvSpPr>
        <p:spPr>
          <a:xfrm>
            <a:off x="777240" y="2807208"/>
            <a:ext cx="1554480" cy="310896"/>
          </a:xfrm>
          <a:prstGeom prst="rect">
            <a:avLst/>
          </a:prstGeom>
          <a:noFill/>
          <a:ln/>
        </p:spPr>
        <p:txBody>
          <a:bodyPr wrap="square" lIns="0" tIns="0" rIns="0" bIns="0" rtlCol="0" anchor="ctr"/>
          <a:lstStyle/>
          <a:p>
            <a:pPr algn="r" indent="0" marL="0">
              <a:buNone/>
            </a:pPr>
            <a:r>
              <a:rPr lang="en-US" sz="1150" dirty="0">
                <a:solidFill>
                  <a:srgbClr val="1A1A1A"/>
                </a:solidFill>
                <a:latin typeface="Calibri" pitchFamily="34" charset="0"/>
                <a:ea typeface="Calibri" pitchFamily="34" charset="-122"/>
                <a:cs typeface="Calibri" pitchFamily="34" charset="-120"/>
              </a:rPr>
              <a:t>Neck</a:t>
            </a:r>
            <a:endParaRPr lang="en-US" sz="1150" dirty="0"/>
          </a:p>
        </p:txBody>
      </p:sp>
      <p:sp>
        <p:nvSpPr>
          <p:cNvPr id="12" name="Shape 10"/>
          <p:cNvSpPr/>
          <p:nvPr/>
        </p:nvSpPr>
        <p:spPr>
          <a:xfrm>
            <a:off x="2395728" y="2843784"/>
            <a:ext cx="3246120" cy="237744"/>
          </a:xfrm>
          <a:prstGeom prst="rect">
            <a:avLst/>
          </a:prstGeom>
          <a:solidFill>
            <a:srgbClr val="8C3A1E"/>
          </a:solidFill>
          <a:ln/>
        </p:spPr>
      </p:sp>
      <p:sp>
        <p:nvSpPr>
          <p:cNvPr id="13" name="Text 11"/>
          <p:cNvSpPr/>
          <p:nvPr/>
        </p:nvSpPr>
        <p:spPr>
          <a:xfrm>
            <a:off x="5733288" y="2807208"/>
            <a:ext cx="822960" cy="310896"/>
          </a:xfrm>
          <a:prstGeom prst="rect">
            <a:avLst/>
          </a:prstGeom>
          <a:noFill/>
          <a:ln/>
        </p:spPr>
        <p:txBody>
          <a:bodyPr wrap="square" lIns="0" tIns="0" rIns="0" bIns="0" rtlCol="0" anchor="ctr"/>
          <a:lstStyle/>
          <a:p>
            <a:pPr indent="0" marL="0">
              <a:buNone/>
            </a:pPr>
            <a:r>
              <a:rPr lang="en-US" sz="1100" dirty="0">
                <a:solidFill>
                  <a:srgbClr val="6E6E6E"/>
                </a:solidFill>
                <a:latin typeface="Calibri" pitchFamily="34" charset="0"/>
                <a:ea typeface="Calibri" pitchFamily="34" charset="-122"/>
                <a:cs typeface="Calibri" pitchFamily="34" charset="-120"/>
              </a:rPr>
              <a:t>33.8M</a:t>
            </a:r>
            <a:endParaRPr lang="en-US" sz="1100" dirty="0"/>
          </a:p>
        </p:txBody>
      </p:sp>
      <p:sp>
        <p:nvSpPr>
          <p:cNvPr id="14" name="Text 12"/>
          <p:cNvSpPr/>
          <p:nvPr/>
        </p:nvSpPr>
        <p:spPr>
          <a:xfrm>
            <a:off x="777240" y="3374136"/>
            <a:ext cx="1554480" cy="310896"/>
          </a:xfrm>
          <a:prstGeom prst="rect">
            <a:avLst/>
          </a:prstGeom>
          <a:noFill/>
          <a:ln/>
        </p:spPr>
        <p:txBody>
          <a:bodyPr wrap="square" lIns="0" tIns="0" rIns="0" bIns="0" rtlCol="0" anchor="ctr"/>
          <a:lstStyle/>
          <a:p>
            <a:pPr algn="r" indent="0" marL="0">
              <a:buNone/>
            </a:pPr>
            <a:r>
              <a:rPr lang="en-US" sz="1150" dirty="0">
                <a:solidFill>
                  <a:srgbClr val="1A1A1A"/>
                </a:solidFill>
                <a:latin typeface="Calibri" pitchFamily="34" charset="0"/>
                <a:ea typeface="Calibri" pitchFamily="34" charset="-122"/>
                <a:cs typeface="Calibri" pitchFamily="34" charset="-120"/>
              </a:rPr>
              <a:t>Segmentation head</a:t>
            </a:r>
            <a:endParaRPr lang="en-US" sz="1150" dirty="0"/>
          </a:p>
        </p:txBody>
      </p:sp>
      <p:sp>
        <p:nvSpPr>
          <p:cNvPr id="15" name="Shape 13"/>
          <p:cNvSpPr/>
          <p:nvPr/>
        </p:nvSpPr>
        <p:spPr>
          <a:xfrm>
            <a:off x="2395728" y="3410712"/>
            <a:ext cx="897142" cy="237744"/>
          </a:xfrm>
          <a:prstGeom prst="rect">
            <a:avLst/>
          </a:prstGeom>
          <a:solidFill>
            <a:srgbClr val="8C3A1E"/>
          </a:solidFill>
          <a:ln/>
        </p:spPr>
      </p:sp>
      <p:sp>
        <p:nvSpPr>
          <p:cNvPr id="16" name="Text 14"/>
          <p:cNvSpPr/>
          <p:nvPr/>
        </p:nvSpPr>
        <p:spPr>
          <a:xfrm>
            <a:off x="3384310" y="3374136"/>
            <a:ext cx="822960" cy="310896"/>
          </a:xfrm>
          <a:prstGeom prst="rect">
            <a:avLst/>
          </a:prstGeom>
          <a:noFill/>
          <a:ln/>
        </p:spPr>
        <p:txBody>
          <a:bodyPr wrap="square" lIns="0" tIns="0" rIns="0" bIns="0" rtlCol="0" anchor="ctr"/>
          <a:lstStyle/>
          <a:p>
            <a:pPr indent="0" marL="0">
              <a:buNone/>
            </a:pPr>
            <a:r>
              <a:rPr lang="en-US" sz="1100" dirty="0">
                <a:solidFill>
                  <a:srgbClr val="6E6E6E"/>
                </a:solidFill>
                <a:latin typeface="Calibri" pitchFamily="34" charset="0"/>
                <a:ea typeface="Calibri" pitchFamily="34" charset="-122"/>
                <a:cs typeface="Calibri" pitchFamily="34" charset="-120"/>
              </a:rPr>
              <a:t>9.3M</a:t>
            </a:r>
            <a:endParaRPr lang="en-US" sz="1100" dirty="0"/>
          </a:p>
        </p:txBody>
      </p:sp>
      <p:sp>
        <p:nvSpPr>
          <p:cNvPr id="17" name="Text 15"/>
          <p:cNvSpPr/>
          <p:nvPr/>
        </p:nvSpPr>
        <p:spPr>
          <a:xfrm>
            <a:off x="777240" y="1920240"/>
            <a:ext cx="4572000" cy="237744"/>
          </a:xfrm>
          <a:prstGeom prst="rect">
            <a:avLst/>
          </a:prstGeom>
          <a:noFill/>
          <a:ln/>
        </p:spPr>
        <p:txBody>
          <a:bodyPr wrap="square" lIns="0" tIns="0" rIns="0" bIns="0" rtlCol="0" anchor="ctr"/>
          <a:lstStyle/>
          <a:p>
            <a:pPr indent="0" marL="0">
              <a:buNone/>
            </a:pPr>
            <a:r>
              <a:rPr lang="en-US" sz="1150" b="1" dirty="0">
                <a:solidFill>
                  <a:srgbClr val="1A1A1A"/>
                </a:solidFill>
                <a:latin typeface="Calibri" pitchFamily="34" charset="0"/>
                <a:ea typeface="Calibri" pitchFamily="34" charset="-122"/>
                <a:cs typeface="Calibri" pitchFamily="34" charset="-120"/>
              </a:rPr>
              <a:t>Parameters by module</a:t>
            </a:r>
            <a:endParaRPr lang="en-US" sz="11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7040880" y="1920240"/>
          <a:ext cx="4370832" cy="914400"/>
        </p:xfrm>
        <a:graphic>
          <a:graphicData uri="http://schemas.openxmlformats.org/drawingml/2006/table">
            <a:tbl>
              <a:tblPr/>
              <a:tblGrid>
                <a:gridCol w="2999232"/>
                <a:gridCol w="1371600"/>
              </a:tblGrid>
              <a:tr h="384048">
                <a:tc>
                  <a:txBody>
                    <a:bodyPr/>
                    <a:lstStyle/>
                    <a:p>
                      <a:pPr indent="0" marL="0">
                        <a:buNone/>
                      </a:pPr>
                      <a:r>
                        <a:rPr lang="en-US" sz="1150" b="1" dirty="0">
                          <a:solidFill>
                            <a:srgbClr val="1A1A1A"/>
                          </a:solidFill>
                          <a:latin typeface="Calibri" pitchFamily="34" charset="0"/>
                          <a:ea typeface="Calibri" pitchFamily="34" charset="-122"/>
                          <a:cs typeface="Calibri" pitchFamily="34" charset="-120"/>
                        </a:rPr>
                        <a:t>Stage</a:t>
                      </a:r>
                      <a:endParaRPr lang="en-US" sz="115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6F5F2"/>
                    </a:solidFill>
                  </a:tcPr>
                </a:tc>
                <a:tc>
                  <a:txBody>
                    <a:bodyPr/>
                    <a:lstStyle/>
                    <a:p>
                      <a:pPr indent="0" marL="0">
                        <a:buNone/>
                      </a:pPr>
                      <a:r>
                        <a:rPr lang="en-US" sz="1150" b="1" dirty="0">
                          <a:solidFill>
                            <a:srgbClr val="1A1A1A"/>
                          </a:solidFill>
                          <a:latin typeface="Calibri" pitchFamily="34" charset="0"/>
                          <a:ea typeface="Calibri" pitchFamily="34" charset="-122"/>
                          <a:cs typeface="Calibri" pitchFamily="34" charset="-120"/>
                        </a:rPr>
                        <a:t>Parameters</a:t>
                      </a:r>
                      <a:endParaRPr lang="en-US" sz="115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6F5F2"/>
                    </a:solidFill>
                  </a:tcPr>
                </a:tc>
              </a:tr>
              <a:tr h="384048">
                <a:tc>
                  <a:txBody>
                    <a:bodyPr/>
                    <a:lstStyle/>
                    <a:p>
                      <a:pPr indent="0" marL="0">
                        <a:buNone/>
                      </a:pPr>
                      <a:r>
                        <a:rPr lang="en-US" sz="1150" dirty="0">
                          <a:solidFill>
                            <a:srgbClr val="1A1A1A"/>
                          </a:solidFill>
                          <a:latin typeface="Calibri" pitchFamily="34" charset="0"/>
                          <a:ea typeface="Calibri" pitchFamily="34" charset="-122"/>
                          <a:cs typeface="Calibri" pitchFamily="34" charset="-120"/>
                        </a:rPr>
                        <a:t>Backbone  (model.0 – model.8)</a:t>
                      </a:r>
                      <a:endParaRPr lang="en-US" sz="115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c>
                  <a:txBody>
                    <a:bodyPr/>
                    <a:lstStyle/>
                    <a:p>
                      <a:pPr indent="0" marL="0">
                        <a:buNone/>
                      </a:pPr>
                      <a:r>
                        <a:rPr lang="en-US" sz="1150" dirty="0">
                          <a:solidFill>
                            <a:srgbClr val="1A1A1A"/>
                          </a:solidFill>
                          <a:latin typeface="Calibri" pitchFamily="34" charset="0"/>
                          <a:ea typeface="Calibri" pitchFamily="34" charset="-122"/>
                          <a:cs typeface="Calibri" pitchFamily="34" charset="-120"/>
                        </a:rPr>
                        <a:t>30,506,183</a:t>
                      </a:r>
                      <a:endParaRPr lang="en-US" sz="115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r>
              <a:tr h="384048">
                <a:tc>
                  <a:txBody>
                    <a:bodyPr/>
                    <a:lstStyle/>
                    <a:p>
                      <a:pPr indent="0" marL="0">
                        <a:buNone/>
                      </a:pPr>
                      <a:r>
                        <a:rPr lang="en-US" sz="1150" dirty="0">
                          <a:solidFill>
                            <a:srgbClr val="1A1A1A"/>
                          </a:solidFill>
                          <a:latin typeface="Calibri" pitchFamily="34" charset="0"/>
                          <a:ea typeface="Calibri" pitchFamily="34" charset="-122"/>
                          <a:cs typeface="Calibri" pitchFamily="34" charset="-120"/>
                        </a:rPr>
                        <a:t>Neck  (model.9 – model.21)</a:t>
                      </a:r>
                      <a:endParaRPr lang="en-US" sz="115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c>
                  <a:txBody>
                    <a:bodyPr/>
                    <a:lstStyle/>
                    <a:p>
                      <a:pPr indent="0" marL="0">
                        <a:buNone/>
                      </a:pPr>
                      <a:r>
                        <a:rPr lang="en-US" sz="1150" dirty="0">
                          <a:solidFill>
                            <a:srgbClr val="1A1A1A"/>
                          </a:solidFill>
                          <a:latin typeface="Calibri" pitchFamily="34" charset="0"/>
                          <a:ea typeface="Calibri" pitchFamily="34" charset="-122"/>
                          <a:cs typeface="Calibri" pitchFamily="34" charset="-120"/>
                        </a:rPr>
                        <a:t>33,781,466</a:t>
                      </a:r>
                      <a:endParaRPr lang="en-US" sz="115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r>
              <a:tr h="384048">
                <a:tc>
                  <a:txBody>
                    <a:bodyPr/>
                    <a:lstStyle/>
                    <a:p>
                      <a:pPr indent="0" marL="0">
                        <a:buNone/>
                      </a:pPr>
                      <a:r>
                        <a:rPr lang="en-US" sz="1150" dirty="0">
                          <a:solidFill>
                            <a:srgbClr val="1A1A1A"/>
                          </a:solidFill>
                          <a:latin typeface="Calibri" pitchFamily="34" charset="0"/>
                          <a:ea typeface="Calibri" pitchFamily="34" charset="-122"/>
                          <a:cs typeface="Calibri" pitchFamily="34" charset="-120"/>
                        </a:rPr>
                        <a:t>Segmentation head  (model.22)</a:t>
                      </a:r>
                      <a:endParaRPr lang="en-US" sz="115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c>
                  <a:txBody>
                    <a:bodyPr/>
                    <a:lstStyle/>
                    <a:p>
                      <a:pPr indent="0" marL="0">
                        <a:buNone/>
                      </a:pPr>
                      <a:r>
                        <a:rPr lang="en-US" sz="1150" dirty="0">
                          <a:solidFill>
                            <a:srgbClr val="1A1A1A"/>
                          </a:solidFill>
                          <a:latin typeface="Calibri" pitchFamily="34" charset="0"/>
                          <a:ea typeface="Calibri" pitchFamily="34" charset="-122"/>
                          <a:cs typeface="Calibri" pitchFamily="34" charset="-120"/>
                        </a:rPr>
                        <a:t>9,336,308</a:t>
                      </a:r>
                      <a:endParaRPr lang="en-US" sz="115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r>
              <a:tr h="384048">
                <a:tc>
                  <a:txBody>
                    <a:bodyPr/>
                    <a:lstStyle/>
                    <a:p>
                      <a:pPr indent="0" marL="0">
                        <a:buNone/>
                      </a:pPr>
                      <a:r>
                        <a:rPr lang="en-US" sz="1150" dirty="0">
                          <a:solidFill>
                            <a:srgbClr val="1A1A1A"/>
                          </a:solidFill>
                          <a:latin typeface="Calibri" pitchFamily="34" charset="0"/>
                          <a:ea typeface="Calibri" pitchFamily="34" charset="-122"/>
                          <a:cs typeface="Calibri" pitchFamily="34" charset="-120"/>
                        </a:rPr>
                        <a:t>Total</a:t>
                      </a:r>
                      <a:endParaRPr lang="en-US" sz="115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c>
                  <a:txBody>
                    <a:bodyPr/>
                    <a:lstStyle/>
                    <a:p>
                      <a:pPr indent="0" marL="0">
                        <a:buNone/>
                      </a:pPr>
                      <a:r>
                        <a:rPr lang="en-US" sz="1150" dirty="0">
                          <a:solidFill>
                            <a:srgbClr val="1A1A1A"/>
                          </a:solidFill>
                          <a:latin typeface="Calibri" pitchFamily="34" charset="0"/>
                          <a:ea typeface="Calibri" pitchFamily="34" charset="-122"/>
                          <a:cs typeface="Calibri" pitchFamily="34" charset="-120"/>
                        </a:rPr>
                        <a:t>73,623,957</a:t>
                      </a:r>
                      <a:endParaRPr lang="en-US" sz="115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r>
            </a:tbl>
          </a:graphicData>
        </a:graphic>
      </p:graphicFrame>
      <p:sp>
        <p:nvSpPr>
          <p:cNvPr id="19" name="Text 16"/>
          <p:cNvSpPr/>
          <p:nvPr/>
        </p:nvSpPr>
        <p:spPr>
          <a:xfrm>
            <a:off x="7040880" y="3931920"/>
            <a:ext cx="4297680" cy="603504"/>
          </a:xfrm>
          <a:prstGeom prst="rect">
            <a:avLst/>
          </a:prstGeom>
          <a:noFill/>
          <a:ln/>
        </p:spPr>
        <p:txBody>
          <a:bodyPr wrap="square" lIns="0" tIns="0" rIns="0" bIns="0" rtlCol="0" anchor="ctr"/>
          <a:lstStyle/>
          <a:p>
            <a:pPr indent="0" marL="0">
              <a:buNone/>
            </a:pPr>
            <a:r>
              <a:rPr lang="en-US" sz="3800" b="1" dirty="0">
                <a:solidFill>
                  <a:srgbClr val="1A1A1A"/>
                </a:solidFill>
                <a:latin typeface="Cambria" pitchFamily="34" charset="0"/>
                <a:ea typeface="Cambria" pitchFamily="34" charset="-122"/>
                <a:cs typeface="Cambria" pitchFamily="34" charset="-120"/>
              </a:rPr>
              <a:t>73.6M</a:t>
            </a:r>
            <a:endParaRPr lang="en-US" sz="3800" dirty="0"/>
          </a:p>
        </p:txBody>
      </p:sp>
      <p:sp>
        <p:nvSpPr>
          <p:cNvPr id="20" name="Text 17"/>
          <p:cNvSpPr/>
          <p:nvPr/>
        </p:nvSpPr>
        <p:spPr>
          <a:xfrm>
            <a:off x="7040880" y="4535424"/>
            <a:ext cx="4297680" cy="420624"/>
          </a:xfrm>
          <a:prstGeom prst="rect">
            <a:avLst/>
          </a:prstGeom>
          <a:noFill/>
          <a:ln/>
        </p:spPr>
        <p:txBody>
          <a:bodyPr wrap="square" lIns="0" tIns="0" rIns="0" bIns="0" rtlCol="0" anchor="ctr"/>
          <a:lstStyle/>
          <a:p>
            <a:pPr indent="0" marL="0">
              <a:lnSpc>
                <a:spcPts val="1500"/>
              </a:lnSpc>
              <a:buNone/>
            </a:pPr>
            <a:r>
              <a:rPr lang="en-US" sz="1100" dirty="0">
                <a:solidFill>
                  <a:srgbClr val="6E6E6E"/>
                </a:solidFill>
                <a:latin typeface="Calibri" pitchFamily="34" charset="0"/>
                <a:ea typeface="Calibri" pitchFamily="34" charset="-122"/>
                <a:cs typeface="Calibri" pitchFamily="34" charset="-120"/>
              </a:rPr>
              <a:t>total parameters. YOLOv8x-seg is 71.8M; the difference is the instruction-conditioning pathway.</a:t>
            </a:r>
            <a:endParaRPr lang="en-US" sz="1100" dirty="0"/>
          </a:p>
        </p:txBody>
      </p:sp>
      <p:sp>
        <p:nvSpPr>
          <p:cNvPr id="21" name="Text 18"/>
          <p:cNvSpPr/>
          <p:nvPr/>
        </p:nvSpPr>
        <p:spPr>
          <a:xfrm>
            <a:off x="777240" y="5230368"/>
            <a:ext cx="5943600" cy="777240"/>
          </a:xfrm>
          <a:prstGeom prst="rect">
            <a:avLst/>
          </a:prstGeom>
          <a:noFill/>
          <a:ln/>
        </p:spPr>
        <p:txBody>
          <a:bodyPr wrap="square" lIns="0" tIns="0" rIns="0" bIns="0" rtlCol="0" anchor="ctr"/>
          <a:lstStyle/>
          <a:p>
            <a:pPr indent="0" marL="0">
              <a:lnSpc>
                <a:spcPts val="1600"/>
              </a:lnSpc>
              <a:buNone/>
            </a:pPr>
            <a:r>
              <a:rPr lang="en-US" sz="1100" dirty="0">
                <a:solidFill>
                  <a:srgbClr val="6E6E6E"/>
                </a:solidFill>
                <a:latin typeface="Calibri" pitchFamily="34" charset="0"/>
                <a:ea typeface="Calibri" pitchFamily="34" charset="-122"/>
                <a:cs typeface="Calibri" pitchFamily="34" charset="-120"/>
              </a:rPr>
              <a:t>Head breakdown — prototype branch 2,267,009 · box 1,257,024 · class 4,611,523 · mask coefficients 1,200,736 · DFL conv 16. Backbone and neck hold 87% of the weights; the head is deliberately cheap because prototypes are shared across all instances in an image.</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420624"/>
            <a:ext cx="8229600" cy="219456"/>
          </a:xfrm>
          <a:prstGeom prst="rect">
            <a:avLst/>
          </a:prstGeom>
          <a:noFill/>
          <a:ln/>
        </p:spPr>
        <p:txBody>
          <a:bodyPr wrap="square" lIns="0" tIns="0" rIns="0" bIns="0" rtlCol="0" anchor="ctr"/>
          <a:lstStyle/>
          <a:p>
            <a:pPr indent="0" marL="0">
              <a:buNone/>
            </a:pPr>
            <a:r>
              <a:rPr lang="en-US" sz="1050" b="1" spc="220" kern="0" dirty="0">
                <a:solidFill>
                  <a:srgbClr val="8C3A1E"/>
                </a:solidFill>
                <a:latin typeface="Calibri" pitchFamily="34" charset="0"/>
                <a:ea typeface="Calibri" pitchFamily="34" charset="-122"/>
                <a:cs typeface="Calibri" pitchFamily="34" charset="-120"/>
              </a:rPr>
              <a:t>DATASET  ·  1 OF 3</a:t>
            </a:r>
            <a:endParaRPr lang="en-US" sz="1050" dirty="0"/>
          </a:p>
        </p:txBody>
      </p:sp>
      <p:sp>
        <p:nvSpPr>
          <p:cNvPr id="3" name="Text 1"/>
          <p:cNvSpPr/>
          <p:nvPr/>
        </p:nvSpPr>
        <p:spPr>
          <a:xfrm>
            <a:off x="777240" y="694944"/>
            <a:ext cx="10637215" cy="603504"/>
          </a:xfrm>
          <a:prstGeom prst="rect">
            <a:avLst/>
          </a:prstGeom>
          <a:noFill/>
          <a:ln/>
        </p:spPr>
        <p:txBody>
          <a:bodyPr wrap="square" lIns="0" tIns="0" rIns="0" bIns="0" rtlCol="0" anchor="ctr"/>
          <a:lstStyle/>
          <a:p>
            <a:pPr indent="0" marL="0">
              <a:buNone/>
            </a:pPr>
            <a:r>
              <a:rPr lang="en-US" sz="3100" b="1" dirty="0">
                <a:solidFill>
                  <a:srgbClr val="1A1A1A"/>
                </a:solidFill>
                <a:latin typeface="Cambria" pitchFamily="34" charset="0"/>
                <a:ea typeface="Cambria" pitchFamily="34" charset="-122"/>
                <a:cs typeface="Cambria" pitchFamily="34" charset="-120"/>
              </a:rPr>
              <a:t>Why the dataset has to be derived</a:t>
            </a:r>
            <a:endParaRPr lang="en-US" sz="3100" dirty="0"/>
          </a:p>
        </p:txBody>
      </p:sp>
      <p:sp>
        <p:nvSpPr>
          <p:cNvPr id="4" name="Text 2"/>
          <p:cNvSpPr/>
          <p:nvPr/>
        </p:nvSpPr>
        <p:spPr>
          <a:xfrm>
            <a:off x="777240" y="1335024"/>
            <a:ext cx="10637215" cy="347472"/>
          </a:xfrm>
          <a:prstGeom prst="rect">
            <a:avLst/>
          </a:prstGeom>
          <a:noFill/>
          <a:ln/>
        </p:spPr>
        <p:txBody>
          <a:bodyPr wrap="square" lIns="0" tIns="0" rIns="0" bIns="0" rtlCol="0" anchor="ctr"/>
          <a:lstStyle/>
          <a:p>
            <a:pPr indent="0" marL="0">
              <a:buNone/>
            </a:pPr>
            <a:r>
              <a:rPr lang="en-US" sz="1400" dirty="0">
                <a:solidFill>
                  <a:srgbClr val="6E6E6E"/>
                </a:solidFill>
                <a:latin typeface="Calibri" pitchFamily="34" charset="0"/>
                <a:ea typeface="Calibri" pitchFamily="34" charset="-122"/>
                <a:cs typeface="Calibri" pitchFamily="34" charset="-120"/>
              </a:rPr>
              <a:t>Four fields are needed per record. Public corpora supply one and a half of them.</a:t>
            </a:r>
            <a:endParaRPr lang="en-US" sz="1400" dirty="0"/>
          </a:p>
        </p:txBody>
      </p:sp>
      <p:sp>
        <p:nvSpPr>
          <p:cNvPr id="5" name="Shape 3"/>
          <p:cNvSpPr/>
          <p:nvPr/>
        </p:nvSpPr>
        <p:spPr>
          <a:xfrm>
            <a:off x="777240" y="6291072"/>
            <a:ext cx="10637215" cy="7315"/>
          </a:xfrm>
          <a:prstGeom prst="rect">
            <a:avLst/>
          </a:prstGeom>
          <a:solidFill>
            <a:srgbClr val="DEDCD7"/>
          </a:solidFill>
          <a:ln/>
        </p:spPr>
      </p:sp>
      <p:sp>
        <p:nvSpPr>
          <p:cNvPr id="6" name="Text 4"/>
          <p:cNvSpPr/>
          <p:nvPr/>
        </p:nvSpPr>
        <p:spPr>
          <a:xfrm>
            <a:off x="777240" y="6382512"/>
            <a:ext cx="7315200" cy="256032"/>
          </a:xfrm>
          <a:prstGeom prst="rect">
            <a:avLst/>
          </a:prstGeom>
          <a:noFill/>
          <a:ln/>
        </p:spPr>
        <p:txBody>
          <a:bodyPr wrap="square" lIns="0" tIns="0" rIns="0" bIns="0" rtlCol="0" anchor="ctr"/>
          <a:lstStyle/>
          <a:p>
            <a:pPr indent="0" marL="0">
              <a:buNone/>
            </a:pPr>
            <a:r>
              <a:rPr lang="en-US" sz="900" dirty="0">
                <a:solidFill>
                  <a:srgbClr val="9A9A9A"/>
                </a:solidFill>
                <a:latin typeface="Calibri" pitchFamily="34" charset="0"/>
                <a:ea typeface="Calibri" pitchFamily="34" charset="-122"/>
                <a:cs typeface="Calibri" pitchFamily="34" charset="-120"/>
              </a:rPr>
              <a:t>Instruct-Seg-Edit  ·  Foundations of Data Science  ·  Review 1</a:t>
            </a:r>
            <a:endParaRPr lang="en-US" sz="900" dirty="0"/>
          </a:p>
        </p:txBody>
      </p:sp>
      <p:sp>
        <p:nvSpPr>
          <p:cNvPr id="7" name="Text 5"/>
          <p:cNvSpPr/>
          <p:nvPr/>
        </p:nvSpPr>
        <p:spPr>
          <a:xfrm>
            <a:off x="10865815" y="6382512"/>
            <a:ext cx="548640" cy="256032"/>
          </a:xfrm>
          <a:prstGeom prst="rect">
            <a:avLst/>
          </a:prstGeom>
          <a:noFill/>
          <a:ln/>
        </p:spPr>
        <p:txBody>
          <a:bodyPr wrap="square" lIns="0" tIns="0" rIns="0" bIns="0" rtlCol="0" anchor="ctr"/>
          <a:lstStyle/>
          <a:p>
            <a:pPr algn="r" indent="0" marL="0">
              <a:buNone/>
            </a:pPr>
            <a:r>
              <a:rPr lang="en-US" sz="900" dirty="0">
                <a:solidFill>
                  <a:srgbClr val="9A9A9A"/>
                </a:solidFill>
                <a:latin typeface="Calibri" pitchFamily="34" charset="0"/>
                <a:ea typeface="Calibri" pitchFamily="34" charset="-122"/>
                <a:cs typeface="Calibri" pitchFamily="34" charset="-120"/>
              </a:rPr>
              <a:t>14</a:t>
            </a:r>
            <a:endParaRPr lang="en-US" sz="9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777240" y="1901952"/>
          <a:ext cx="10637215" cy="914400"/>
        </p:xfrm>
        <a:graphic>
          <a:graphicData uri="http://schemas.openxmlformats.org/drawingml/2006/table">
            <a:tbl>
              <a:tblPr/>
              <a:tblGrid>
                <a:gridCol w="2103120"/>
                <a:gridCol w="1691640"/>
                <a:gridCol w="3383280"/>
                <a:gridCol w="3456432"/>
              </a:tblGrid>
              <a:tr h="365760">
                <a:tc>
                  <a:txBody>
                    <a:bodyPr/>
                    <a:lstStyle/>
                    <a:p>
                      <a:pPr indent="0" marL="0">
                        <a:buNone/>
                      </a:pPr>
                      <a:r>
                        <a:rPr lang="en-US" sz="1100" b="1" dirty="0">
                          <a:solidFill>
                            <a:srgbClr val="1A1A1A"/>
                          </a:solidFill>
                          <a:latin typeface="Calibri" pitchFamily="34" charset="0"/>
                          <a:ea typeface="Calibri" pitchFamily="34" charset="-122"/>
                          <a:cs typeface="Calibri" pitchFamily="34" charset="-120"/>
                        </a:rPr>
                        <a:t>Field</a:t>
                      </a:r>
                      <a:endParaRPr lang="en-US" sz="11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6F5F2"/>
                    </a:solidFill>
                  </a:tcPr>
                </a:tc>
                <a:tc>
                  <a:txBody>
                    <a:bodyPr/>
                    <a:lstStyle/>
                    <a:p>
                      <a:pPr indent="0" marL="0">
                        <a:buNone/>
                      </a:pPr>
                      <a:r>
                        <a:rPr lang="en-US" sz="1100" b="1" dirty="0">
                          <a:solidFill>
                            <a:srgbClr val="1A1A1A"/>
                          </a:solidFill>
                          <a:latin typeface="Calibri" pitchFamily="34" charset="0"/>
                          <a:ea typeface="Calibri" pitchFamily="34" charset="-122"/>
                          <a:cs typeface="Calibri" pitchFamily="34" charset="-120"/>
                        </a:rPr>
                        <a:t>Type</a:t>
                      </a:r>
                      <a:endParaRPr lang="en-US" sz="11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6F5F2"/>
                    </a:solidFill>
                  </a:tcPr>
                </a:tc>
                <a:tc>
                  <a:txBody>
                    <a:bodyPr/>
                    <a:lstStyle/>
                    <a:p>
                      <a:pPr indent="0" marL="0">
                        <a:buNone/>
                      </a:pPr>
                      <a:r>
                        <a:rPr lang="en-US" sz="1100" b="1" dirty="0">
                          <a:solidFill>
                            <a:srgbClr val="1A1A1A"/>
                          </a:solidFill>
                          <a:latin typeface="Calibri" pitchFamily="34" charset="0"/>
                          <a:ea typeface="Calibri" pitchFamily="34" charset="-122"/>
                          <a:cs typeface="Calibri" pitchFamily="34" charset="-120"/>
                        </a:rPr>
                        <a:t>Origin</a:t>
                      </a:r>
                      <a:endParaRPr lang="en-US" sz="11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6F5F2"/>
                    </a:solidFill>
                  </a:tcPr>
                </a:tc>
                <a:tc>
                  <a:txBody>
                    <a:bodyPr/>
                    <a:lstStyle/>
                    <a:p>
                      <a:pPr indent="0" marL="0">
                        <a:buNone/>
                      </a:pPr>
                      <a:r>
                        <a:rPr lang="en-US" sz="1100" b="1" dirty="0">
                          <a:solidFill>
                            <a:srgbClr val="1A1A1A"/>
                          </a:solidFill>
                          <a:latin typeface="Calibri" pitchFamily="34" charset="0"/>
                          <a:ea typeface="Calibri" pitchFamily="34" charset="-122"/>
                          <a:cs typeface="Calibri" pitchFamily="34" charset="-120"/>
                        </a:rPr>
                        <a:t>Role in training</a:t>
                      </a:r>
                      <a:endParaRPr lang="en-US" sz="11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6F5F2"/>
                    </a:solidFill>
                  </a:tcPr>
                </a:tc>
              </a:tr>
              <a:tr h="365760">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Image</a:t>
                      </a:r>
                      <a:endParaRPr lang="en-US" sz="11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RGB 512 × 512</a:t>
                      </a:r>
                      <a:endParaRPr lang="en-US" sz="11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PixelProse / RedCaps  (public)</a:t>
                      </a:r>
                      <a:endParaRPr lang="en-US" sz="11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Input to Stage 1 and Stage 2</a:t>
                      </a:r>
                      <a:endParaRPr lang="en-US" sz="11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r>
              <a:tr h="365760">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Original caption</a:t>
                      </a:r>
                      <a:endParaRPr lang="en-US" sz="11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Text</a:t>
                      </a:r>
                      <a:endParaRPr lang="en-US" sz="11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PixelProse / RedCaps  (public)</a:t>
                      </a:r>
                      <a:endParaRPr lang="en-US" sz="11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Context for instruction generation</a:t>
                      </a:r>
                      <a:endParaRPr lang="en-US" sz="11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r>
              <a:tr h="365760">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VLM caption</a:t>
                      </a:r>
                      <a:endParaRPr lang="en-US" sz="11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Text</a:t>
                      </a:r>
                      <a:endParaRPr lang="en-US" sz="11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Gemini 1.0 Pro Vision  (in corpus)</a:t>
                      </a:r>
                      <a:endParaRPr lang="en-US" sz="11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Context for instruction generation</a:t>
                      </a:r>
                      <a:endParaRPr lang="en-US" sz="11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r>
              <a:tr h="365760">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Edit instruction</a:t>
                      </a:r>
                      <a:endParaRPr lang="en-US" sz="11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Text</a:t>
                      </a:r>
                      <a:endParaRPr lang="en-US" sz="11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Vision-language model  (derived)</a:t>
                      </a:r>
                      <a:endParaRPr lang="en-US" sz="11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Conditioning input to both stages</a:t>
                      </a:r>
                      <a:endParaRPr lang="en-US" sz="11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r>
              <a:tr h="365760">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Edited image</a:t>
                      </a:r>
                      <a:endParaRPr lang="en-US" sz="11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RGB</a:t>
                      </a:r>
                      <a:endParaRPr lang="en-US" sz="11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Diffusion editor  (derived)</a:t>
                      </a:r>
                      <a:endParaRPr lang="en-US" sz="11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Target for Stage 2</a:t>
                      </a:r>
                      <a:endParaRPr lang="en-US" sz="11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r>
              <a:tr h="365760">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Edit mask</a:t>
                      </a:r>
                      <a:endParaRPr lang="en-US" sz="11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Binary mask</a:t>
                      </a:r>
                      <a:endParaRPr lang="en-US" sz="11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L*a*b* ΔE + morphology  (derived)</a:t>
                      </a:r>
                      <a:endParaRPr lang="en-US" sz="11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Target for Stage 1</a:t>
                      </a:r>
                      <a:endParaRPr lang="en-US" sz="11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r>
            </a:tbl>
          </a:graphicData>
        </a:graphic>
      </p:graphicFrame>
      <p:sp>
        <p:nvSpPr>
          <p:cNvPr id="9" name="Shape 6"/>
          <p:cNvSpPr/>
          <p:nvPr/>
        </p:nvSpPr>
        <p:spPr>
          <a:xfrm>
            <a:off x="777240" y="4553712"/>
            <a:ext cx="10637215" cy="1481328"/>
          </a:xfrm>
          <a:prstGeom prst="rect">
            <a:avLst/>
          </a:prstGeom>
          <a:solidFill>
            <a:srgbClr val="F6F5F2"/>
          </a:solidFill>
          <a:ln/>
        </p:spPr>
      </p:sp>
      <p:sp>
        <p:nvSpPr>
          <p:cNvPr id="10" name="Text 7"/>
          <p:cNvSpPr/>
          <p:nvPr/>
        </p:nvSpPr>
        <p:spPr>
          <a:xfrm>
            <a:off x="1069848" y="4718304"/>
            <a:ext cx="3657600" cy="256032"/>
          </a:xfrm>
          <a:prstGeom prst="rect">
            <a:avLst/>
          </a:prstGeom>
          <a:noFill/>
          <a:ln/>
        </p:spPr>
        <p:txBody>
          <a:bodyPr wrap="square" lIns="0" tIns="0" rIns="0" bIns="0" rtlCol="0" anchor="ctr"/>
          <a:lstStyle/>
          <a:p>
            <a:pPr indent="0" marL="0">
              <a:buNone/>
            </a:pPr>
            <a:r>
              <a:rPr lang="en-US" sz="1250" b="1" dirty="0">
                <a:solidFill>
                  <a:srgbClr val="1A1A1A"/>
                </a:solidFill>
                <a:latin typeface="Calibri" pitchFamily="34" charset="0"/>
                <a:ea typeface="Calibri" pitchFamily="34" charset="-122"/>
                <a:cs typeface="Calibri" pitchFamily="34" charset="-120"/>
              </a:rPr>
              <a:t>Why not MSCOCO-seg?</a:t>
            </a:r>
            <a:endParaRPr lang="en-US" sz="1250" dirty="0"/>
          </a:p>
        </p:txBody>
      </p:sp>
      <p:sp>
        <p:nvSpPr>
          <p:cNvPr id="11" name="Text 8"/>
          <p:cNvSpPr/>
          <p:nvPr/>
        </p:nvSpPr>
        <p:spPr>
          <a:xfrm>
            <a:off x="1069848" y="5010912"/>
            <a:ext cx="10051999" cy="960120"/>
          </a:xfrm>
          <a:prstGeom prst="rect">
            <a:avLst/>
          </a:prstGeom>
          <a:noFill/>
          <a:ln/>
        </p:spPr>
        <p:txBody>
          <a:bodyPr wrap="square" lIns="0" tIns="0" rIns="0" bIns="0" rtlCol="0" anchor="ctr"/>
          <a:lstStyle/>
          <a:p>
            <a:pPr indent="0" marL="0">
              <a:lnSpc>
                <a:spcPts val="1600"/>
              </a:lnSpc>
              <a:buNone/>
            </a:pPr>
            <a:r>
              <a:rPr lang="en-US" sz="1150" dirty="0">
                <a:solidFill>
                  <a:srgbClr val="6E6E6E"/>
                </a:solidFill>
                <a:latin typeface="Calibri" pitchFamily="34" charset="0"/>
                <a:ea typeface="Calibri" pitchFamily="34" charset="-122"/>
                <a:cs typeface="Calibri" pitchFamily="34" charset="-120"/>
              </a:rPr>
              <a:t>It offers 118,287 images with ~860,000 instance masks and five captions each, so it appears to supply both the language and the spatial target. But a COCO mask annotates the object a noun phrase refers to — the referent, not the edit region. Training on it would reproduce precisely the behaviour identified as the gap. COCO is therefore retained in a strictly auxiliary role: detection pre-training of the backbone and neck, with no edit-region supervision taken from it.</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420624"/>
            <a:ext cx="8229600" cy="219456"/>
          </a:xfrm>
          <a:prstGeom prst="rect">
            <a:avLst/>
          </a:prstGeom>
          <a:noFill/>
          <a:ln/>
        </p:spPr>
        <p:txBody>
          <a:bodyPr wrap="square" lIns="0" tIns="0" rIns="0" bIns="0" rtlCol="0" anchor="ctr"/>
          <a:lstStyle/>
          <a:p>
            <a:pPr indent="0" marL="0">
              <a:buNone/>
            </a:pPr>
            <a:r>
              <a:rPr lang="en-US" sz="1050" b="1" spc="220" kern="0" dirty="0">
                <a:solidFill>
                  <a:srgbClr val="8C3A1E"/>
                </a:solidFill>
                <a:latin typeface="Calibri" pitchFamily="34" charset="0"/>
                <a:ea typeface="Calibri" pitchFamily="34" charset="-122"/>
                <a:cs typeface="Calibri" pitchFamily="34" charset="-120"/>
              </a:rPr>
              <a:t>DATASET  ·  2 OF 3</a:t>
            </a:r>
            <a:endParaRPr lang="en-US" sz="1050" dirty="0"/>
          </a:p>
        </p:txBody>
      </p:sp>
      <p:sp>
        <p:nvSpPr>
          <p:cNvPr id="3" name="Text 1"/>
          <p:cNvSpPr/>
          <p:nvPr/>
        </p:nvSpPr>
        <p:spPr>
          <a:xfrm>
            <a:off x="777240" y="694944"/>
            <a:ext cx="10637215" cy="603504"/>
          </a:xfrm>
          <a:prstGeom prst="rect">
            <a:avLst/>
          </a:prstGeom>
          <a:noFill/>
          <a:ln/>
        </p:spPr>
        <p:txBody>
          <a:bodyPr wrap="square" lIns="0" tIns="0" rIns="0" bIns="0" rtlCol="0" anchor="ctr"/>
          <a:lstStyle/>
          <a:p>
            <a:pPr indent="0" marL="0">
              <a:buNone/>
            </a:pPr>
            <a:r>
              <a:rPr lang="en-US" sz="3100" b="1" dirty="0">
                <a:solidFill>
                  <a:srgbClr val="1A1A1A"/>
                </a:solidFill>
                <a:latin typeface="Cambria" pitchFamily="34" charset="0"/>
                <a:ea typeface="Cambria" pitchFamily="34" charset="-122"/>
                <a:cs typeface="Cambria" pitchFamily="34" charset="-120"/>
              </a:rPr>
              <a:t>Generation pipeline</a:t>
            </a:r>
            <a:endParaRPr lang="en-US" sz="3100" dirty="0"/>
          </a:p>
        </p:txBody>
      </p:sp>
      <p:sp>
        <p:nvSpPr>
          <p:cNvPr id="4" name="Text 2"/>
          <p:cNvSpPr/>
          <p:nvPr/>
        </p:nvSpPr>
        <p:spPr>
          <a:xfrm>
            <a:off x="777240" y="1335024"/>
            <a:ext cx="10637215" cy="347472"/>
          </a:xfrm>
          <a:prstGeom prst="rect">
            <a:avLst/>
          </a:prstGeom>
          <a:noFill/>
          <a:ln/>
        </p:spPr>
        <p:txBody>
          <a:bodyPr wrap="square" lIns="0" tIns="0" rIns="0" bIns="0" rtlCol="0" anchor="ctr"/>
          <a:lstStyle/>
          <a:p>
            <a:pPr indent="0" marL="0">
              <a:buNone/>
            </a:pPr>
            <a:r>
              <a:rPr lang="en-US" sz="1400" dirty="0">
                <a:solidFill>
                  <a:srgbClr val="6E6E6E"/>
                </a:solidFill>
                <a:latin typeface="Calibri" pitchFamily="34" charset="0"/>
                <a:ea typeface="Calibri" pitchFamily="34" charset="-122"/>
                <a:cs typeface="Calibri" pitchFamily="34" charset="-120"/>
              </a:rPr>
              <a:t>Four stages, each writing to disk so the process is resumable.</a:t>
            </a:r>
            <a:endParaRPr lang="en-US" sz="1400" dirty="0"/>
          </a:p>
        </p:txBody>
      </p:sp>
      <p:sp>
        <p:nvSpPr>
          <p:cNvPr id="5" name="Shape 3"/>
          <p:cNvSpPr/>
          <p:nvPr/>
        </p:nvSpPr>
        <p:spPr>
          <a:xfrm>
            <a:off x="777240" y="6291072"/>
            <a:ext cx="10637215" cy="7315"/>
          </a:xfrm>
          <a:prstGeom prst="rect">
            <a:avLst/>
          </a:prstGeom>
          <a:solidFill>
            <a:srgbClr val="DEDCD7"/>
          </a:solidFill>
          <a:ln/>
        </p:spPr>
      </p:sp>
      <p:sp>
        <p:nvSpPr>
          <p:cNvPr id="6" name="Text 4"/>
          <p:cNvSpPr/>
          <p:nvPr/>
        </p:nvSpPr>
        <p:spPr>
          <a:xfrm>
            <a:off x="777240" y="6382512"/>
            <a:ext cx="7315200" cy="256032"/>
          </a:xfrm>
          <a:prstGeom prst="rect">
            <a:avLst/>
          </a:prstGeom>
          <a:noFill/>
          <a:ln/>
        </p:spPr>
        <p:txBody>
          <a:bodyPr wrap="square" lIns="0" tIns="0" rIns="0" bIns="0" rtlCol="0" anchor="ctr"/>
          <a:lstStyle/>
          <a:p>
            <a:pPr indent="0" marL="0">
              <a:buNone/>
            </a:pPr>
            <a:r>
              <a:rPr lang="en-US" sz="900" dirty="0">
                <a:solidFill>
                  <a:srgbClr val="9A9A9A"/>
                </a:solidFill>
                <a:latin typeface="Calibri" pitchFamily="34" charset="0"/>
                <a:ea typeface="Calibri" pitchFamily="34" charset="-122"/>
                <a:cs typeface="Calibri" pitchFamily="34" charset="-120"/>
              </a:rPr>
              <a:t>Instruct-Seg-Edit  ·  Foundations of Data Science  ·  Review 1</a:t>
            </a:r>
            <a:endParaRPr lang="en-US" sz="900" dirty="0"/>
          </a:p>
        </p:txBody>
      </p:sp>
      <p:sp>
        <p:nvSpPr>
          <p:cNvPr id="7" name="Text 5"/>
          <p:cNvSpPr/>
          <p:nvPr/>
        </p:nvSpPr>
        <p:spPr>
          <a:xfrm>
            <a:off x="10865815" y="6382512"/>
            <a:ext cx="548640" cy="256032"/>
          </a:xfrm>
          <a:prstGeom prst="rect">
            <a:avLst/>
          </a:prstGeom>
          <a:noFill/>
          <a:ln/>
        </p:spPr>
        <p:txBody>
          <a:bodyPr wrap="square" lIns="0" tIns="0" rIns="0" bIns="0" rtlCol="0" anchor="ctr"/>
          <a:lstStyle/>
          <a:p>
            <a:pPr algn="r" indent="0" marL="0">
              <a:buNone/>
            </a:pPr>
            <a:r>
              <a:rPr lang="en-US" sz="900" dirty="0">
                <a:solidFill>
                  <a:srgbClr val="9A9A9A"/>
                </a:solidFill>
                <a:latin typeface="Calibri" pitchFamily="34" charset="0"/>
                <a:ea typeface="Calibri" pitchFamily="34" charset="-122"/>
                <a:cs typeface="Calibri" pitchFamily="34" charset="-120"/>
              </a:rPr>
              <a:t>15</a:t>
            </a:r>
            <a:endParaRPr lang="en-US" sz="900" dirty="0"/>
          </a:p>
        </p:txBody>
      </p:sp>
      <p:sp>
        <p:nvSpPr>
          <p:cNvPr id="8" name="Text 6"/>
          <p:cNvSpPr/>
          <p:nvPr/>
        </p:nvSpPr>
        <p:spPr>
          <a:xfrm>
            <a:off x="777240" y="1938528"/>
            <a:ext cx="914400" cy="365760"/>
          </a:xfrm>
          <a:prstGeom prst="rect">
            <a:avLst/>
          </a:prstGeom>
          <a:noFill/>
          <a:ln/>
        </p:spPr>
        <p:txBody>
          <a:bodyPr wrap="square" lIns="0" tIns="0" rIns="0" bIns="0" rtlCol="0" anchor="ctr"/>
          <a:lstStyle/>
          <a:p>
            <a:pPr indent="0" marL="0">
              <a:buNone/>
            </a:pPr>
            <a:r>
              <a:rPr lang="en-US" sz="2200" b="1" dirty="0">
                <a:solidFill>
                  <a:srgbClr val="8C3A1E"/>
                </a:solidFill>
                <a:latin typeface="Cambria" pitchFamily="34" charset="0"/>
                <a:ea typeface="Cambria" pitchFamily="34" charset="-122"/>
                <a:cs typeface="Cambria" pitchFamily="34" charset="-120"/>
              </a:rPr>
              <a:t>01</a:t>
            </a:r>
            <a:endParaRPr lang="en-US" sz="2200" dirty="0"/>
          </a:p>
        </p:txBody>
      </p:sp>
      <p:sp>
        <p:nvSpPr>
          <p:cNvPr id="9" name="Text 7"/>
          <p:cNvSpPr/>
          <p:nvPr/>
        </p:nvSpPr>
        <p:spPr>
          <a:xfrm>
            <a:off x="777240" y="2359152"/>
            <a:ext cx="2487168" cy="274320"/>
          </a:xfrm>
          <a:prstGeom prst="rect">
            <a:avLst/>
          </a:prstGeom>
          <a:noFill/>
          <a:ln/>
        </p:spPr>
        <p:txBody>
          <a:bodyPr wrap="square" lIns="0" tIns="0" rIns="0" bIns="0" rtlCol="0" anchor="ctr"/>
          <a:lstStyle/>
          <a:p>
            <a:pPr indent="0" marL="0">
              <a:buNone/>
            </a:pPr>
            <a:r>
              <a:rPr lang="en-US" sz="1350" b="1" dirty="0">
                <a:solidFill>
                  <a:srgbClr val="1A1A1A"/>
                </a:solidFill>
                <a:latin typeface="Calibri" pitchFamily="34" charset="0"/>
                <a:ea typeface="Calibri" pitchFamily="34" charset="-122"/>
                <a:cs typeface="Calibri" pitchFamily="34" charset="-120"/>
              </a:rPr>
              <a:t>Source</a:t>
            </a:r>
            <a:endParaRPr lang="en-US" sz="1350" dirty="0"/>
          </a:p>
        </p:txBody>
      </p:sp>
      <p:sp>
        <p:nvSpPr>
          <p:cNvPr id="10" name="Text 8"/>
          <p:cNvSpPr/>
          <p:nvPr/>
        </p:nvSpPr>
        <p:spPr>
          <a:xfrm>
            <a:off x="777240" y="2670048"/>
            <a:ext cx="2395728" cy="1371600"/>
          </a:xfrm>
          <a:prstGeom prst="rect">
            <a:avLst/>
          </a:prstGeom>
          <a:noFill/>
          <a:ln/>
        </p:spPr>
        <p:txBody>
          <a:bodyPr wrap="square" lIns="0" tIns="0" rIns="0" bIns="0" rtlCol="0" anchor="ctr"/>
          <a:lstStyle/>
          <a:p>
            <a:pPr indent="0" marL="0">
              <a:lnSpc>
                <a:spcPts val="1600"/>
              </a:lnSpc>
              <a:buNone/>
            </a:pPr>
            <a:r>
              <a:rPr lang="en-US" sz="1150" dirty="0">
                <a:solidFill>
                  <a:srgbClr val="6E6E6E"/>
                </a:solidFill>
                <a:latin typeface="Calibri" pitchFamily="34" charset="0"/>
                <a:ea typeface="Calibri" pitchFamily="34" charset="-122"/>
                <a:cs typeface="Calibri" pitchFamily="34" charset="-120"/>
              </a:rPr>
              <a:t>PixelProse RedCaps supplies an image URL, an original human caption and a dense VLM caption. 1,290,861 records available; 20,000 sampled.</a:t>
            </a:r>
            <a:endParaRPr lang="en-US" sz="1150" dirty="0"/>
          </a:p>
        </p:txBody>
      </p:sp>
      <p:sp>
        <p:nvSpPr>
          <p:cNvPr id="11" name="Text 9"/>
          <p:cNvSpPr/>
          <p:nvPr/>
        </p:nvSpPr>
        <p:spPr>
          <a:xfrm>
            <a:off x="3209544" y="2331720"/>
            <a:ext cx="274320" cy="274320"/>
          </a:xfrm>
          <a:prstGeom prst="rect">
            <a:avLst/>
          </a:prstGeom>
          <a:noFill/>
          <a:ln/>
        </p:spPr>
        <p:txBody>
          <a:bodyPr wrap="square" lIns="0" tIns="0" rIns="0" bIns="0" rtlCol="0" anchor="ctr"/>
          <a:lstStyle/>
          <a:p>
            <a:pPr algn="ctr" indent="0" marL="0">
              <a:buNone/>
            </a:pPr>
            <a:r>
              <a:rPr lang="en-US" sz="1500" dirty="0">
                <a:solidFill>
                  <a:srgbClr val="9A9A9A"/>
                </a:solidFill>
                <a:latin typeface="Calibri" pitchFamily="34" charset="0"/>
                <a:ea typeface="Calibri" pitchFamily="34" charset="-122"/>
                <a:cs typeface="Calibri" pitchFamily="34" charset="-120"/>
              </a:rPr>
              <a:t>→</a:t>
            </a:r>
            <a:endParaRPr lang="en-US" sz="1500" dirty="0"/>
          </a:p>
        </p:txBody>
      </p:sp>
      <p:sp>
        <p:nvSpPr>
          <p:cNvPr id="12" name="Text 10"/>
          <p:cNvSpPr/>
          <p:nvPr/>
        </p:nvSpPr>
        <p:spPr>
          <a:xfrm>
            <a:off x="3493008" y="1938528"/>
            <a:ext cx="914400" cy="365760"/>
          </a:xfrm>
          <a:prstGeom prst="rect">
            <a:avLst/>
          </a:prstGeom>
          <a:noFill/>
          <a:ln/>
        </p:spPr>
        <p:txBody>
          <a:bodyPr wrap="square" lIns="0" tIns="0" rIns="0" bIns="0" rtlCol="0" anchor="ctr"/>
          <a:lstStyle/>
          <a:p>
            <a:pPr indent="0" marL="0">
              <a:buNone/>
            </a:pPr>
            <a:r>
              <a:rPr lang="en-US" sz="2200" b="1" dirty="0">
                <a:solidFill>
                  <a:srgbClr val="8C3A1E"/>
                </a:solidFill>
                <a:latin typeface="Cambria" pitchFamily="34" charset="0"/>
                <a:ea typeface="Cambria" pitchFamily="34" charset="-122"/>
                <a:cs typeface="Cambria" pitchFamily="34" charset="-120"/>
              </a:rPr>
              <a:t>02</a:t>
            </a:r>
            <a:endParaRPr lang="en-US" sz="2200" dirty="0"/>
          </a:p>
        </p:txBody>
      </p:sp>
      <p:sp>
        <p:nvSpPr>
          <p:cNvPr id="13" name="Text 11"/>
          <p:cNvSpPr/>
          <p:nvPr/>
        </p:nvSpPr>
        <p:spPr>
          <a:xfrm>
            <a:off x="3493008" y="2359152"/>
            <a:ext cx="2487168" cy="274320"/>
          </a:xfrm>
          <a:prstGeom prst="rect">
            <a:avLst/>
          </a:prstGeom>
          <a:noFill/>
          <a:ln/>
        </p:spPr>
        <p:txBody>
          <a:bodyPr wrap="square" lIns="0" tIns="0" rIns="0" bIns="0" rtlCol="0" anchor="ctr"/>
          <a:lstStyle/>
          <a:p>
            <a:pPr indent="0" marL="0">
              <a:buNone/>
            </a:pPr>
            <a:r>
              <a:rPr lang="en-US" sz="1350" b="1" dirty="0">
                <a:solidFill>
                  <a:srgbClr val="1A1A1A"/>
                </a:solidFill>
                <a:latin typeface="Calibri" pitchFamily="34" charset="0"/>
                <a:ea typeface="Calibri" pitchFamily="34" charset="-122"/>
                <a:cs typeface="Calibri" pitchFamily="34" charset="-120"/>
              </a:rPr>
              <a:t>Instruction</a:t>
            </a:r>
            <a:endParaRPr lang="en-US" sz="1350" dirty="0"/>
          </a:p>
        </p:txBody>
      </p:sp>
      <p:sp>
        <p:nvSpPr>
          <p:cNvPr id="14" name="Text 12"/>
          <p:cNvSpPr/>
          <p:nvPr/>
        </p:nvSpPr>
        <p:spPr>
          <a:xfrm>
            <a:off x="3493008" y="2670048"/>
            <a:ext cx="2395728" cy="1371600"/>
          </a:xfrm>
          <a:prstGeom prst="rect">
            <a:avLst/>
          </a:prstGeom>
          <a:noFill/>
          <a:ln/>
        </p:spPr>
        <p:txBody>
          <a:bodyPr wrap="square" lIns="0" tIns="0" rIns="0" bIns="0" rtlCol="0" anchor="ctr"/>
          <a:lstStyle/>
          <a:p>
            <a:pPr indent="0" marL="0">
              <a:lnSpc>
                <a:spcPts val="1600"/>
              </a:lnSpc>
              <a:buNone/>
            </a:pPr>
            <a:r>
              <a:rPr lang="en-US" sz="1150" dirty="0">
                <a:solidFill>
                  <a:srgbClr val="6E6E6E"/>
                </a:solidFill>
                <a:latin typeface="Calibri" pitchFamily="34" charset="0"/>
                <a:ea typeface="Calibri" pitchFamily="34" charset="-122"/>
                <a:cs typeface="Calibri" pitchFamily="34" charset="-120"/>
              </a:rPr>
              <a:t>A vision-language model reads the image with both captions and emits one concrete edit instruction, constrained to a tangible change to the primary subject.</a:t>
            </a:r>
            <a:endParaRPr lang="en-US" sz="1150" dirty="0"/>
          </a:p>
        </p:txBody>
      </p:sp>
      <p:sp>
        <p:nvSpPr>
          <p:cNvPr id="15" name="Text 13"/>
          <p:cNvSpPr/>
          <p:nvPr/>
        </p:nvSpPr>
        <p:spPr>
          <a:xfrm>
            <a:off x="5925312" y="2331720"/>
            <a:ext cx="274320" cy="274320"/>
          </a:xfrm>
          <a:prstGeom prst="rect">
            <a:avLst/>
          </a:prstGeom>
          <a:noFill/>
          <a:ln/>
        </p:spPr>
        <p:txBody>
          <a:bodyPr wrap="square" lIns="0" tIns="0" rIns="0" bIns="0" rtlCol="0" anchor="ctr"/>
          <a:lstStyle/>
          <a:p>
            <a:pPr algn="ctr" indent="0" marL="0">
              <a:buNone/>
            </a:pPr>
            <a:r>
              <a:rPr lang="en-US" sz="1500" dirty="0">
                <a:solidFill>
                  <a:srgbClr val="9A9A9A"/>
                </a:solidFill>
                <a:latin typeface="Calibri" pitchFamily="34" charset="0"/>
                <a:ea typeface="Calibri" pitchFamily="34" charset="-122"/>
                <a:cs typeface="Calibri" pitchFamily="34" charset="-120"/>
              </a:rPr>
              <a:t>→</a:t>
            </a:r>
            <a:endParaRPr lang="en-US" sz="1500" dirty="0"/>
          </a:p>
        </p:txBody>
      </p:sp>
      <p:sp>
        <p:nvSpPr>
          <p:cNvPr id="16" name="Text 14"/>
          <p:cNvSpPr/>
          <p:nvPr/>
        </p:nvSpPr>
        <p:spPr>
          <a:xfrm>
            <a:off x="6208776" y="1938528"/>
            <a:ext cx="914400" cy="365760"/>
          </a:xfrm>
          <a:prstGeom prst="rect">
            <a:avLst/>
          </a:prstGeom>
          <a:noFill/>
          <a:ln/>
        </p:spPr>
        <p:txBody>
          <a:bodyPr wrap="square" lIns="0" tIns="0" rIns="0" bIns="0" rtlCol="0" anchor="ctr"/>
          <a:lstStyle/>
          <a:p>
            <a:pPr indent="0" marL="0">
              <a:buNone/>
            </a:pPr>
            <a:r>
              <a:rPr lang="en-US" sz="2200" b="1" dirty="0">
                <a:solidFill>
                  <a:srgbClr val="8C3A1E"/>
                </a:solidFill>
                <a:latin typeface="Cambria" pitchFamily="34" charset="0"/>
                <a:ea typeface="Cambria" pitchFamily="34" charset="-122"/>
                <a:cs typeface="Cambria" pitchFamily="34" charset="-120"/>
              </a:rPr>
              <a:t>03</a:t>
            </a:r>
            <a:endParaRPr lang="en-US" sz="2200" dirty="0"/>
          </a:p>
        </p:txBody>
      </p:sp>
      <p:sp>
        <p:nvSpPr>
          <p:cNvPr id="17" name="Text 15"/>
          <p:cNvSpPr/>
          <p:nvPr/>
        </p:nvSpPr>
        <p:spPr>
          <a:xfrm>
            <a:off x="6208776" y="2359152"/>
            <a:ext cx="2487168" cy="274320"/>
          </a:xfrm>
          <a:prstGeom prst="rect">
            <a:avLst/>
          </a:prstGeom>
          <a:noFill/>
          <a:ln/>
        </p:spPr>
        <p:txBody>
          <a:bodyPr wrap="square" lIns="0" tIns="0" rIns="0" bIns="0" rtlCol="0" anchor="ctr"/>
          <a:lstStyle/>
          <a:p>
            <a:pPr indent="0" marL="0">
              <a:buNone/>
            </a:pPr>
            <a:r>
              <a:rPr lang="en-US" sz="1350" b="1" dirty="0">
                <a:solidFill>
                  <a:srgbClr val="1A1A1A"/>
                </a:solidFill>
                <a:latin typeface="Calibri" pitchFamily="34" charset="0"/>
                <a:ea typeface="Calibri" pitchFamily="34" charset="-122"/>
                <a:cs typeface="Calibri" pitchFamily="34" charset="-120"/>
              </a:rPr>
              <a:t>Edited image</a:t>
            </a:r>
            <a:endParaRPr lang="en-US" sz="1350" dirty="0"/>
          </a:p>
        </p:txBody>
      </p:sp>
      <p:sp>
        <p:nvSpPr>
          <p:cNvPr id="18" name="Text 16"/>
          <p:cNvSpPr/>
          <p:nvPr/>
        </p:nvSpPr>
        <p:spPr>
          <a:xfrm>
            <a:off x="6208776" y="2670048"/>
            <a:ext cx="2395728" cy="1371600"/>
          </a:xfrm>
          <a:prstGeom prst="rect">
            <a:avLst/>
          </a:prstGeom>
          <a:noFill/>
          <a:ln/>
        </p:spPr>
        <p:txBody>
          <a:bodyPr wrap="square" lIns="0" tIns="0" rIns="0" bIns="0" rtlCol="0" anchor="ctr"/>
          <a:lstStyle/>
          <a:p>
            <a:pPr indent="0" marL="0">
              <a:lnSpc>
                <a:spcPts val="1600"/>
              </a:lnSpc>
              <a:buNone/>
            </a:pPr>
            <a:r>
              <a:rPr lang="en-US" sz="1150" dirty="0">
                <a:solidFill>
                  <a:srgbClr val="6E6E6E"/>
                </a:solidFill>
                <a:latin typeface="Calibri" pitchFamily="34" charset="0"/>
                <a:ea typeface="Calibri" pitchFamily="34" charset="-122"/>
                <a:cs typeface="Calibri" pitchFamily="34" charset="-120"/>
              </a:rPr>
              <a:t>An instruction-following diffusion editor applies it. InstructPix2Pix and FLUX.1 Kontext are both implemented; both run locally with batching.</a:t>
            </a:r>
            <a:endParaRPr lang="en-US" sz="1150" dirty="0"/>
          </a:p>
        </p:txBody>
      </p:sp>
      <p:sp>
        <p:nvSpPr>
          <p:cNvPr id="19" name="Text 17"/>
          <p:cNvSpPr/>
          <p:nvPr/>
        </p:nvSpPr>
        <p:spPr>
          <a:xfrm>
            <a:off x="8641080" y="2331720"/>
            <a:ext cx="274320" cy="274320"/>
          </a:xfrm>
          <a:prstGeom prst="rect">
            <a:avLst/>
          </a:prstGeom>
          <a:noFill/>
          <a:ln/>
        </p:spPr>
        <p:txBody>
          <a:bodyPr wrap="square" lIns="0" tIns="0" rIns="0" bIns="0" rtlCol="0" anchor="ctr"/>
          <a:lstStyle/>
          <a:p>
            <a:pPr algn="ctr" indent="0" marL="0">
              <a:buNone/>
            </a:pPr>
            <a:r>
              <a:rPr lang="en-US" sz="1500" dirty="0">
                <a:solidFill>
                  <a:srgbClr val="9A9A9A"/>
                </a:solidFill>
                <a:latin typeface="Calibri" pitchFamily="34" charset="0"/>
                <a:ea typeface="Calibri" pitchFamily="34" charset="-122"/>
                <a:cs typeface="Calibri" pitchFamily="34" charset="-120"/>
              </a:rPr>
              <a:t>→</a:t>
            </a:r>
            <a:endParaRPr lang="en-US" sz="1500" dirty="0"/>
          </a:p>
        </p:txBody>
      </p:sp>
      <p:sp>
        <p:nvSpPr>
          <p:cNvPr id="20" name="Text 18"/>
          <p:cNvSpPr/>
          <p:nvPr/>
        </p:nvSpPr>
        <p:spPr>
          <a:xfrm>
            <a:off x="8924544" y="1938528"/>
            <a:ext cx="914400" cy="365760"/>
          </a:xfrm>
          <a:prstGeom prst="rect">
            <a:avLst/>
          </a:prstGeom>
          <a:noFill/>
          <a:ln/>
        </p:spPr>
        <p:txBody>
          <a:bodyPr wrap="square" lIns="0" tIns="0" rIns="0" bIns="0" rtlCol="0" anchor="ctr"/>
          <a:lstStyle/>
          <a:p>
            <a:pPr indent="0" marL="0">
              <a:buNone/>
            </a:pPr>
            <a:r>
              <a:rPr lang="en-US" sz="2200" b="1" dirty="0">
                <a:solidFill>
                  <a:srgbClr val="8C3A1E"/>
                </a:solidFill>
                <a:latin typeface="Cambria" pitchFamily="34" charset="0"/>
                <a:ea typeface="Cambria" pitchFamily="34" charset="-122"/>
                <a:cs typeface="Cambria" pitchFamily="34" charset="-120"/>
              </a:rPr>
              <a:t>04</a:t>
            </a:r>
            <a:endParaRPr lang="en-US" sz="2200" dirty="0"/>
          </a:p>
        </p:txBody>
      </p:sp>
      <p:sp>
        <p:nvSpPr>
          <p:cNvPr id="21" name="Text 19"/>
          <p:cNvSpPr/>
          <p:nvPr/>
        </p:nvSpPr>
        <p:spPr>
          <a:xfrm>
            <a:off x="8924544" y="2359152"/>
            <a:ext cx="2487168" cy="274320"/>
          </a:xfrm>
          <a:prstGeom prst="rect">
            <a:avLst/>
          </a:prstGeom>
          <a:noFill/>
          <a:ln/>
        </p:spPr>
        <p:txBody>
          <a:bodyPr wrap="square" lIns="0" tIns="0" rIns="0" bIns="0" rtlCol="0" anchor="ctr"/>
          <a:lstStyle/>
          <a:p>
            <a:pPr indent="0" marL="0">
              <a:buNone/>
            </a:pPr>
            <a:r>
              <a:rPr lang="en-US" sz="1350" b="1" dirty="0">
                <a:solidFill>
                  <a:srgbClr val="1A1A1A"/>
                </a:solidFill>
                <a:latin typeface="Calibri" pitchFamily="34" charset="0"/>
                <a:ea typeface="Calibri" pitchFamily="34" charset="-122"/>
                <a:cs typeface="Calibri" pitchFamily="34" charset="-120"/>
              </a:rPr>
              <a:t>Edit mask</a:t>
            </a:r>
            <a:endParaRPr lang="en-US" sz="1350" dirty="0"/>
          </a:p>
        </p:txBody>
      </p:sp>
      <p:sp>
        <p:nvSpPr>
          <p:cNvPr id="22" name="Text 20"/>
          <p:cNvSpPr/>
          <p:nvPr/>
        </p:nvSpPr>
        <p:spPr>
          <a:xfrm>
            <a:off x="8924544" y="2670048"/>
            <a:ext cx="2395728" cy="1371600"/>
          </a:xfrm>
          <a:prstGeom prst="rect">
            <a:avLst/>
          </a:prstGeom>
          <a:noFill/>
          <a:ln/>
        </p:spPr>
        <p:txBody>
          <a:bodyPr wrap="square" lIns="0" tIns="0" rIns="0" bIns="0" rtlCol="0" anchor="ctr"/>
          <a:lstStyle/>
          <a:p>
            <a:pPr indent="0" marL="0">
              <a:lnSpc>
                <a:spcPts val="1600"/>
              </a:lnSpc>
              <a:buNone/>
            </a:pPr>
            <a:r>
              <a:rPr lang="en-US" sz="1150" dirty="0">
                <a:solidFill>
                  <a:srgbClr val="6E6E6E"/>
                </a:solidFill>
                <a:latin typeface="Calibri" pitchFamily="34" charset="0"/>
                <a:ea typeface="Calibri" pitchFamily="34" charset="-122"/>
                <a:cs typeface="Calibri" pitchFamily="34" charset="-120"/>
              </a:rPr>
              <a:t>The mask is recovered from the perceptual difference between the original and the edited image, then cleaned morphologically.</a:t>
            </a:r>
            <a:endParaRPr lang="en-US" sz="1150" dirty="0"/>
          </a:p>
        </p:txBody>
      </p:sp>
      <p:sp>
        <p:nvSpPr>
          <p:cNvPr id="23" name="Shape 21"/>
          <p:cNvSpPr/>
          <p:nvPr/>
        </p:nvSpPr>
        <p:spPr>
          <a:xfrm>
            <a:off x="777240" y="4206240"/>
            <a:ext cx="10637215" cy="7315"/>
          </a:xfrm>
          <a:prstGeom prst="rect">
            <a:avLst/>
          </a:prstGeom>
          <a:solidFill>
            <a:srgbClr val="DEDCD7"/>
          </a:solidFill>
          <a:ln/>
        </p:spPr>
      </p:sp>
      <p:sp>
        <p:nvSpPr>
          <p:cNvPr id="24" name="Text 22"/>
          <p:cNvSpPr/>
          <p:nvPr/>
        </p:nvSpPr>
        <p:spPr>
          <a:xfrm>
            <a:off x="777240" y="4407408"/>
            <a:ext cx="4572000" cy="237744"/>
          </a:xfrm>
          <a:prstGeom prst="rect">
            <a:avLst/>
          </a:prstGeom>
          <a:noFill/>
          <a:ln/>
        </p:spPr>
        <p:txBody>
          <a:bodyPr wrap="square" lIns="0" tIns="0" rIns="0" bIns="0" rtlCol="0" anchor="ctr"/>
          <a:lstStyle/>
          <a:p>
            <a:pPr indent="0" marL="0">
              <a:buNone/>
            </a:pPr>
            <a:r>
              <a:rPr lang="en-US" sz="1350" b="1" dirty="0">
                <a:solidFill>
                  <a:srgbClr val="1A1A1A"/>
                </a:solidFill>
                <a:latin typeface="Calibri" pitchFamily="34" charset="0"/>
                <a:ea typeface="Calibri" pitchFamily="34" charset="-122"/>
                <a:cs typeface="Calibri" pitchFamily="34" charset="-120"/>
              </a:rPr>
              <a:t>Filtering</a:t>
            </a:r>
            <a:endParaRPr lang="en-US" sz="1350" dirty="0"/>
          </a:p>
        </p:txBody>
      </p:sp>
      <p:sp>
        <p:nvSpPr>
          <p:cNvPr id="25" name="Text 23"/>
          <p:cNvSpPr/>
          <p:nvPr/>
        </p:nvSpPr>
        <p:spPr>
          <a:xfrm>
            <a:off x="777240" y="4700016"/>
            <a:ext cx="5029200" cy="1005840"/>
          </a:xfrm>
          <a:prstGeom prst="rect">
            <a:avLst/>
          </a:prstGeom>
          <a:noFill/>
          <a:ln/>
        </p:spPr>
        <p:txBody>
          <a:bodyPr wrap="square" lIns="0" tIns="0" rIns="0" bIns="0" rtlCol="0" anchor="ctr"/>
          <a:lstStyle/>
          <a:p>
            <a:pPr indent="0" marL="0">
              <a:lnSpc>
                <a:spcPts val="1700"/>
              </a:lnSpc>
              <a:buNone/>
            </a:pPr>
            <a:r>
              <a:rPr lang="en-US" sz="1200" dirty="0">
                <a:solidFill>
                  <a:srgbClr val="6E6E6E"/>
                </a:solidFill>
                <a:latin typeface="Calibri" pitchFamily="34" charset="0"/>
                <a:ea typeface="Calibri" pitchFamily="34" charset="-122"/>
                <a:cs typeface="Calibri" pitchFamily="34" charset="-120"/>
              </a:rPr>
              <a:t>Records are dropped when the recovered mask is degenerate. A near-empty mask means the editor ignored the instruction; a near-full mask means it applied a global style change instead of a local edit. Neither provides a usable localization target. Connected components below 40 pixels are removed as generation noise.</a:t>
            </a:r>
            <a:endParaRPr lang="en-US" sz="1200" dirty="0"/>
          </a:p>
        </p:txBody>
      </p:sp>
      <p:sp>
        <p:nvSpPr>
          <p:cNvPr id="26" name="Text 24"/>
          <p:cNvSpPr/>
          <p:nvPr/>
        </p:nvSpPr>
        <p:spPr>
          <a:xfrm>
            <a:off x="6355080" y="4407408"/>
            <a:ext cx="4572000" cy="237744"/>
          </a:xfrm>
          <a:prstGeom prst="rect">
            <a:avLst/>
          </a:prstGeom>
          <a:noFill/>
          <a:ln/>
        </p:spPr>
        <p:txBody>
          <a:bodyPr wrap="square" lIns="0" tIns="0" rIns="0" bIns="0" rtlCol="0" anchor="ctr"/>
          <a:lstStyle/>
          <a:p>
            <a:pPr indent="0" marL="0">
              <a:buNone/>
            </a:pPr>
            <a:r>
              <a:rPr lang="en-US" sz="1350" b="1" dirty="0">
                <a:solidFill>
                  <a:srgbClr val="1A1A1A"/>
                </a:solidFill>
                <a:latin typeface="Calibri" pitchFamily="34" charset="0"/>
                <a:ea typeface="Calibri" pitchFamily="34" charset="-122"/>
                <a:cs typeface="Calibri" pitchFamily="34" charset="-120"/>
              </a:rPr>
              <a:t>Implementation status</a:t>
            </a:r>
            <a:endParaRPr lang="en-US" sz="1350" dirty="0"/>
          </a:p>
        </p:txBody>
      </p:sp>
      <p:sp>
        <p:nvSpPr>
          <p:cNvPr id="27" name="Text 25"/>
          <p:cNvSpPr/>
          <p:nvPr/>
        </p:nvSpPr>
        <p:spPr>
          <a:xfrm>
            <a:off x="6355080" y="4700016"/>
            <a:ext cx="5029200" cy="1005840"/>
          </a:xfrm>
          <a:prstGeom prst="rect">
            <a:avLst/>
          </a:prstGeom>
          <a:noFill/>
          <a:ln/>
        </p:spPr>
        <p:txBody>
          <a:bodyPr wrap="square" lIns="0" tIns="0" rIns="0" bIns="0" rtlCol="0" anchor="ctr"/>
          <a:lstStyle/>
          <a:p>
            <a:pPr indent="0" marL="0">
              <a:lnSpc>
                <a:spcPts val="1700"/>
              </a:lnSpc>
              <a:buNone/>
            </a:pPr>
            <a:r>
              <a:rPr lang="en-US" sz="1200" dirty="0">
                <a:solidFill>
                  <a:srgbClr val="6E6E6E"/>
                </a:solidFill>
                <a:latin typeface="Calibri" pitchFamily="34" charset="0"/>
                <a:ea typeface="Calibri" pitchFamily="34" charset="-122"/>
                <a:cs typeface="Calibri" pitchFamily="34" charset="-120"/>
              </a:rPr>
              <a:t>All four stages are implemented and running. Instruction generation is asynchronous, batched and resumable, keyed by a hash of the source URL, so an interrupted run costs nothing. Edit generation is driven over a WebSocket against a local ComfyUI server.</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420624"/>
            <a:ext cx="8229600" cy="219456"/>
          </a:xfrm>
          <a:prstGeom prst="rect">
            <a:avLst/>
          </a:prstGeom>
          <a:noFill/>
          <a:ln/>
        </p:spPr>
        <p:txBody>
          <a:bodyPr wrap="square" lIns="0" tIns="0" rIns="0" bIns="0" rtlCol="0" anchor="ctr"/>
          <a:lstStyle/>
          <a:p>
            <a:pPr indent="0" marL="0">
              <a:buNone/>
            </a:pPr>
            <a:r>
              <a:rPr lang="en-US" sz="1050" b="1" spc="220" kern="0" dirty="0">
                <a:solidFill>
                  <a:srgbClr val="8C3A1E"/>
                </a:solidFill>
                <a:latin typeface="Calibri" pitchFamily="34" charset="0"/>
                <a:ea typeface="Calibri" pitchFamily="34" charset="-122"/>
                <a:cs typeface="Calibri" pitchFamily="34" charset="-120"/>
              </a:rPr>
              <a:t>DATASET  ·  3 OF 3</a:t>
            </a:r>
            <a:endParaRPr lang="en-US" sz="1050" dirty="0"/>
          </a:p>
        </p:txBody>
      </p:sp>
      <p:sp>
        <p:nvSpPr>
          <p:cNvPr id="3" name="Text 1"/>
          <p:cNvSpPr/>
          <p:nvPr/>
        </p:nvSpPr>
        <p:spPr>
          <a:xfrm>
            <a:off x="777240" y="694944"/>
            <a:ext cx="10637215" cy="603504"/>
          </a:xfrm>
          <a:prstGeom prst="rect">
            <a:avLst/>
          </a:prstGeom>
          <a:noFill/>
          <a:ln/>
        </p:spPr>
        <p:txBody>
          <a:bodyPr wrap="square" lIns="0" tIns="0" rIns="0" bIns="0" rtlCol="0" anchor="ctr"/>
          <a:lstStyle/>
          <a:p>
            <a:pPr indent="0" marL="0">
              <a:buNone/>
            </a:pPr>
            <a:r>
              <a:rPr lang="en-US" sz="3100" b="1" dirty="0">
                <a:solidFill>
                  <a:srgbClr val="1A1A1A"/>
                </a:solidFill>
                <a:latin typeface="Cambria" pitchFamily="34" charset="0"/>
                <a:ea typeface="Cambria" pitchFamily="34" charset="-122"/>
                <a:cs typeface="Cambria" pitchFamily="34" charset="-120"/>
              </a:rPr>
              <a:t>Recovering the ground-truth mask</a:t>
            </a:r>
            <a:endParaRPr lang="en-US" sz="3100" dirty="0"/>
          </a:p>
        </p:txBody>
      </p:sp>
      <p:sp>
        <p:nvSpPr>
          <p:cNvPr id="4" name="Text 2"/>
          <p:cNvSpPr/>
          <p:nvPr/>
        </p:nvSpPr>
        <p:spPr>
          <a:xfrm>
            <a:off x="777240" y="1335024"/>
            <a:ext cx="10637215" cy="347472"/>
          </a:xfrm>
          <a:prstGeom prst="rect">
            <a:avLst/>
          </a:prstGeom>
          <a:noFill/>
          <a:ln/>
        </p:spPr>
        <p:txBody>
          <a:bodyPr wrap="square" lIns="0" tIns="0" rIns="0" bIns="0" rtlCol="0" anchor="ctr"/>
          <a:lstStyle/>
          <a:p>
            <a:pPr indent="0" marL="0">
              <a:buNone/>
            </a:pPr>
            <a:r>
              <a:rPr lang="en-US" sz="1400" dirty="0">
                <a:solidFill>
                  <a:srgbClr val="6E6E6E"/>
                </a:solidFill>
                <a:latin typeface="Calibri" pitchFamily="34" charset="0"/>
                <a:ea typeface="Calibri" pitchFamily="34" charset="-122"/>
                <a:cs typeface="Calibri" pitchFamily="34" charset="-120"/>
              </a:rPr>
              <a:t>Perceptual differencing in L*a*b*, and how the threshold was chosen.</a:t>
            </a:r>
            <a:endParaRPr lang="en-US" sz="1400" dirty="0"/>
          </a:p>
        </p:txBody>
      </p:sp>
      <p:sp>
        <p:nvSpPr>
          <p:cNvPr id="5" name="Shape 3"/>
          <p:cNvSpPr/>
          <p:nvPr/>
        </p:nvSpPr>
        <p:spPr>
          <a:xfrm>
            <a:off x="777240" y="6291072"/>
            <a:ext cx="10637215" cy="7315"/>
          </a:xfrm>
          <a:prstGeom prst="rect">
            <a:avLst/>
          </a:prstGeom>
          <a:solidFill>
            <a:srgbClr val="DEDCD7"/>
          </a:solidFill>
          <a:ln/>
        </p:spPr>
      </p:sp>
      <p:sp>
        <p:nvSpPr>
          <p:cNvPr id="6" name="Text 4"/>
          <p:cNvSpPr/>
          <p:nvPr/>
        </p:nvSpPr>
        <p:spPr>
          <a:xfrm>
            <a:off x="777240" y="6382512"/>
            <a:ext cx="7315200" cy="256032"/>
          </a:xfrm>
          <a:prstGeom prst="rect">
            <a:avLst/>
          </a:prstGeom>
          <a:noFill/>
          <a:ln/>
        </p:spPr>
        <p:txBody>
          <a:bodyPr wrap="square" lIns="0" tIns="0" rIns="0" bIns="0" rtlCol="0" anchor="ctr"/>
          <a:lstStyle/>
          <a:p>
            <a:pPr indent="0" marL="0">
              <a:buNone/>
            </a:pPr>
            <a:r>
              <a:rPr lang="en-US" sz="900" dirty="0">
                <a:solidFill>
                  <a:srgbClr val="9A9A9A"/>
                </a:solidFill>
                <a:latin typeface="Calibri" pitchFamily="34" charset="0"/>
                <a:ea typeface="Calibri" pitchFamily="34" charset="-122"/>
                <a:cs typeface="Calibri" pitchFamily="34" charset="-120"/>
              </a:rPr>
              <a:t>Instruct-Seg-Edit  ·  Foundations of Data Science  ·  Review 1</a:t>
            </a:r>
            <a:endParaRPr lang="en-US" sz="900" dirty="0"/>
          </a:p>
        </p:txBody>
      </p:sp>
      <p:sp>
        <p:nvSpPr>
          <p:cNvPr id="7" name="Text 5"/>
          <p:cNvSpPr/>
          <p:nvPr/>
        </p:nvSpPr>
        <p:spPr>
          <a:xfrm>
            <a:off x="10865815" y="6382512"/>
            <a:ext cx="548640" cy="256032"/>
          </a:xfrm>
          <a:prstGeom prst="rect">
            <a:avLst/>
          </a:prstGeom>
          <a:noFill/>
          <a:ln/>
        </p:spPr>
        <p:txBody>
          <a:bodyPr wrap="square" lIns="0" tIns="0" rIns="0" bIns="0" rtlCol="0" anchor="ctr"/>
          <a:lstStyle/>
          <a:p>
            <a:pPr algn="r" indent="0" marL="0">
              <a:buNone/>
            </a:pPr>
            <a:r>
              <a:rPr lang="en-US" sz="900" dirty="0">
                <a:solidFill>
                  <a:srgbClr val="9A9A9A"/>
                </a:solidFill>
                <a:latin typeface="Calibri" pitchFamily="34" charset="0"/>
                <a:ea typeface="Calibri" pitchFamily="34" charset="-122"/>
                <a:cs typeface="Calibri" pitchFamily="34" charset="-120"/>
              </a:rPr>
              <a:t>16</a:t>
            </a:r>
            <a:endParaRPr lang="en-US" sz="900" dirty="0"/>
          </a:p>
        </p:txBody>
      </p:sp>
      <p:sp>
        <p:nvSpPr>
          <p:cNvPr id="8" name="Text 6"/>
          <p:cNvSpPr/>
          <p:nvPr/>
        </p:nvSpPr>
        <p:spPr>
          <a:xfrm>
            <a:off x="777240" y="1901952"/>
            <a:ext cx="4937760" cy="237744"/>
          </a:xfrm>
          <a:prstGeom prst="rect">
            <a:avLst/>
          </a:prstGeom>
          <a:noFill/>
          <a:ln/>
        </p:spPr>
        <p:txBody>
          <a:bodyPr wrap="square" lIns="0" tIns="0" rIns="0" bIns="0" rtlCol="0" anchor="ctr"/>
          <a:lstStyle/>
          <a:p>
            <a:pPr indent="0" marL="0">
              <a:buNone/>
            </a:pPr>
            <a:r>
              <a:rPr lang="en-US" sz="1350" b="1" dirty="0">
                <a:solidFill>
                  <a:srgbClr val="1A1A1A"/>
                </a:solidFill>
                <a:latin typeface="Calibri" pitchFamily="34" charset="0"/>
                <a:ea typeface="Calibri" pitchFamily="34" charset="-122"/>
                <a:cs typeface="Calibri" pitchFamily="34" charset="-120"/>
              </a:rPr>
              <a:t>Why not a grayscale difference</a:t>
            </a:r>
            <a:endParaRPr lang="en-US" sz="1350" dirty="0"/>
          </a:p>
        </p:txBody>
      </p:sp>
      <p:sp>
        <p:nvSpPr>
          <p:cNvPr id="9" name="Text 7"/>
          <p:cNvSpPr/>
          <p:nvPr/>
        </p:nvSpPr>
        <p:spPr>
          <a:xfrm>
            <a:off x="777240" y="2194560"/>
            <a:ext cx="4937760" cy="1371600"/>
          </a:xfrm>
          <a:prstGeom prst="rect">
            <a:avLst/>
          </a:prstGeom>
          <a:noFill/>
          <a:ln/>
        </p:spPr>
        <p:txBody>
          <a:bodyPr wrap="square" lIns="0" tIns="0" rIns="0" bIns="0" rtlCol="0" anchor="ctr"/>
          <a:lstStyle/>
          <a:p>
            <a:pPr indent="0" marL="0">
              <a:lnSpc>
                <a:spcPts val="1600"/>
              </a:lnSpc>
              <a:buNone/>
            </a:pPr>
            <a:r>
              <a:rPr lang="en-US" sz="1150" dirty="0">
                <a:solidFill>
                  <a:srgbClr val="6E6E6E"/>
                </a:solidFill>
                <a:latin typeface="Calibri" pitchFamily="34" charset="0"/>
                <a:ea typeface="Calibri" pitchFamily="34" charset="-122"/>
                <a:cs typeface="Calibri" pitchFamily="34" charset="-120"/>
              </a:rPr>
              <a:t>Grayscale discards hue, so an edit that changes colour at near-constant luminance produces almost no signal. Such records then look identical to “the editor ignored the instruction” and are removed by the degenerate filter — so colour edits would leave the dataset silently, and the corpus is dominated by colour descriptors.</a:t>
            </a:r>
            <a:endParaRPr lang="en-US" sz="115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777240" y="3529584"/>
          <a:ext cx="4937760" cy="914400"/>
        </p:xfrm>
        <a:graphic>
          <a:graphicData uri="http://schemas.openxmlformats.org/drawingml/2006/table">
            <a:tbl>
              <a:tblPr/>
              <a:tblGrid>
                <a:gridCol w="2286000"/>
                <a:gridCol w="1417320"/>
                <a:gridCol w="1234440"/>
              </a:tblGrid>
              <a:tr h="274320">
                <a:tc>
                  <a:txBody>
                    <a:bodyPr/>
                    <a:lstStyle/>
                    <a:p>
                      <a:pPr indent="0" marL="0">
                        <a:buNone/>
                      </a:pPr>
                      <a:r>
                        <a:rPr lang="en-US" sz="1050" b="1" dirty="0">
                          <a:solidFill>
                            <a:srgbClr val="1A1A1A"/>
                          </a:solidFill>
                          <a:latin typeface="Calibri" pitchFamily="34" charset="0"/>
                          <a:ea typeface="Calibri" pitchFamily="34" charset="-122"/>
                          <a:cs typeface="Calibri" pitchFamily="34" charset="-120"/>
                        </a:rPr>
                        <a:t>Edit</a:t>
                      </a:r>
                      <a:endParaRPr lang="en-US" sz="105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6F5F2"/>
                    </a:solidFill>
                  </a:tcPr>
                </a:tc>
                <a:tc>
                  <a:txBody>
                    <a:bodyPr/>
                    <a:lstStyle/>
                    <a:p>
                      <a:pPr indent="0" marL="0">
                        <a:buNone/>
                      </a:pPr>
                      <a:r>
                        <a:rPr lang="en-US" sz="1050" b="1" dirty="0">
                          <a:solidFill>
                            <a:srgbClr val="1A1A1A"/>
                          </a:solidFill>
                          <a:latin typeface="Calibri" pitchFamily="34" charset="0"/>
                          <a:ea typeface="Calibri" pitchFamily="34" charset="-122"/>
                          <a:cs typeface="Calibri" pitchFamily="34" charset="-120"/>
                        </a:rPr>
                        <a:t>Grayscale Δ</a:t>
                      </a:r>
                      <a:endParaRPr lang="en-US" sz="105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6F5F2"/>
                    </a:solidFill>
                  </a:tcPr>
                </a:tc>
                <a:tc>
                  <a:txBody>
                    <a:bodyPr/>
                    <a:lstStyle/>
                    <a:p>
                      <a:pPr indent="0" marL="0">
                        <a:buNone/>
                      </a:pPr>
                      <a:r>
                        <a:rPr lang="en-US" sz="1050" b="1" dirty="0">
                          <a:solidFill>
                            <a:srgbClr val="1A1A1A"/>
                          </a:solidFill>
                          <a:latin typeface="Calibri" pitchFamily="34" charset="0"/>
                          <a:ea typeface="Calibri" pitchFamily="34" charset="-122"/>
                          <a:cs typeface="Calibri" pitchFamily="34" charset="-120"/>
                        </a:rPr>
                        <a:t>ΔE in L*a*b*</a:t>
                      </a:r>
                      <a:endParaRPr lang="en-US" sz="105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6F5F2"/>
                    </a:solidFill>
                  </a:tcPr>
                </a:tc>
              </a:tr>
              <a:tr h="274320">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Mid red → mid blue</a:t>
                      </a:r>
                      <a:endParaRPr lang="en-US" sz="105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26   (missed)</a:t>
                      </a:r>
                      <a:endParaRPr lang="en-US" sz="105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105</a:t>
                      </a:r>
                      <a:endParaRPr lang="en-US" sz="105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r>
              <a:tr h="274320">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Dark navy → dark maroon</a:t>
                      </a:r>
                      <a:endParaRPr lang="en-US" sz="105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19   (missed)</a:t>
                      </a:r>
                      <a:endParaRPr lang="en-US" sz="105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84</a:t>
                      </a:r>
                      <a:endParaRPr lang="en-US" sz="105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r>
              <a:tr h="274320">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Saturated red → blue</a:t>
                      </a:r>
                      <a:endParaRPr lang="en-US" sz="105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47</a:t>
                      </a:r>
                      <a:endParaRPr lang="en-US" sz="105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176</a:t>
                      </a:r>
                      <a:endParaRPr lang="en-US" sz="105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r>
              <a:tr h="274320">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Add a dark hat  (control)</a:t>
                      </a:r>
                      <a:endParaRPr lang="en-US" sz="105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130</a:t>
                      </a:r>
                      <a:endParaRPr lang="en-US" sz="105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56</a:t>
                      </a:r>
                      <a:endParaRPr lang="en-US" sz="105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r>
            </a:tbl>
          </a:graphicData>
        </a:graphic>
      </p:graphicFrame>
      <p:sp>
        <p:nvSpPr>
          <p:cNvPr id="11" name="Text 8"/>
          <p:cNvSpPr/>
          <p:nvPr/>
        </p:nvSpPr>
        <p:spPr>
          <a:xfrm>
            <a:off x="6355080" y="1901952"/>
            <a:ext cx="5029200" cy="237744"/>
          </a:xfrm>
          <a:prstGeom prst="rect">
            <a:avLst/>
          </a:prstGeom>
          <a:noFill/>
          <a:ln/>
        </p:spPr>
        <p:txBody>
          <a:bodyPr wrap="square" lIns="0" tIns="0" rIns="0" bIns="0" rtlCol="0" anchor="ctr"/>
          <a:lstStyle/>
          <a:p>
            <a:pPr indent="0" marL="0">
              <a:buNone/>
            </a:pPr>
            <a:r>
              <a:rPr lang="en-US" sz="1350" b="1" dirty="0">
                <a:solidFill>
                  <a:srgbClr val="1A1A1A"/>
                </a:solidFill>
                <a:latin typeface="Calibri" pitchFamily="34" charset="0"/>
                <a:ea typeface="Calibri" pitchFamily="34" charset="-122"/>
                <a:cs typeface="Calibri" pitchFamily="34" charset="-120"/>
              </a:rPr>
              <a:t>Choosing the threshold</a:t>
            </a:r>
            <a:endParaRPr lang="en-US" sz="1350" dirty="0"/>
          </a:p>
        </p:txBody>
      </p:sp>
      <p:sp>
        <p:nvSpPr>
          <p:cNvPr id="12" name="Text 9"/>
          <p:cNvSpPr/>
          <p:nvPr/>
        </p:nvSpPr>
        <p:spPr>
          <a:xfrm>
            <a:off x="6355080" y="2194560"/>
            <a:ext cx="5029200" cy="1371600"/>
          </a:xfrm>
          <a:prstGeom prst="rect">
            <a:avLst/>
          </a:prstGeom>
          <a:noFill/>
          <a:ln/>
        </p:spPr>
        <p:txBody>
          <a:bodyPr wrap="square" lIns="0" tIns="0" rIns="0" bIns="0" rtlCol="0" anchor="ctr"/>
          <a:lstStyle/>
          <a:p>
            <a:pPr indent="0" marL="0">
              <a:lnSpc>
                <a:spcPts val="1600"/>
              </a:lnSpc>
              <a:buNone/>
            </a:pPr>
            <a:r>
              <a:rPr lang="en-US" sz="1150" dirty="0">
                <a:solidFill>
                  <a:srgbClr val="6E6E6E"/>
                </a:solidFill>
                <a:latin typeface="Calibri" pitchFamily="34" charset="0"/>
                <a:ea typeface="Calibri" pitchFamily="34" charset="-122"/>
                <a:cs typeface="Calibri" pitchFamily="34" charset="-120"/>
              </a:rPr>
              <a:t>Diffusion editors redraw the entire frame, so every pixel differs slightly and the threshold's real job is rejecting that background. It was selected against simulated regeneration noise on a pair whose true edit region is 3.39% of the frame. Anything above that figure is false positive.</a:t>
            </a:r>
            <a:endParaRPr lang="en-US" sz="1150" dirty="0"/>
          </a:p>
        </p:txBody>
      </p:sp>
      <p:graphicFrame>
        <p:nvGraphicFramePr>
          <p:cNvPr id="33" name="Table 1"/>
          <p:cNvGraphicFramePr>
            <a:graphicFrameLocks noGrp="1"/>
          </p:cNvGraphicFramePr>
          <p:nvPr>
            <p:extLst>
              <p:ext uri="{D42A27DB-BD31-4B8C-83A1-F6EECF244321}">
                <p14:modId xmlns:p14="http://schemas.microsoft.com/office/powerpoint/2010/main" val="1579011935"/>
              </p:ext>
            </p:extLst>
          </p:nvPr>
        </p:nvGraphicFramePr>
        <p:xfrm>
          <a:off x="6355080" y="3529584"/>
          <a:ext cx="5029200" cy="914400"/>
        </p:xfrm>
        <a:graphic>
          <a:graphicData uri="http://schemas.openxmlformats.org/drawingml/2006/table">
            <a:tbl>
              <a:tblPr/>
              <a:tblGrid>
                <a:gridCol w="640080"/>
                <a:gridCol w="1463040"/>
                <a:gridCol w="1463040"/>
                <a:gridCol w="1463040"/>
              </a:tblGrid>
              <a:tr h="274320">
                <a:tc>
                  <a:txBody>
                    <a:bodyPr/>
                    <a:lstStyle/>
                    <a:p>
                      <a:pPr indent="0" marL="0">
                        <a:buNone/>
                      </a:pPr>
                      <a:r>
                        <a:rPr lang="en-US" sz="1050" b="1" dirty="0">
                          <a:solidFill>
                            <a:srgbClr val="1A1A1A"/>
                          </a:solidFill>
                          <a:latin typeface="Calibri" pitchFamily="34" charset="0"/>
                          <a:ea typeface="Calibri" pitchFamily="34" charset="-122"/>
                          <a:cs typeface="Calibri" pitchFamily="34" charset="-120"/>
                        </a:rPr>
                        <a:t>σ</a:t>
                      </a:r>
                      <a:endParaRPr lang="en-US" sz="105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6F5F2"/>
                    </a:solidFill>
                  </a:tcPr>
                </a:tc>
                <a:tc>
                  <a:txBody>
                    <a:bodyPr/>
                    <a:lstStyle/>
                    <a:p>
                      <a:pPr indent="0" marL="0">
                        <a:buNone/>
                      </a:pPr>
                      <a:r>
                        <a:rPr lang="en-US" sz="1050" b="1" dirty="0">
                          <a:solidFill>
                            <a:srgbClr val="1A1A1A"/>
                          </a:solidFill>
                          <a:latin typeface="Calibri" pitchFamily="34" charset="0"/>
                          <a:ea typeface="Calibri" pitchFamily="34" charset="-122"/>
                          <a:cs typeface="Calibri" pitchFamily="34" charset="-120"/>
                        </a:rPr>
                        <a:t>ΔE&gt;8 raw</a:t>
                      </a:r>
                      <a:endParaRPr lang="en-US" sz="105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6F5F2"/>
                    </a:solidFill>
                  </a:tcPr>
                </a:tc>
                <a:tc>
                  <a:txBody>
                    <a:bodyPr/>
                    <a:lstStyle/>
                    <a:p>
                      <a:pPr indent="0" marL="0">
                        <a:buNone/>
                      </a:pPr>
                      <a:r>
                        <a:rPr lang="en-US" sz="1050" b="1" dirty="0">
                          <a:solidFill>
                            <a:srgbClr val="1A1A1A"/>
                          </a:solidFill>
                          <a:latin typeface="Calibri" pitchFamily="34" charset="0"/>
                          <a:ea typeface="Calibri" pitchFamily="34" charset="-122"/>
                          <a:cs typeface="Calibri" pitchFamily="34" charset="-120"/>
                        </a:rPr>
                        <a:t>ΔE&gt;8 clean</a:t>
                      </a:r>
                      <a:endParaRPr lang="en-US" sz="105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6F5F2"/>
                    </a:solidFill>
                  </a:tcPr>
                </a:tc>
                <a:tc>
                  <a:txBody>
                    <a:bodyPr/>
                    <a:lstStyle/>
                    <a:p>
                      <a:pPr indent="0" marL="0">
                        <a:buNone/>
                      </a:pPr>
                      <a:r>
                        <a:rPr lang="en-US" sz="1050" b="1" dirty="0">
                          <a:solidFill>
                            <a:srgbClr val="1A1A1A"/>
                          </a:solidFill>
                          <a:latin typeface="Calibri" pitchFamily="34" charset="0"/>
                          <a:ea typeface="Calibri" pitchFamily="34" charset="-122"/>
                          <a:cs typeface="Calibri" pitchFamily="34" charset="-120"/>
                        </a:rPr>
                        <a:t>ΔE&gt;12 clean</a:t>
                      </a:r>
                      <a:endParaRPr lang="en-US" sz="105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6F5F2"/>
                    </a:solidFill>
                  </a:tcPr>
                </a:tc>
              </a:tr>
              <a:tr h="274320">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3</a:t>
                      </a:r>
                      <a:endParaRPr lang="en-US" sz="105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3.96%</a:t>
                      </a:r>
                      <a:endParaRPr lang="en-US" sz="105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3.47%</a:t>
                      </a:r>
                      <a:endParaRPr lang="en-US" sz="105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3.47%</a:t>
                      </a:r>
                      <a:endParaRPr lang="en-US" sz="105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r>
              <a:tr h="274320">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5</a:t>
                      </a:r>
                      <a:endParaRPr lang="en-US" sz="105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13.01%</a:t>
                      </a:r>
                      <a:endParaRPr lang="en-US" sz="105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3.48%</a:t>
                      </a:r>
                      <a:endParaRPr lang="en-US" sz="105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3.47%</a:t>
                      </a:r>
                      <a:endParaRPr lang="en-US" sz="105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r>
              <a:tr h="274320">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8</a:t>
                      </a:r>
                      <a:endParaRPr lang="en-US" sz="105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36.96%</a:t>
                      </a:r>
                      <a:endParaRPr lang="en-US" sz="105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3.51%</a:t>
                      </a:r>
                      <a:endParaRPr lang="en-US" sz="105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3.48%</a:t>
                      </a:r>
                      <a:endParaRPr lang="en-US" sz="105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r>
            </a:tbl>
          </a:graphicData>
        </a:graphic>
      </p:graphicFrame>
      <p:sp>
        <p:nvSpPr>
          <p:cNvPr id="14" name="Shape 10"/>
          <p:cNvSpPr/>
          <p:nvPr/>
        </p:nvSpPr>
        <p:spPr>
          <a:xfrm>
            <a:off x="777240" y="5074920"/>
            <a:ext cx="10637215" cy="1051560"/>
          </a:xfrm>
          <a:prstGeom prst="rect">
            <a:avLst/>
          </a:prstGeom>
          <a:solidFill>
            <a:srgbClr val="F6F5F2"/>
          </a:solidFill>
          <a:ln/>
        </p:spPr>
      </p:sp>
      <p:sp>
        <p:nvSpPr>
          <p:cNvPr id="15" name="Text 11"/>
          <p:cNvSpPr/>
          <p:nvPr/>
        </p:nvSpPr>
        <p:spPr>
          <a:xfrm>
            <a:off x="1069848" y="5212080"/>
            <a:ext cx="10051999" cy="804672"/>
          </a:xfrm>
          <a:prstGeom prst="rect">
            <a:avLst/>
          </a:prstGeom>
          <a:noFill/>
          <a:ln/>
        </p:spPr>
        <p:txBody>
          <a:bodyPr wrap="square" lIns="0" tIns="0" rIns="0" bIns="0" rtlCol="0" anchor="ctr"/>
          <a:lstStyle/>
          <a:p>
            <a:pPr indent="0" marL="0">
              <a:lnSpc>
                <a:spcPts val="1600"/>
              </a:lnSpc>
              <a:buNone/>
            </a:pPr>
            <a:r>
              <a:rPr lang="en-US" sz="1150" dirty="0">
                <a:solidFill>
                  <a:srgbClr val="1A1A1A"/>
                </a:solidFill>
                <a:latin typeface="Calibri" pitchFamily="34" charset="0"/>
                <a:ea typeface="Calibri" pitchFamily="34" charset="-122"/>
                <a:cs typeface="Calibri" pitchFamily="34" charset="-120"/>
              </a:rPr>
              <a:t>Final method — CIE76 ΔE in L*a*b*, threshold 12, morphological open and close, components below 40 px removed. Morphological cleanup is what makes the sensitive threshold usable: without it ΔE &gt; 8 reports 37% of the frame as edited at σ = 8; with it, every threshold holds at roughly 3.47% against a 3.39% ground truth.</a:t>
            </a:r>
            <a:endParaRPr lang="en-US" sz="11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420624"/>
            <a:ext cx="8229600" cy="219456"/>
          </a:xfrm>
          <a:prstGeom prst="rect">
            <a:avLst/>
          </a:prstGeom>
          <a:noFill/>
          <a:ln/>
        </p:spPr>
        <p:txBody>
          <a:bodyPr wrap="square" lIns="0" tIns="0" rIns="0" bIns="0" rtlCol="0" anchor="ctr"/>
          <a:lstStyle/>
          <a:p>
            <a:pPr indent="0" marL="0">
              <a:buNone/>
            </a:pPr>
            <a:r>
              <a:rPr lang="en-US" sz="1050" b="1" spc="220" kern="0" dirty="0">
                <a:solidFill>
                  <a:srgbClr val="8C3A1E"/>
                </a:solidFill>
                <a:latin typeface="Calibri" pitchFamily="34" charset="0"/>
                <a:ea typeface="Calibri" pitchFamily="34" charset="-122"/>
                <a:cs typeface="Calibri" pitchFamily="34" charset="-120"/>
              </a:rPr>
              <a:t>EXPLORATORY DATA ANALYSIS</a:t>
            </a:r>
            <a:endParaRPr lang="en-US" sz="1050" dirty="0"/>
          </a:p>
        </p:txBody>
      </p:sp>
      <p:sp>
        <p:nvSpPr>
          <p:cNvPr id="3" name="Text 1"/>
          <p:cNvSpPr/>
          <p:nvPr/>
        </p:nvSpPr>
        <p:spPr>
          <a:xfrm>
            <a:off x="777240" y="694944"/>
            <a:ext cx="10637215" cy="603504"/>
          </a:xfrm>
          <a:prstGeom prst="rect">
            <a:avLst/>
          </a:prstGeom>
          <a:noFill/>
          <a:ln/>
        </p:spPr>
        <p:txBody>
          <a:bodyPr wrap="square" lIns="0" tIns="0" rIns="0" bIns="0" rtlCol="0" anchor="ctr"/>
          <a:lstStyle/>
          <a:p>
            <a:pPr indent="0" marL="0">
              <a:buNone/>
            </a:pPr>
            <a:r>
              <a:rPr lang="en-US" sz="3100" b="1" dirty="0">
                <a:solidFill>
                  <a:srgbClr val="1A1A1A"/>
                </a:solidFill>
                <a:latin typeface="Cambria" pitchFamily="34" charset="0"/>
                <a:ea typeface="Cambria" pitchFamily="34" charset="-122"/>
                <a:cs typeface="Cambria" pitchFamily="34" charset="-120"/>
              </a:rPr>
              <a:t>The two caption types are not redundant</a:t>
            </a:r>
            <a:endParaRPr lang="en-US" sz="3100" dirty="0"/>
          </a:p>
        </p:txBody>
      </p:sp>
      <p:sp>
        <p:nvSpPr>
          <p:cNvPr id="4" name="Text 2"/>
          <p:cNvSpPr/>
          <p:nvPr/>
        </p:nvSpPr>
        <p:spPr>
          <a:xfrm>
            <a:off x="777240" y="1335024"/>
            <a:ext cx="10637215" cy="347472"/>
          </a:xfrm>
          <a:prstGeom prst="rect">
            <a:avLst/>
          </a:prstGeom>
          <a:noFill/>
          <a:ln/>
        </p:spPr>
        <p:txBody>
          <a:bodyPr wrap="square" lIns="0" tIns="0" rIns="0" bIns="0" rtlCol="0" anchor="ctr"/>
          <a:lstStyle/>
          <a:p>
            <a:pPr indent="0" marL="0">
              <a:buNone/>
            </a:pPr>
            <a:r>
              <a:rPr lang="en-US" sz="1400" dirty="0">
                <a:solidFill>
                  <a:srgbClr val="6E6E6E"/>
                </a:solidFill>
                <a:latin typeface="Calibri" pitchFamily="34" charset="0"/>
                <a:ea typeface="Calibri" pitchFamily="34" charset="-122"/>
                <a:cs typeface="Calibri" pitchFamily="34" charset="-120"/>
              </a:rPr>
              <a:t>Measured over all 1,290,861 source records.</a:t>
            </a:r>
            <a:endParaRPr lang="en-US" sz="1400" dirty="0"/>
          </a:p>
        </p:txBody>
      </p:sp>
      <p:sp>
        <p:nvSpPr>
          <p:cNvPr id="5" name="Shape 3"/>
          <p:cNvSpPr/>
          <p:nvPr/>
        </p:nvSpPr>
        <p:spPr>
          <a:xfrm>
            <a:off x="777240" y="6291072"/>
            <a:ext cx="10637215" cy="7315"/>
          </a:xfrm>
          <a:prstGeom prst="rect">
            <a:avLst/>
          </a:prstGeom>
          <a:solidFill>
            <a:srgbClr val="DEDCD7"/>
          </a:solidFill>
          <a:ln/>
        </p:spPr>
      </p:sp>
      <p:sp>
        <p:nvSpPr>
          <p:cNvPr id="6" name="Text 4"/>
          <p:cNvSpPr/>
          <p:nvPr/>
        </p:nvSpPr>
        <p:spPr>
          <a:xfrm>
            <a:off x="777240" y="6382512"/>
            <a:ext cx="7315200" cy="256032"/>
          </a:xfrm>
          <a:prstGeom prst="rect">
            <a:avLst/>
          </a:prstGeom>
          <a:noFill/>
          <a:ln/>
        </p:spPr>
        <p:txBody>
          <a:bodyPr wrap="square" lIns="0" tIns="0" rIns="0" bIns="0" rtlCol="0" anchor="ctr"/>
          <a:lstStyle/>
          <a:p>
            <a:pPr indent="0" marL="0">
              <a:buNone/>
            </a:pPr>
            <a:r>
              <a:rPr lang="en-US" sz="900" dirty="0">
                <a:solidFill>
                  <a:srgbClr val="9A9A9A"/>
                </a:solidFill>
                <a:latin typeface="Calibri" pitchFamily="34" charset="0"/>
                <a:ea typeface="Calibri" pitchFamily="34" charset="-122"/>
                <a:cs typeface="Calibri" pitchFamily="34" charset="-120"/>
              </a:rPr>
              <a:t>Instruct-Seg-Edit  ·  Foundations of Data Science  ·  Review 1</a:t>
            </a:r>
            <a:endParaRPr lang="en-US" sz="900" dirty="0"/>
          </a:p>
        </p:txBody>
      </p:sp>
      <p:sp>
        <p:nvSpPr>
          <p:cNvPr id="7" name="Text 5"/>
          <p:cNvSpPr/>
          <p:nvPr/>
        </p:nvSpPr>
        <p:spPr>
          <a:xfrm>
            <a:off x="10865815" y="6382512"/>
            <a:ext cx="548640" cy="256032"/>
          </a:xfrm>
          <a:prstGeom prst="rect">
            <a:avLst/>
          </a:prstGeom>
          <a:noFill/>
          <a:ln/>
        </p:spPr>
        <p:txBody>
          <a:bodyPr wrap="square" lIns="0" tIns="0" rIns="0" bIns="0" rtlCol="0" anchor="ctr"/>
          <a:lstStyle/>
          <a:p>
            <a:pPr algn="r" indent="0" marL="0">
              <a:buNone/>
            </a:pPr>
            <a:r>
              <a:rPr lang="en-US" sz="900" dirty="0">
                <a:solidFill>
                  <a:srgbClr val="9A9A9A"/>
                </a:solidFill>
                <a:latin typeface="Calibri" pitchFamily="34" charset="0"/>
                <a:ea typeface="Calibri" pitchFamily="34" charset="-122"/>
                <a:cs typeface="Calibri" pitchFamily="34" charset="-120"/>
              </a:rPr>
              <a:t>17</a:t>
            </a:r>
            <a:endParaRPr lang="en-US" sz="9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777240" y="1901952"/>
          <a:ext cx="5760720" cy="914400"/>
        </p:xfrm>
        <a:graphic>
          <a:graphicData uri="http://schemas.openxmlformats.org/drawingml/2006/table">
            <a:tbl>
              <a:tblPr/>
              <a:tblGrid>
                <a:gridCol w="2194560"/>
                <a:gridCol w="1143000"/>
                <a:gridCol w="1143000"/>
                <a:gridCol w="1280160"/>
              </a:tblGrid>
              <a:tr h="329184">
                <a:tc>
                  <a:txBody>
                    <a:bodyPr/>
                    <a:lstStyle/>
                    <a:p>
                      <a:pPr indent="0" marL="0">
                        <a:buNone/>
                      </a:pPr>
                      <a:r>
                        <a:rPr lang="en-US" sz="1050" b="1" dirty="0">
                          <a:solidFill>
                            <a:srgbClr val="1A1A1A"/>
                          </a:solidFill>
                          <a:latin typeface="Calibri" pitchFamily="34" charset="0"/>
                          <a:ea typeface="Calibri" pitchFamily="34" charset="-122"/>
                          <a:cs typeface="Calibri" pitchFamily="34" charset="-120"/>
                        </a:rPr>
                        <a:t>Caption length</a:t>
                      </a:r>
                      <a:endParaRPr lang="en-US" sz="105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6F5F2"/>
                    </a:solidFill>
                  </a:tcPr>
                </a:tc>
                <a:tc>
                  <a:txBody>
                    <a:bodyPr/>
                    <a:lstStyle/>
                    <a:p>
                      <a:pPr algn="ctr" indent="0" marL="0">
                        <a:buNone/>
                      </a:pPr>
                      <a:r>
                        <a:rPr lang="en-US" sz="1050" b="1" dirty="0">
                          <a:solidFill>
                            <a:srgbClr val="1A1A1A"/>
                          </a:solidFill>
                          <a:latin typeface="Calibri" pitchFamily="34" charset="0"/>
                          <a:ea typeface="Calibri" pitchFamily="34" charset="-122"/>
                          <a:cs typeface="Calibri" pitchFamily="34" charset="-120"/>
                        </a:rPr>
                        <a:t>Original</a:t>
                      </a:r>
                      <a:endParaRPr lang="en-US" sz="105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6F5F2"/>
                    </a:solidFill>
                  </a:tcPr>
                </a:tc>
                <a:tc>
                  <a:txBody>
                    <a:bodyPr/>
                    <a:lstStyle/>
                    <a:p>
                      <a:pPr algn="ctr" indent="0" marL="0">
                        <a:buNone/>
                      </a:pPr>
                      <a:r>
                        <a:rPr lang="en-US" sz="1050" b="1" dirty="0">
                          <a:solidFill>
                            <a:srgbClr val="1A1A1A"/>
                          </a:solidFill>
                          <a:latin typeface="Calibri" pitchFamily="34" charset="0"/>
                          <a:ea typeface="Calibri" pitchFamily="34" charset="-122"/>
                          <a:cs typeface="Calibri" pitchFamily="34" charset="-120"/>
                        </a:rPr>
                        <a:t>VLM</a:t>
                      </a:r>
                      <a:endParaRPr lang="en-US" sz="105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6F5F2"/>
                    </a:solidFill>
                  </a:tcPr>
                </a:tc>
                <a:tc>
                  <a:txBody>
                    <a:bodyPr/>
                    <a:lstStyle/>
                    <a:p>
                      <a:pPr algn="ctr" indent="0" marL="0">
                        <a:buNone/>
                      </a:pPr>
                      <a:r>
                        <a:rPr lang="en-US" sz="1050" b="1" dirty="0">
                          <a:solidFill>
                            <a:srgbClr val="1A1A1A"/>
                          </a:solidFill>
                          <a:latin typeface="Calibri" pitchFamily="34" charset="0"/>
                          <a:ea typeface="Calibri" pitchFamily="34" charset="-122"/>
                          <a:cs typeface="Calibri" pitchFamily="34" charset="-120"/>
                        </a:rPr>
                        <a:t>Ratio</a:t>
                      </a:r>
                      <a:endParaRPr lang="en-US" sz="105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6F5F2"/>
                    </a:solidFill>
                  </a:tcPr>
                </a:tc>
              </a:tr>
              <a:tr h="329184">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Mean characters</a:t>
                      </a:r>
                      <a:endParaRPr lang="en-US" sz="105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51.9</a:t>
                      </a:r>
                      <a:endParaRPr lang="en-US" sz="105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493.6</a:t>
                      </a:r>
                      <a:endParaRPr lang="en-US" sz="105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9.5x</a:t>
                      </a:r>
                      <a:endParaRPr lang="en-US" sz="105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r>
              <a:tr h="329184">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Median characters</a:t>
                      </a:r>
                      <a:endParaRPr lang="en-US" sz="105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39.0</a:t>
                      </a:r>
                      <a:endParaRPr lang="en-US" sz="105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442.0</a:t>
                      </a:r>
                      <a:endParaRPr lang="en-US" sz="105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11.3x</a:t>
                      </a:r>
                      <a:endParaRPr lang="en-US" sz="105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r>
              <a:tr h="329184">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Mean words</a:t>
                      </a:r>
                      <a:endParaRPr lang="en-US" sz="105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9.5</a:t>
                      </a:r>
                      <a:endParaRPr lang="en-US" sz="105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92.1</a:t>
                      </a:r>
                      <a:endParaRPr lang="en-US" sz="105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9.7x</a:t>
                      </a:r>
                      <a:endParaRPr lang="en-US" sz="105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r>
              <a:tr h="329184">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Mean unique words</a:t>
                      </a:r>
                      <a:endParaRPr lang="en-US" sz="105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9.0</a:t>
                      </a:r>
                      <a:endParaRPr lang="en-US" sz="105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53.9</a:t>
                      </a:r>
                      <a:endParaRPr lang="en-US" sz="105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6.0x</a:t>
                      </a:r>
                      <a:endParaRPr lang="en-US" sz="105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r>
            </a:tbl>
          </a:graphicData>
        </a:graphic>
      </p:graphicFrame>
      <p:sp>
        <p:nvSpPr>
          <p:cNvPr id="9" name="Text 6"/>
          <p:cNvSpPr/>
          <p:nvPr/>
        </p:nvSpPr>
        <p:spPr>
          <a:xfrm>
            <a:off x="777240" y="3703320"/>
            <a:ext cx="4572000" cy="237744"/>
          </a:xfrm>
          <a:prstGeom prst="rect">
            <a:avLst/>
          </a:prstGeom>
          <a:noFill/>
          <a:ln/>
        </p:spPr>
        <p:txBody>
          <a:bodyPr wrap="square" lIns="0" tIns="0" rIns="0" bIns="0" rtlCol="0" anchor="ctr"/>
          <a:lstStyle/>
          <a:p>
            <a:pPr indent="0" marL="0">
              <a:buNone/>
            </a:pPr>
            <a:r>
              <a:rPr lang="en-US" sz="1050" b="1" dirty="0">
                <a:solidFill>
                  <a:srgbClr val="1A1A1A"/>
                </a:solidFill>
                <a:latin typeface="Calibri" pitchFamily="34" charset="0"/>
                <a:ea typeface="Calibri" pitchFamily="34" charset="-122"/>
                <a:cs typeface="Calibri" pitchFamily="34" charset="-120"/>
              </a:rPr>
              <a:t>Mean characters, to scale</a:t>
            </a:r>
            <a:endParaRPr lang="en-US" sz="1050" dirty="0"/>
          </a:p>
        </p:txBody>
      </p:sp>
      <p:sp>
        <p:nvSpPr>
          <p:cNvPr id="10" name="Text 7"/>
          <p:cNvSpPr/>
          <p:nvPr/>
        </p:nvSpPr>
        <p:spPr>
          <a:xfrm>
            <a:off x="777240" y="3986784"/>
            <a:ext cx="960120" cy="237744"/>
          </a:xfrm>
          <a:prstGeom prst="rect">
            <a:avLst/>
          </a:prstGeom>
          <a:noFill/>
          <a:ln/>
        </p:spPr>
        <p:txBody>
          <a:bodyPr wrap="square" lIns="0" tIns="0" rIns="0" bIns="0" rtlCol="0" anchor="ctr"/>
          <a:lstStyle/>
          <a:p>
            <a:pPr indent="0" marL="0">
              <a:buNone/>
            </a:pPr>
            <a:r>
              <a:rPr lang="en-US" sz="1000" dirty="0">
                <a:solidFill>
                  <a:srgbClr val="6E6E6E"/>
                </a:solidFill>
                <a:latin typeface="Calibri" pitchFamily="34" charset="0"/>
                <a:ea typeface="Calibri" pitchFamily="34" charset="-122"/>
                <a:cs typeface="Calibri" pitchFamily="34" charset="-120"/>
              </a:rPr>
              <a:t>Original</a:t>
            </a:r>
            <a:endParaRPr lang="en-US" sz="1000" dirty="0"/>
          </a:p>
        </p:txBody>
      </p:sp>
      <p:sp>
        <p:nvSpPr>
          <p:cNvPr id="11" name="Shape 8"/>
          <p:cNvSpPr/>
          <p:nvPr/>
        </p:nvSpPr>
        <p:spPr>
          <a:xfrm>
            <a:off x="1783080" y="4032504"/>
            <a:ext cx="442269" cy="155448"/>
          </a:xfrm>
          <a:prstGeom prst="rect">
            <a:avLst/>
          </a:prstGeom>
          <a:solidFill>
            <a:srgbClr val="9A9A9A"/>
          </a:solidFill>
          <a:ln/>
        </p:spPr>
      </p:sp>
      <p:sp>
        <p:nvSpPr>
          <p:cNvPr id="12" name="Text 9"/>
          <p:cNvSpPr/>
          <p:nvPr/>
        </p:nvSpPr>
        <p:spPr>
          <a:xfrm>
            <a:off x="2298501" y="3986784"/>
            <a:ext cx="731520" cy="237744"/>
          </a:xfrm>
          <a:prstGeom prst="rect">
            <a:avLst/>
          </a:prstGeom>
          <a:noFill/>
          <a:ln/>
        </p:spPr>
        <p:txBody>
          <a:bodyPr wrap="square" lIns="0" tIns="0" rIns="0" bIns="0" rtlCol="0" anchor="ctr"/>
          <a:lstStyle/>
          <a:p>
            <a:pPr indent="0" marL="0">
              <a:buNone/>
            </a:pPr>
            <a:r>
              <a:rPr lang="en-US" sz="1000" dirty="0">
                <a:solidFill>
                  <a:srgbClr val="6E6E6E"/>
                </a:solidFill>
                <a:latin typeface="Calibri" pitchFamily="34" charset="0"/>
                <a:ea typeface="Calibri" pitchFamily="34" charset="-122"/>
                <a:cs typeface="Calibri" pitchFamily="34" charset="-120"/>
              </a:rPr>
              <a:t>51.9</a:t>
            </a:r>
            <a:endParaRPr lang="en-US" sz="1000" dirty="0"/>
          </a:p>
        </p:txBody>
      </p:sp>
      <p:sp>
        <p:nvSpPr>
          <p:cNvPr id="13" name="Text 10"/>
          <p:cNvSpPr/>
          <p:nvPr/>
        </p:nvSpPr>
        <p:spPr>
          <a:xfrm>
            <a:off x="777240" y="4315968"/>
            <a:ext cx="960120" cy="237744"/>
          </a:xfrm>
          <a:prstGeom prst="rect">
            <a:avLst/>
          </a:prstGeom>
          <a:noFill/>
          <a:ln/>
        </p:spPr>
        <p:txBody>
          <a:bodyPr wrap="square" lIns="0" tIns="0" rIns="0" bIns="0" rtlCol="0" anchor="ctr"/>
          <a:lstStyle/>
          <a:p>
            <a:pPr indent="0" marL="0">
              <a:buNone/>
            </a:pPr>
            <a:r>
              <a:rPr lang="en-US" sz="1000" dirty="0">
                <a:solidFill>
                  <a:srgbClr val="6E6E6E"/>
                </a:solidFill>
                <a:latin typeface="Calibri" pitchFamily="34" charset="0"/>
                <a:ea typeface="Calibri" pitchFamily="34" charset="-122"/>
                <a:cs typeface="Calibri" pitchFamily="34" charset="-120"/>
              </a:rPr>
              <a:t>VLM</a:t>
            </a:r>
            <a:endParaRPr lang="en-US" sz="1000" dirty="0"/>
          </a:p>
        </p:txBody>
      </p:sp>
      <p:sp>
        <p:nvSpPr>
          <p:cNvPr id="14" name="Shape 11"/>
          <p:cNvSpPr/>
          <p:nvPr/>
        </p:nvSpPr>
        <p:spPr>
          <a:xfrm>
            <a:off x="1783080" y="4361688"/>
            <a:ext cx="4206240" cy="155448"/>
          </a:xfrm>
          <a:prstGeom prst="rect">
            <a:avLst/>
          </a:prstGeom>
          <a:solidFill>
            <a:srgbClr val="8C3A1E"/>
          </a:solidFill>
          <a:ln/>
        </p:spPr>
      </p:sp>
      <p:sp>
        <p:nvSpPr>
          <p:cNvPr id="15" name="Text 12"/>
          <p:cNvSpPr/>
          <p:nvPr/>
        </p:nvSpPr>
        <p:spPr>
          <a:xfrm>
            <a:off x="6062472" y="4315968"/>
            <a:ext cx="731520" cy="237744"/>
          </a:xfrm>
          <a:prstGeom prst="rect">
            <a:avLst/>
          </a:prstGeom>
          <a:noFill/>
          <a:ln/>
        </p:spPr>
        <p:txBody>
          <a:bodyPr wrap="square" lIns="0" tIns="0" rIns="0" bIns="0" rtlCol="0" anchor="ctr"/>
          <a:lstStyle/>
          <a:p>
            <a:pPr indent="0" marL="0">
              <a:buNone/>
            </a:pPr>
            <a:r>
              <a:rPr lang="en-US" sz="1000" dirty="0">
                <a:solidFill>
                  <a:srgbClr val="6E6E6E"/>
                </a:solidFill>
                <a:latin typeface="Calibri" pitchFamily="34" charset="0"/>
                <a:ea typeface="Calibri" pitchFamily="34" charset="-122"/>
                <a:cs typeface="Calibri" pitchFamily="34" charset="-120"/>
              </a:rPr>
              <a:t>493.6</a:t>
            </a:r>
            <a:endParaRPr lang="en-US" sz="1000" dirty="0"/>
          </a:p>
        </p:txBody>
      </p:sp>
      <p:sp>
        <p:nvSpPr>
          <p:cNvPr id="16" name="Text 13"/>
          <p:cNvSpPr/>
          <p:nvPr/>
        </p:nvSpPr>
        <p:spPr>
          <a:xfrm>
            <a:off x="7040880" y="1965960"/>
            <a:ext cx="4297680" cy="658368"/>
          </a:xfrm>
          <a:prstGeom prst="rect">
            <a:avLst/>
          </a:prstGeom>
          <a:noFill/>
          <a:ln/>
        </p:spPr>
        <p:txBody>
          <a:bodyPr wrap="square" lIns="0" tIns="0" rIns="0" bIns="0" rtlCol="0" anchor="ctr"/>
          <a:lstStyle/>
          <a:p>
            <a:pPr indent="0" marL="0">
              <a:buNone/>
            </a:pPr>
            <a:r>
              <a:rPr lang="en-US" sz="4600" b="1" dirty="0">
                <a:solidFill>
                  <a:srgbClr val="8C3A1E"/>
                </a:solidFill>
                <a:latin typeface="Cambria" pitchFamily="34" charset="0"/>
                <a:ea typeface="Cambria" pitchFamily="34" charset="-122"/>
                <a:cs typeface="Cambria" pitchFamily="34" charset="-120"/>
              </a:rPr>
              <a:t>0.053</a:t>
            </a:r>
            <a:endParaRPr lang="en-US" sz="4600" dirty="0"/>
          </a:p>
        </p:txBody>
      </p:sp>
      <p:sp>
        <p:nvSpPr>
          <p:cNvPr id="17" name="Text 14"/>
          <p:cNvSpPr/>
          <p:nvPr/>
        </p:nvSpPr>
        <p:spPr>
          <a:xfrm>
            <a:off x="7040880" y="2624328"/>
            <a:ext cx="4297680" cy="420624"/>
          </a:xfrm>
          <a:prstGeom prst="rect">
            <a:avLst/>
          </a:prstGeom>
          <a:noFill/>
          <a:ln/>
        </p:spPr>
        <p:txBody>
          <a:bodyPr wrap="square" lIns="0" tIns="0" rIns="0" bIns="0" rtlCol="0" anchor="ctr"/>
          <a:lstStyle/>
          <a:p>
            <a:pPr indent="0" marL="0">
              <a:lnSpc>
                <a:spcPts val="1500"/>
              </a:lnSpc>
              <a:buNone/>
            </a:pPr>
            <a:r>
              <a:rPr lang="en-US" sz="1100" dirty="0">
                <a:solidFill>
                  <a:srgbClr val="6E6E6E"/>
                </a:solidFill>
                <a:latin typeface="Calibri" pitchFamily="34" charset="0"/>
                <a:ea typeface="Calibri" pitchFamily="34" charset="-122"/>
                <a:cs typeface="Calibri" pitchFamily="34" charset="-120"/>
              </a:rPr>
              <a:t>median TF-IDF cosine similarity between an image's own two captions   (mean 0.174 · σ 0.221 · n = 1,000)</a:t>
            </a:r>
            <a:endParaRPr lang="en-US" sz="1100" dirty="0"/>
          </a:p>
        </p:txBody>
      </p:sp>
      <p:sp>
        <p:nvSpPr>
          <p:cNvPr id="18" name="Text 15"/>
          <p:cNvSpPr/>
          <p:nvPr/>
        </p:nvSpPr>
        <p:spPr>
          <a:xfrm>
            <a:off x="7040880" y="3401568"/>
            <a:ext cx="2926080" cy="237744"/>
          </a:xfrm>
          <a:prstGeom prst="rect">
            <a:avLst/>
          </a:prstGeom>
          <a:noFill/>
          <a:ln/>
        </p:spPr>
        <p:txBody>
          <a:bodyPr wrap="square" lIns="0" tIns="0" rIns="0" bIns="0" rtlCol="0" anchor="ctr"/>
          <a:lstStyle/>
          <a:p>
            <a:pPr indent="0" marL="0">
              <a:buNone/>
            </a:pPr>
            <a:r>
              <a:rPr lang="en-US" sz="1150" dirty="0">
                <a:solidFill>
                  <a:srgbClr val="6E6E6E"/>
                </a:solidFill>
                <a:latin typeface="Calibri" pitchFamily="34" charset="0"/>
                <a:ea typeface="Calibri" pitchFamily="34" charset="-122"/>
                <a:cs typeface="Calibri" pitchFamily="34" charset="-120"/>
              </a:rPr>
              <a:t>Vocabulary overlap</a:t>
            </a:r>
            <a:endParaRPr lang="en-US" sz="1150" dirty="0"/>
          </a:p>
        </p:txBody>
      </p:sp>
      <p:sp>
        <p:nvSpPr>
          <p:cNvPr id="19" name="Text 16"/>
          <p:cNvSpPr/>
          <p:nvPr/>
        </p:nvSpPr>
        <p:spPr>
          <a:xfrm>
            <a:off x="9921240" y="3401568"/>
            <a:ext cx="1417320" cy="237744"/>
          </a:xfrm>
          <a:prstGeom prst="rect">
            <a:avLst/>
          </a:prstGeom>
          <a:noFill/>
          <a:ln/>
        </p:spPr>
        <p:txBody>
          <a:bodyPr wrap="square" lIns="0" tIns="0" rIns="0" bIns="0" rtlCol="0" anchor="ctr"/>
          <a:lstStyle/>
          <a:p>
            <a:pPr algn="r" indent="0" marL="0">
              <a:buNone/>
            </a:pPr>
            <a:r>
              <a:rPr lang="en-US" sz="1150" b="1" dirty="0">
                <a:solidFill>
                  <a:srgbClr val="1A1A1A"/>
                </a:solidFill>
                <a:latin typeface="Calibri" pitchFamily="34" charset="0"/>
                <a:ea typeface="Calibri" pitchFamily="34" charset="-122"/>
                <a:cs typeface="Calibri" pitchFamily="34" charset="-120"/>
              </a:rPr>
              <a:t>0.404</a:t>
            </a:r>
            <a:endParaRPr lang="en-US" sz="1150" dirty="0"/>
          </a:p>
        </p:txBody>
      </p:sp>
      <p:sp>
        <p:nvSpPr>
          <p:cNvPr id="20" name="Text 17"/>
          <p:cNvSpPr/>
          <p:nvPr/>
        </p:nvSpPr>
        <p:spPr>
          <a:xfrm>
            <a:off x="7040880" y="3675888"/>
            <a:ext cx="2926080" cy="237744"/>
          </a:xfrm>
          <a:prstGeom prst="rect">
            <a:avLst/>
          </a:prstGeom>
          <a:noFill/>
          <a:ln/>
        </p:spPr>
        <p:txBody>
          <a:bodyPr wrap="square" lIns="0" tIns="0" rIns="0" bIns="0" rtlCol="0" anchor="ctr"/>
          <a:lstStyle/>
          <a:p>
            <a:pPr indent="0" marL="0">
              <a:buNone/>
            </a:pPr>
            <a:r>
              <a:rPr lang="en-US" sz="1150" dirty="0">
                <a:solidFill>
                  <a:srgbClr val="6E6E6E"/>
                </a:solidFill>
                <a:latin typeface="Calibri" pitchFamily="34" charset="0"/>
                <a:ea typeface="Calibri" pitchFamily="34" charset="-122"/>
                <a:cs typeface="Calibri" pitchFamily="34" charset="-120"/>
              </a:rPr>
              <a:t>Tokens only in original</a:t>
            </a:r>
            <a:endParaRPr lang="en-US" sz="1150" dirty="0"/>
          </a:p>
        </p:txBody>
      </p:sp>
      <p:sp>
        <p:nvSpPr>
          <p:cNvPr id="21" name="Text 18"/>
          <p:cNvSpPr/>
          <p:nvPr/>
        </p:nvSpPr>
        <p:spPr>
          <a:xfrm>
            <a:off x="9921240" y="3675888"/>
            <a:ext cx="1417320" cy="237744"/>
          </a:xfrm>
          <a:prstGeom prst="rect">
            <a:avLst/>
          </a:prstGeom>
          <a:noFill/>
          <a:ln/>
        </p:spPr>
        <p:txBody>
          <a:bodyPr wrap="square" lIns="0" tIns="0" rIns="0" bIns="0" rtlCol="0" anchor="ctr"/>
          <a:lstStyle/>
          <a:p>
            <a:pPr algn="r" indent="0" marL="0">
              <a:buNone/>
            </a:pPr>
            <a:r>
              <a:rPr lang="en-US" sz="1150" b="1" dirty="0">
                <a:solidFill>
                  <a:srgbClr val="1A1A1A"/>
                </a:solidFill>
                <a:latin typeface="Calibri" pitchFamily="34" charset="0"/>
                <a:ea typeface="Calibri" pitchFamily="34" charset="-122"/>
                <a:cs typeface="Calibri" pitchFamily="34" charset="-120"/>
              </a:rPr>
              <a:t>74,927</a:t>
            </a:r>
            <a:endParaRPr lang="en-US" sz="1150" dirty="0"/>
          </a:p>
        </p:txBody>
      </p:sp>
      <p:sp>
        <p:nvSpPr>
          <p:cNvPr id="22" name="Text 19"/>
          <p:cNvSpPr/>
          <p:nvPr/>
        </p:nvSpPr>
        <p:spPr>
          <a:xfrm>
            <a:off x="7040880" y="3950208"/>
            <a:ext cx="2926080" cy="237744"/>
          </a:xfrm>
          <a:prstGeom prst="rect">
            <a:avLst/>
          </a:prstGeom>
          <a:noFill/>
          <a:ln/>
        </p:spPr>
        <p:txBody>
          <a:bodyPr wrap="square" lIns="0" tIns="0" rIns="0" bIns="0" rtlCol="0" anchor="ctr"/>
          <a:lstStyle/>
          <a:p>
            <a:pPr indent="0" marL="0">
              <a:buNone/>
            </a:pPr>
            <a:r>
              <a:rPr lang="en-US" sz="1150" dirty="0">
                <a:solidFill>
                  <a:srgbClr val="6E6E6E"/>
                </a:solidFill>
                <a:latin typeface="Calibri" pitchFamily="34" charset="0"/>
                <a:ea typeface="Calibri" pitchFamily="34" charset="-122"/>
                <a:cs typeface="Calibri" pitchFamily="34" charset="-120"/>
              </a:rPr>
              <a:t>Tokens only in VLM</a:t>
            </a:r>
            <a:endParaRPr lang="en-US" sz="1150" dirty="0"/>
          </a:p>
        </p:txBody>
      </p:sp>
      <p:sp>
        <p:nvSpPr>
          <p:cNvPr id="23" name="Text 20"/>
          <p:cNvSpPr/>
          <p:nvPr/>
        </p:nvSpPr>
        <p:spPr>
          <a:xfrm>
            <a:off x="9921240" y="3950208"/>
            <a:ext cx="1417320" cy="237744"/>
          </a:xfrm>
          <a:prstGeom prst="rect">
            <a:avLst/>
          </a:prstGeom>
          <a:noFill/>
          <a:ln/>
        </p:spPr>
        <p:txBody>
          <a:bodyPr wrap="square" lIns="0" tIns="0" rIns="0" bIns="0" rtlCol="0" anchor="ctr"/>
          <a:lstStyle/>
          <a:p>
            <a:pPr algn="r" indent="0" marL="0">
              <a:buNone/>
            </a:pPr>
            <a:r>
              <a:rPr lang="en-US" sz="1150" b="1" dirty="0">
                <a:solidFill>
                  <a:srgbClr val="1A1A1A"/>
                </a:solidFill>
                <a:latin typeface="Calibri" pitchFamily="34" charset="0"/>
                <a:ea typeface="Calibri" pitchFamily="34" charset="-122"/>
                <a:cs typeface="Calibri" pitchFamily="34" charset="-120"/>
              </a:rPr>
              <a:t>59,905</a:t>
            </a:r>
            <a:endParaRPr lang="en-US" sz="1150" dirty="0"/>
          </a:p>
        </p:txBody>
      </p:sp>
      <p:sp>
        <p:nvSpPr>
          <p:cNvPr id="24" name="Text 21"/>
          <p:cNvSpPr/>
          <p:nvPr/>
        </p:nvSpPr>
        <p:spPr>
          <a:xfrm>
            <a:off x="7040880" y="4224528"/>
            <a:ext cx="2926080" cy="237744"/>
          </a:xfrm>
          <a:prstGeom prst="rect">
            <a:avLst/>
          </a:prstGeom>
          <a:noFill/>
          <a:ln/>
        </p:spPr>
        <p:txBody>
          <a:bodyPr wrap="square" lIns="0" tIns="0" rIns="0" bIns="0" rtlCol="0" anchor="ctr"/>
          <a:lstStyle/>
          <a:p>
            <a:pPr indent="0" marL="0">
              <a:buNone/>
            </a:pPr>
            <a:r>
              <a:rPr lang="en-US" sz="1150" dirty="0">
                <a:solidFill>
                  <a:srgbClr val="6E6E6E"/>
                </a:solidFill>
                <a:latin typeface="Calibri" pitchFamily="34" charset="0"/>
                <a:ea typeface="Calibri" pitchFamily="34" charset="-122"/>
                <a:cs typeface="Calibri" pitchFamily="34" charset="-120"/>
              </a:rPr>
              <a:t>Missing captions</a:t>
            </a:r>
            <a:endParaRPr lang="en-US" sz="1150" dirty="0"/>
          </a:p>
        </p:txBody>
      </p:sp>
      <p:sp>
        <p:nvSpPr>
          <p:cNvPr id="25" name="Text 22"/>
          <p:cNvSpPr/>
          <p:nvPr/>
        </p:nvSpPr>
        <p:spPr>
          <a:xfrm>
            <a:off x="9921240" y="4224528"/>
            <a:ext cx="1417320" cy="237744"/>
          </a:xfrm>
          <a:prstGeom prst="rect">
            <a:avLst/>
          </a:prstGeom>
          <a:noFill/>
          <a:ln/>
        </p:spPr>
        <p:txBody>
          <a:bodyPr wrap="square" lIns="0" tIns="0" rIns="0" bIns="0" rtlCol="0" anchor="ctr"/>
          <a:lstStyle/>
          <a:p>
            <a:pPr algn="r" indent="0" marL="0">
              <a:buNone/>
            </a:pPr>
            <a:r>
              <a:rPr lang="en-US" sz="1150" b="1" dirty="0">
                <a:solidFill>
                  <a:srgbClr val="1A1A1A"/>
                </a:solidFill>
                <a:latin typeface="Calibri" pitchFamily="34" charset="0"/>
                <a:ea typeface="Calibri" pitchFamily="34" charset="-122"/>
                <a:cs typeface="Calibri" pitchFamily="34" charset="-120"/>
              </a:rPr>
              <a:t>0</a:t>
            </a:r>
            <a:endParaRPr lang="en-US" sz="1150" dirty="0"/>
          </a:p>
        </p:txBody>
      </p:sp>
      <p:sp>
        <p:nvSpPr>
          <p:cNvPr id="26" name="Shape 23"/>
          <p:cNvSpPr/>
          <p:nvPr/>
        </p:nvSpPr>
        <p:spPr>
          <a:xfrm>
            <a:off x="777240" y="4846320"/>
            <a:ext cx="10637215" cy="1188720"/>
          </a:xfrm>
          <a:prstGeom prst="rect">
            <a:avLst/>
          </a:prstGeom>
          <a:solidFill>
            <a:srgbClr val="F6F5F2"/>
          </a:solidFill>
          <a:ln/>
        </p:spPr>
      </p:sp>
      <p:sp>
        <p:nvSpPr>
          <p:cNvPr id="27" name="Text 24"/>
          <p:cNvSpPr/>
          <p:nvPr/>
        </p:nvSpPr>
        <p:spPr>
          <a:xfrm>
            <a:off x="1069848" y="4974336"/>
            <a:ext cx="10051999" cy="950976"/>
          </a:xfrm>
          <a:prstGeom prst="rect">
            <a:avLst/>
          </a:prstGeom>
          <a:noFill/>
          <a:ln/>
        </p:spPr>
        <p:txBody>
          <a:bodyPr wrap="square" lIns="0" tIns="0" rIns="0" bIns="0" rtlCol="0" anchor="ctr"/>
          <a:lstStyle/>
          <a:p>
            <a:pPr indent="0" marL="0">
              <a:lnSpc>
                <a:spcPts val="1600"/>
              </a:lnSpc>
              <a:buNone/>
            </a:pPr>
            <a:r>
              <a:rPr lang="en-US" sz="1150" dirty="0">
                <a:solidFill>
                  <a:srgbClr val="1A1A1A"/>
                </a:solidFill>
                <a:latin typeface="Calibri" pitchFamily="34" charset="0"/>
                <a:ea typeface="Calibri" pitchFamily="34" charset="-122"/>
                <a:cs typeface="Calibri" pitchFamily="34" charset="-120"/>
              </a:rPr>
              <a:t>A median of 0.053 means more than half of all image pairs share essentially no vocabulary between their two captions. Concatenating both as the instruction generator's input is therefore not redundancy — it is the only way to keep the human's framing and the dense visual description at once. The corpus is also dominated by colour descriptors (white 760,511 · red 623,301 · black 581,144), which is the empirical reason mask extraction has to be sensitive to hue.</a:t>
            </a:r>
            <a:endParaRPr lang="en-US"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420624"/>
            <a:ext cx="8229600" cy="219456"/>
          </a:xfrm>
          <a:prstGeom prst="rect">
            <a:avLst/>
          </a:prstGeom>
          <a:noFill/>
          <a:ln/>
        </p:spPr>
        <p:txBody>
          <a:bodyPr wrap="square" lIns="0" tIns="0" rIns="0" bIns="0" rtlCol="0" anchor="ctr"/>
          <a:lstStyle/>
          <a:p>
            <a:pPr indent="0" marL="0">
              <a:buNone/>
            </a:pPr>
            <a:r>
              <a:rPr lang="en-US" sz="1050" b="1" spc="220" kern="0" dirty="0">
                <a:solidFill>
                  <a:srgbClr val="8C3A1E"/>
                </a:solidFill>
                <a:latin typeface="Calibri" pitchFamily="34" charset="0"/>
                <a:ea typeface="Calibri" pitchFamily="34" charset="-122"/>
                <a:cs typeface="Calibri" pitchFamily="34" charset="-120"/>
              </a:rPr>
              <a:t>IMPLEMENTATION</a:t>
            </a:r>
            <a:endParaRPr lang="en-US" sz="1050" dirty="0"/>
          </a:p>
        </p:txBody>
      </p:sp>
      <p:sp>
        <p:nvSpPr>
          <p:cNvPr id="3" name="Text 1"/>
          <p:cNvSpPr/>
          <p:nvPr/>
        </p:nvSpPr>
        <p:spPr>
          <a:xfrm>
            <a:off x="777240" y="694944"/>
            <a:ext cx="10637215" cy="603504"/>
          </a:xfrm>
          <a:prstGeom prst="rect">
            <a:avLst/>
          </a:prstGeom>
          <a:noFill/>
          <a:ln/>
        </p:spPr>
        <p:txBody>
          <a:bodyPr wrap="square" lIns="0" tIns="0" rIns="0" bIns="0" rtlCol="0" anchor="ctr"/>
          <a:lstStyle/>
          <a:p>
            <a:pPr indent="0" marL="0">
              <a:buNone/>
            </a:pPr>
            <a:r>
              <a:rPr lang="en-US" sz="3100" b="1" dirty="0">
                <a:solidFill>
                  <a:srgbClr val="1A1A1A"/>
                </a:solidFill>
                <a:latin typeface="Cambria" pitchFamily="34" charset="0"/>
                <a:ea typeface="Cambria" pitchFamily="34" charset="-122"/>
                <a:cs typeface="Cambria" pitchFamily="34" charset="-120"/>
              </a:rPr>
              <a:t>What is built and verified today</a:t>
            </a:r>
            <a:endParaRPr lang="en-US" sz="3100" dirty="0"/>
          </a:p>
        </p:txBody>
      </p:sp>
      <p:sp>
        <p:nvSpPr>
          <p:cNvPr id="4" name="Text 2"/>
          <p:cNvSpPr/>
          <p:nvPr/>
        </p:nvSpPr>
        <p:spPr>
          <a:xfrm>
            <a:off x="777240" y="1335024"/>
            <a:ext cx="10637215" cy="347472"/>
          </a:xfrm>
          <a:prstGeom prst="rect">
            <a:avLst/>
          </a:prstGeom>
          <a:noFill/>
          <a:ln/>
        </p:spPr>
        <p:txBody>
          <a:bodyPr wrap="square" lIns="0" tIns="0" rIns="0" bIns="0" rtlCol="0" anchor="ctr"/>
          <a:lstStyle/>
          <a:p>
            <a:pPr indent="0" marL="0">
              <a:buNone/>
            </a:pPr>
            <a:r>
              <a:rPr lang="en-US" sz="1400" dirty="0">
                <a:solidFill>
                  <a:srgbClr val="6E6E6E"/>
                </a:solidFill>
                <a:latin typeface="Calibri" pitchFamily="34" charset="0"/>
                <a:ea typeface="Calibri" pitchFamily="34" charset="-122"/>
                <a:cs typeface="Calibri" pitchFamily="34" charset="-120"/>
              </a:rPr>
              <a:t>Automated tests exercise the same functions the pipeline runs, so tests cannot drift from code.</a:t>
            </a:r>
            <a:endParaRPr lang="en-US" sz="1400" dirty="0"/>
          </a:p>
        </p:txBody>
      </p:sp>
      <p:sp>
        <p:nvSpPr>
          <p:cNvPr id="5" name="Shape 3"/>
          <p:cNvSpPr/>
          <p:nvPr/>
        </p:nvSpPr>
        <p:spPr>
          <a:xfrm>
            <a:off x="777240" y="6291072"/>
            <a:ext cx="10637215" cy="7315"/>
          </a:xfrm>
          <a:prstGeom prst="rect">
            <a:avLst/>
          </a:prstGeom>
          <a:solidFill>
            <a:srgbClr val="DEDCD7"/>
          </a:solidFill>
          <a:ln/>
        </p:spPr>
      </p:sp>
      <p:sp>
        <p:nvSpPr>
          <p:cNvPr id="6" name="Text 4"/>
          <p:cNvSpPr/>
          <p:nvPr/>
        </p:nvSpPr>
        <p:spPr>
          <a:xfrm>
            <a:off x="777240" y="6382512"/>
            <a:ext cx="7315200" cy="256032"/>
          </a:xfrm>
          <a:prstGeom prst="rect">
            <a:avLst/>
          </a:prstGeom>
          <a:noFill/>
          <a:ln/>
        </p:spPr>
        <p:txBody>
          <a:bodyPr wrap="square" lIns="0" tIns="0" rIns="0" bIns="0" rtlCol="0" anchor="ctr"/>
          <a:lstStyle/>
          <a:p>
            <a:pPr indent="0" marL="0">
              <a:buNone/>
            </a:pPr>
            <a:r>
              <a:rPr lang="en-US" sz="900" dirty="0">
                <a:solidFill>
                  <a:srgbClr val="9A9A9A"/>
                </a:solidFill>
                <a:latin typeface="Calibri" pitchFamily="34" charset="0"/>
                <a:ea typeface="Calibri" pitchFamily="34" charset="-122"/>
                <a:cs typeface="Calibri" pitchFamily="34" charset="-120"/>
              </a:rPr>
              <a:t>Instruct-Seg-Edit  ·  Foundations of Data Science  ·  Review 1</a:t>
            </a:r>
            <a:endParaRPr lang="en-US" sz="900" dirty="0"/>
          </a:p>
        </p:txBody>
      </p:sp>
      <p:sp>
        <p:nvSpPr>
          <p:cNvPr id="7" name="Text 5"/>
          <p:cNvSpPr/>
          <p:nvPr/>
        </p:nvSpPr>
        <p:spPr>
          <a:xfrm>
            <a:off x="10865815" y="6382512"/>
            <a:ext cx="548640" cy="256032"/>
          </a:xfrm>
          <a:prstGeom prst="rect">
            <a:avLst/>
          </a:prstGeom>
          <a:noFill/>
          <a:ln/>
        </p:spPr>
        <p:txBody>
          <a:bodyPr wrap="square" lIns="0" tIns="0" rIns="0" bIns="0" rtlCol="0" anchor="ctr"/>
          <a:lstStyle/>
          <a:p>
            <a:pPr algn="r" indent="0" marL="0">
              <a:buNone/>
            </a:pPr>
            <a:r>
              <a:rPr lang="en-US" sz="900" dirty="0">
                <a:solidFill>
                  <a:srgbClr val="9A9A9A"/>
                </a:solidFill>
                <a:latin typeface="Calibri" pitchFamily="34" charset="0"/>
                <a:ea typeface="Calibri" pitchFamily="34" charset="-122"/>
                <a:cs typeface="Calibri" pitchFamily="34" charset="-120"/>
              </a:rPr>
              <a:t>18</a:t>
            </a:r>
            <a:endParaRPr lang="en-US" sz="900" dirty="0"/>
          </a:p>
        </p:txBody>
      </p:sp>
      <p:sp>
        <p:nvSpPr>
          <p:cNvPr id="8" name="Text 6"/>
          <p:cNvSpPr/>
          <p:nvPr/>
        </p:nvSpPr>
        <p:spPr>
          <a:xfrm>
            <a:off x="777240" y="1920240"/>
            <a:ext cx="2560320" cy="274320"/>
          </a:xfrm>
          <a:prstGeom prst="rect">
            <a:avLst/>
          </a:prstGeom>
          <a:noFill/>
          <a:ln/>
        </p:spPr>
        <p:txBody>
          <a:bodyPr wrap="square" lIns="0" tIns="0" rIns="0" bIns="0" rtlCol="0" anchor="ctr"/>
          <a:lstStyle/>
          <a:p>
            <a:pPr indent="0" marL="0">
              <a:buNone/>
            </a:pPr>
            <a:r>
              <a:rPr lang="en-US" sz="1250" b="1" dirty="0">
                <a:solidFill>
                  <a:srgbClr val="1A1A1A"/>
                </a:solidFill>
                <a:latin typeface="Calibri" pitchFamily="34" charset="0"/>
                <a:ea typeface="Calibri" pitchFamily="34" charset="-122"/>
                <a:cs typeface="Calibri" pitchFamily="34" charset="-120"/>
              </a:rPr>
              <a:t>Instruction generation</a:t>
            </a:r>
            <a:endParaRPr lang="en-US" sz="1250" dirty="0"/>
          </a:p>
        </p:txBody>
      </p:sp>
      <p:sp>
        <p:nvSpPr>
          <p:cNvPr id="9" name="Text 7"/>
          <p:cNvSpPr/>
          <p:nvPr/>
        </p:nvSpPr>
        <p:spPr>
          <a:xfrm>
            <a:off x="3520440" y="1920240"/>
            <a:ext cx="5943600" cy="365760"/>
          </a:xfrm>
          <a:prstGeom prst="rect">
            <a:avLst/>
          </a:prstGeom>
          <a:noFill/>
          <a:ln/>
        </p:spPr>
        <p:txBody>
          <a:bodyPr wrap="square" lIns="0" tIns="0" rIns="0" bIns="0" rtlCol="0" anchor="ctr"/>
          <a:lstStyle/>
          <a:p>
            <a:pPr indent="0" marL="0">
              <a:lnSpc>
                <a:spcPts val="1600"/>
              </a:lnSpc>
              <a:buNone/>
            </a:pPr>
            <a:r>
              <a:rPr lang="en-US" sz="1150" dirty="0">
                <a:solidFill>
                  <a:srgbClr val="6E6E6E"/>
                </a:solidFill>
                <a:latin typeface="Calibri" pitchFamily="34" charset="0"/>
                <a:ea typeface="Calibri" pitchFamily="34" charset="-122"/>
                <a:cs typeface="Calibri" pitchFamily="34" charset="-120"/>
              </a:rPr>
              <a:t>Async, batched, resumable against a local VLM endpoint</a:t>
            </a:r>
            <a:endParaRPr lang="en-US" sz="1150" dirty="0"/>
          </a:p>
        </p:txBody>
      </p:sp>
      <p:sp>
        <p:nvSpPr>
          <p:cNvPr id="10" name="Text 8"/>
          <p:cNvSpPr/>
          <p:nvPr/>
        </p:nvSpPr>
        <p:spPr>
          <a:xfrm>
            <a:off x="9829800" y="1920240"/>
            <a:ext cx="1554480" cy="274320"/>
          </a:xfrm>
          <a:prstGeom prst="rect">
            <a:avLst/>
          </a:prstGeom>
          <a:noFill/>
          <a:ln/>
        </p:spPr>
        <p:txBody>
          <a:bodyPr wrap="square" lIns="0" tIns="0" rIns="0" bIns="0" rtlCol="0" anchor="ctr"/>
          <a:lstStyle/>
          <a:p>
            <a:pPr algn="r" indent="0" marL="0">
              <a:buNone/>
            </a:pPr>
            <a:r>
              <a:rPr lang="en-US" sz="1100" b="1" dirty="0">
                <a:solidFill>
                  <a:srgbClr val="8C3A1E"/>
                </a:solidFill>
                <a:latin typeface="Calibri" pitchFamily="34" charset="0"/>
                <a:ea typeface="Calibri" pitchFamily="34" charset="-122"/>
                <a:cs typeface="Calibri" pitchFamily="34" charset="-120"/>
              </a:rPr>
              <a:t>Running</a:t>
            </a:r>
            <a:endParaRPr lang="en-US" sz="1100" dirty="0"/>
          </a:p>
        </p:txBody>
      </p:sp>
      <p:sp>
        <p:nvSpPr>
          <p:cNvPr id="11" name="Shape 9"/>
          <p:cNvSpPr/>
          <p:nvPr/>
        </p:nvSpPr>
        <p:spPr>
          <a:xfrm>
            <a:off x="777240" y="2350008"/>
            <a:ext cx="10637215" cy="5486"/>
          </a:xfrm>
          <a:prstGeom prst="rect">
            <a:avLst/>
          </a:prstGeom>
          <a:solidFill>
            <a:srgbClr val="DEDCD7"/>
          </a:solidFill>
          <a:ln/>
        </p:spPr>
      </p:sp>
      <p:sp>
        <p:nvSpPr>
          <p:cNvPr id="12" name="Text 10"/>
          <p:cNvSpPr/>
          <p:nvPr/>
        </p:nvSpPr>
        <p:spPr>
          <a:xfrm>
            <a:off x="777240" y="2450592"/>
            <a:ext cx="2560320" cy="274320"/>
          </a:xfrm>
          <a:prstGeom prst="rect">
            <a:avLst/>
          </a:prstGeom>
          <a:noFill/>
          <a:ln/>
        </p:spPr>
        <p:txBody>
          <a:bodyPr wrap="square" lIns="0" tIns="0" rIns="0" bIns="0" rtlCol="0" anchor="ctr"/>
          <a:lstStyle/>
          <a:p>
            <a:pPr indent="0" marL="0">
              <a:buNone/>
            </a:pPr>
            <a:r>
              <a:rPr lang="en-US" sz="1250" b="1" dirty="0">
                <a:solidFill>
                  <a:srgbClr val="1A1A1A"/>
                </a:solidFill>
                <a:latin typeface="Calibri" pitchFamily="34" charset="0"/>
                <a:ea typeface="Calibri" pitchFamily="34" charset="-122"/>
                <a:cs typeface="Calibri" pitchFamily="34" charset="-120"/>
              </a:rPr>
              <a:t>Edit generation</a:t>
            </a:r>
            <a:endParaRPr lang="en-US" sz="1250" dirty="0"/>
          </a:p>
        </p:txBody>
      </p:sp>
      <p:sp>
        <p:nvSpPr>
          <p:cNvPr id="13" name="Text 11"/>
          <p:cNvSpPr/>
          <p:nvPr/>
        </p:nvSpPr>
        <p:spPr>
          <a:xfrm>
            <a:off x="3520440" y="2450592"/>
            <a:ext cx="5943600" cy="365760"/>
          </a:xfrm>
          <a:prstGeom prst="rect">
            <a:avLst/>
          </a:prstGeom>
          <a:noFill/>
          <a:ln/>
        </p:spPr>
        <p:txBody>
          <a:bodyPr wrap="square" lIns="0" tIns="0" rIns="0" bIns="0" rtlCol="0" anchor="ctr"/>
          <a:lstStyle/>
          <a:p>
            <a:pPr indent="0" marL="0">
              <a:lnSpc>
                <a:spcPts val="1600"/>
              </a:lnSpc>
              <a:buNone/>
            </a:pPr>
            <a:r>
              <a:rPr lang="en-US" sz="1150" dirty="0">
                <a:solidFill>
                  <a:srgbClr val="6E6E6E"/>
                </a:solidFill>
                <a:latin typeface="Calibri" pitchFamily="34" charset="0"/>
                <a:ea typeface="Calibri" pitchFamily="34" charset="-122"/>
                <a:cs typeface="Calibri" pitchFamily="34" charset="-120"/>
              </a:rPr>
              <a:t>ComfyUI over WebSocket with FLUX.1 Kontext; InstructPix2Pix path also implemented</a:t>
            </a:r>
            <a:endParaRPr lang="en-US" sz="1150" dirty="0"/>
          </a:p>
        </p:txBody>
      </p:sp>
      <p:sp>
        <p:nvSpPr>
          <p:cNvPr id="14" name="Text 12"/>
          <p:cNvSpPr/>
          <p:nvPr/>
        </p:nvSpPr>
        <p:spPr>
          <a:xfrm>
            <a:off x="9829800" y="2450592"/>
            <a:ext cx="1554480" cy="274320"/>
          </a:xfrm>
          <a:prstGeom prst="rect">
            <a:avLst/>
          </a:prstGeom>
          <a:noFill/>
          <a:ln/>
        </p:spPr>
        <p:txBody>
          <a:bodyPr wrap="square" lIns="0" tIns="0" rIns="0" bIns="0" rtlCol="0" anchor="ctr"/>
          <a:lstStyle/>
          <a:p>
            <a:pPr algn="r" indent="0" marL="0">
              <a:buNone/>
            </a:pPr>
            <a:r>
              <a:rPr lang="en-US" sz="1100" b="1" dirty="0">
                <a:solidFill>
                  <a:srgbClr val="8C3A1E"/>
                </a:solidFill>
                <a:latin typeface="Calibri" pitchFamily="34" charset="0"/>
                <a:ea typeface="Calibri" pitchFamily="34" charset="-122"/>
                <a:cs typeface="Calibri" pitchFamily="34" charset="-120"/>
              </a:rPr>
              <a:t>Running</a:t>
            </a:r>
            <a:endParaRPr lang="en-US" sz="1100" dirty="0"/>
          </a:p>
        </p:txBody>
      </p:sp>
      <p:sp>
        <p:nvSpPr>
          <p:cNvPr id="15" name="Shape 13"/>
          <p:cNvSpPr/>
          <p:nvPr/>
        </p:nvSpPr>
        <p:spPr>
          <a:xfrm>
            <a:off x="777240" y="2880360"/>
            <a:ext cx="10637215" cy="5486"/>
          </a:xfrm>
          <a:prstGeom prst="rect">
            <a:avLst/>
          </a:prstGeom>
          <a:solidFill>
            <a:srgbClr val="DEDCD7"/>
          </a:solidFill>
          <a:ln/>
        </p:spPr>
      </p:sp>
      <p:sp>
        <p:nvSpPr>
          <p:cNvPr id="16" name="Text 14"/>
          <p:cNvSpPr/>
          <p:nvPr/>
        </p:nvSpPr>
        <p:spPr>
          <a:xfrm>
            <a:off x="777240" y="2980944"/>
            <a:ext cx="2560320" cy="274320"/>
          </a:xfrm>
          <a:prstGeom prst="rect">
            <a:avLst/>
          </a:prstGeom>
          <a:noFill/>
          <a:ln/>
        </p:spPr>
        <p:txBody>
          <a:bodyPr wrap="square" lIns="0" tIns="0" rIns="0" bIns="0" rtlCol="0" anchor="ctr"/>
          <a:lstStyle/>
          <a:p>
            <a:pPr indent="0" marL="0">
              <a:buNone/>
            </a:pPr>
            <a:r>
              <a:rPr lang="en-US" sz="1250" b="1" dirty="0">
                <a:solidFill>
                  <a:srgbClr val="1A1A1A"/>
                </a:solidFill>
                <a:latin typeface="Calibri" pitchFamily="34" charset="0"/>
                <a:ea typeface="Calibri" pitchFamily="34" charset="-122"/>
                <a:cs typeface="Calibri" pitchFamily="34" charset="-120"/>
              </a:rPr>
              <a:t>Mask extraction</a:t>
            </a:r>
            <a:endParaRPr lang="en-US" sz="1250" dirty="0"/>
          </a:p>
        </p:txBody>
      </p:sp>
      <p:sp>
        <p:nvSpPr>
          <p:cNvPr id="17" name="Text 15"/>
          <p:cNvSpPr/>
          <p:nvPr/>
        </p:nvSpPr>
        <p:spPr>
          <a:xfrm>
            <a:off x="3520440" y="2980944"/>
            <a:ext cx="5943600" cy="365760"/>
          </a:xfrm>
          <a:prstGeom prst="rect">
            <a:avLst/>
          </a:prstGeom>
          <a:noFill/>
          <a:ln/>
        </p:spPr>
        <p:txBody>
          <a:bodyPr wrap="square" lIns="0" tIns="0" rIns="0" bIns="0" rtlCol="0" anchor="ctr"/>
          <a:lstStyle/>
          <a:p>
            <a:pPr indent="0" marL="0">
              <a:lnSpc>
                <a:spcPts val="1600"/>
              </a:lnSpc>
              <a:buNone/>
            </a:pPr>
            <a:r>
              <a:rPr lang="en-US" sz="1150" dirty="0">
                <a:solidFill>
                  <a:srgbClr val="6E6E6E"/>
                </a:solidFill>
                <a:latin typeface="Calibri" pitchFamily="34" charset="0"/>
                <a:ea typeface="Calibri" pitchFamily="34" charset="-122"/>
                <a:cs typeface="Calibri" pitchFamily="34" charset="-120"/>
              </a:rPr>
              <a:t>CIE76 ΔE in L*a*b* with morphological cleanup</a:t>
            </a:r>
            <a:endParaRPr lang="en-US" sz="1150" dirty="0"/>
          </a:p>
        </p:txBody>
      </p:sp>
      <p:sp>
        <p:nvSpPr>
          <p:cNvPr id="18" name="Text 16"/>
          <p:cNvSpPr/>
          <p:nvPr/>
        </p:nvSpPr>
        <p:spPr>
          <a:xfrm>
            <a:off x="9829800" y="2980944"/>
            <a:ext cx="1554480" cy="274320"/>
          </a:xfrm>
          <a:prstGeom prst="rect">
            <a:avLst/>
          </a:prstGeom>
          <a:noFill/>
          <a:ln/>
        </p:spPr>
        <p:txBody>
          <a:bodyPr wrap="square" lIns="0" tIns="0" rIns="0" bIns="0" rtlCol="0" anchor="ctr"/>
          <a:lstStyle/>
          <a:p>
            <a:pPr algn="r" indent="0" marL="0">
              <a:buNone/>
            </a:pPr>
            <a:r>
              <a:rPr lang="en-US" sz="1100" b="1" dirty="0">
                <a:solidFill>
                  <a:srgbClr val="8C3A1E"/>
                </a:solidFill>
                <a:latin typeface="Calibri" pitchFamily="34" charset="0"/>
                <a:ea typeface="Calibri" pitchFamily="34" charset="-122"/>
                <a:cs typeface="Calibri" pitchFamily="34" charset="-120"/>
              </a:rPr>
              <a:t>Verified</a:t>
            </a:r>
            <a:endParaRPr lang="en-US" sz="1100" dirty="0"/>
          </a:p>
        </p:txBody>
      </p:sp>
      <p:sp>
        <p:nvSpPr>
          <p:cNvPr id="19" name="Shape 17"/>
          <p:cNvSpPr/>
          <p:nvPr/>
        </p:nvSpPr>
        <p:spPr>
          <a:xfrm>
            <a:off x="777240" y="3410712"/>
            <a:ext cx="10637215" cy="5486"/>
          </a:xfrm>
          <a:prstGeom prst="rect">
            <a:avLst/>
          </a:prstGeom>
          <a:solidFill>
            <a:srgbClr val="DEDCD7"/>
          </a:solidFill>
          <a:ln/>
        </p:spPr>
      </p:sp>
      <p:sp>
        <p:nvSpPr>
          <p:cNvPr id="20" name="Text 18"/>
          <p:cNvSpPr/>
          <p:nvPr/>
        </p:nvSpPr>
        <p:spPr>
          <a:xfrm>
            <a:off x="777240" y="3511296"/>
            <a:ext cx="2560320" cy="274320"/>
          </a:xfrm>
          <a:prstGeom prst="rect">
            <a:avLst/>
          </a:prstGeom>
          <a:noFill/>
          <a:ln/>
        </p:spPr>
        <p:txBody>
          <a:bodyPr wrap="square" lIns="0" tIns="0" rIns="0" bIns="0" rtlCol="0" anchor="ctr"/>
          <a:lstStyle/>
          <a:p>
            <a:pPr indent="0" marL="0">
              <a:buNone/>
            </a:pPr>
            <a:r>
              <a:rPr lang="en-US" sz="1250" b="1" dirty="0">
                <a:solidFill>
                  <a:srgbClr val="1A1A1A"/>
                </a:solidFill>
                <a:latin typeface="Calibri" pitchFamily="34" charset="0"/>
                <a:ea typeface="Calibri" pitchFamily="34" charset="-122"/>
                <a:cs typeface="Calibri" pitchFamily="34" charset="-120"/>
              </a:rPr>
              <a:t>Exploratory analysis</a:t>
            </a:r>
            <a:endParaRPr lang="en-US" sz="1250" dirty="0"/>
          </a:p>
        </p:txBody>
      </p:sp>
      <p:sp>
        <p:nvSpPr>
          <p:cNvPr id="21" name="Text 19"/>
          <p:cNvSpPr/>
          <p:nvPr/>
        </p:nvSpPr>
        <p:spPr>
          <a:xfrm>
            <a:off x="3520440" y="3511296"/>
            <a:ext cx="5943600" cy="365760"/>
          </a:xfrm>
          <a:prstGeom prst="rect">
            <a:avLst/>
          </a:prstGeom>
          <a:noFill/>
          <a:ln/>
        </p:spPr>
        <p:txBody>
          <a:bodyPr wrap="square" lIns="0" tIns="0" rIns="0" bIns="0" rtlCol="0" anchor="ctr"/>
          <a:lstStyle/>
          <a:p>
            <a:pPr indent="0" marL="0">
              <a:lnSpc>
                <a:spcPts val="1600"/>
              </a:lnSpc>
              <a:buNone/>
            </a:pPr>
            <a:r>
              <a:rPr lang="en-US" sz="1150" dirty="0">
                <a:solidFill>
                  <a:srgbClr val="6E6E6E"/>
                </a:solidFill>
                <a:latin typeface="Calibri" pitchFamily="34" charset="0"/>
                <a:ea typeface="Calibri" pitchFamily="34" charset="-122"/>
                <a:cs typeface="Calibri" pitchFamily="34" charset="-120"/>
              </a:rPr>
              <a:t>Full corpus statistics over 1,290,861 records</a:t>
            </a:r>
            <a:endParaRPr lang="en-US" sz="1150" dirty="0"/>
          </a:p>
        </p:txBody>
      </p:sp>
      <p:sp>
        <p:nvSpPr>
          <p:cNvPr id="22" name="Text 20"/>
          <p:cNvSpPr/>
          <p:nvPr/>
        </p:nvSpPr>
        <p:spPr>
          <a:xfrm>
            <a:off x="9829800" y="3511296"/>
            <a:ext cx="1554480" cy="274320"/>
          </a:xfrm>
          <a:prstGeom prst="rect">
            <a:avLst/>
          </a:prstGeom>
          <a:noFill/>
          <a:ln/>
        </p:spPr>
        <p:txBody>
          <a:bodyPr wrap="square" lIns="0" tIns="0" rIns="0" bIns="0" rtlCol="0" anchor="ctr"/>
          <a:lstStyle/>
          <a:p>
            <a:pPr algn="r" indent="0" marL="0">
              <a:buNone/>
            </a:pPr>
            <a:r>
              <a:rPr lang="en-US" sz="1100" b="1" dirty="0">
                <a:solidFill>
                  <a:srgbClr val="8C3A1E"/>
                </a:solidFill>
                <a:latin typeface="Calibri" pitchFamily="34" charset="0"/>
                <a:ea typeface="Calibri" pitchFamily="34" charset="-122"/>
                <a:cs typeface="Calibri" pitchFamily="34" charset="-120"/>
              </a:rPr>
              <a:t>Complete</a:t>
            </a:r>
            <a:endParaRPr lang="en-US" sz="1100" dirty="0"/>
          </a:p>
        </p:txBody>
      </p:sp>
      <p:sp>
        <p:nvSpPr>
          <p:cNvPr id="23" name="Shape 21"/>
          <p:cNvSpPr/>
          <p:nvPr/>
        </p:nvSpPr>
        <p:spPr>
          <a:xfrm>
            <a:off x="777240" y="3941064"/>
            <a:ext cx="10637215" cy="5486"/>
          </a:xfrm>
          <a:prstGeom prst="rect">
            <a:avLst/>
          </a:prstGeom>
          <a:solidFill>
            <a:srgbClr val="DEDCD7"/>
          </a:solidFill>
          <a:ln/>
        </p:spPr>
      </p:sp>
      <p:sp>
        <p:nvSpPr>
          <p:cNvPr id="24" name="Text 22"/>
          <p:cNvSpPr/>
          <p:nvPr/>
        </p:nvSpPr>
        <p:spPr>
          <a:xfrm>
            <a:off x="777240" y="4041648"/>
            <a:ext cx="2560320" cy="274320"/>
          </a:xfrm>
          <a:prstGeom prst="rect">
            <a:avLst/>
          </a:prstGeom>
          <a:noFill/>
          <a:ln/>
        </p:spPr>
        <p:txBody>
          <a:bodyPr wrap="square" lIns="0" tIns="0" rIns="0" bIns="0" rtlCol="0" anchor="ctr"/>
          <a:lstStyle/>
          <a:p>
            <a:pPr indent="0" marL="0">
              <a:buNone/>
            </a:pPr>
            <a:r>
              <a:rPr lang="en-US" sz="1250" b="1" dirty="0">
                <a:solidFill>
                  <a:srgbClr val="1A1A1A"/>
                </a:solidFill>
                <a:latin typeface="Calibri" pitchFamily="34" charset="0"/>
                <a:ea typeface="Calibri" pitchFamily="34" charset="-122"/>
                <a:cs typeface="Calibri" pitchFamily="34" charset="-120"/>
              </a:rPr>
              <a:t>Segmenter prototype</a:t>
            </a:r>
            <a:endParaRPr lang="en-US" sz="1250" dirty="0"/>
          </a:p>
        </p:txBody>
      </p:sp>
      <p:sp>
        <p:nvSpPr>
          <p:cNvPr id="25" name="Text 23"/>
          <p:cNvSpPr/>
          <p:nvPr/>
        </p:nvSpPr>
        <p:spPr>
          <a:xfrm>
            <a:off x="3520440" y="4041648"/>
            <a:ext cx="5943600" cy="365760"/>
          </a:xfrm>
          <a:prstGeom prst="rect">
            <a:avLst/>
          </a:prstGeom>
          <a:noFill/>
          <a:ln/>
        </p:spPr>
        <p:txBody>
          <a:bodyPr wrap="square" lIns="0" tIns="0" rIns="0" bIns="0" rtlCol="0" anchor="ctr"/>
          <a:lstStyle/>
          <a:p>
            <a:pPr indent="0" marL="0">
              <a:lnSpc>
                <a:spcPts val="1600"/>
              </a:lnSpc>
              <a:buNone/>
            </a:pPr>
            <a:r>
              <a:rPr lang="en-US" sz="1150" dirty="0">
                <a:solidFill>
                  <a:srgbClr val="6E6E6E"/>
                </a:solidFill>
                <a:latin typeface="Calibri" pitchFamily="34" charset="0"/>
                <a:ea typeface="Calibri" pitchFamily="34" charset="-122"/>
                <a:cs typeface="Calibri" pitchFamily="34" charset="-120"/>
              </a:rPr>
              <a:t>Builds, forward pass, training step; text conditioning not yet added</a:t>
            </a:r>
            <a:endParaRPr lang="en-US" sz="1150" dirty="0"/>
          </a:p>
        </p:txBody>
      </p:sp>
      <p:sp>
        <p:nvSpPr>
          <p:cNvPr id="26" name="Text 24"/>
          <p:cNvSpPr/>
          <p:nvPr/>
        </p:nvSpPr>
        <p:spPr>
          <a:xfrm>
            <a:off x="9829800" y="4041648"/>
            <a:ext cx="1554480" cy="274320"/>
          </a:xfrm>
          <a:prstGeom prst="rect">
            <a:avLst/>
          </a:prstGeom>
          <a:noFill/>
          <a:ln/>
        </p:spPr>
        <p:txBody>
          <a:bodyPr wrap="square" lIns="0" tIns="0" rIns="0" bIns="0" rtlCol="0" anchor="ctr"/>
          <a:lstStyle/>
          <a:p>
            <a:pPr algn="r" indent="0" marL="0">
              <a:buNone/>
            </a:pPr>
            <a:r>
              <a:rPr lang="en-US" sz="1100" b="1" dirty="0">
                <a:solidFill>
                  <a:srgbClr val="8C3A1E"/>
                </a:solidFill>
                <a:latin typeface="Calibri" pitchFamily="34" charset="0"/>
                <a:ea typeface="Calibri" pitchFamily="34" charset="-122"/>
                <a:cs typeface="Calibri" pitchFamily="34" charset="-120"/>
              </a:rPr>
              <a:t>Partial</a:t>
            </a:r>
            <a:endParaRPr lang="en-US" sz="1100" dirty="0"/>
          </a:p>
        </p:txBody>
      </p:sp>
      <p:sp>
        <p:nvSpPr>
          <p:cNvPr id="27" name="Shape 25"/>
          <p:cNvSpPr/>
          <p:nvPr/>
        </p:nvSpPr>
        <p:spPr>
          <a:xfrm>
            <a:off x="777240" y="4471416"/>
            <a:ext cx="10637215" cy="5486"/>
          </a:xfrm>
          <a:prstGeom prst="rect">
            <a:avLst/>
          </a:prstGeom>
          <a:solidFill>
            <a:srgbClr val="DEDCD7"/>
          </a:solidFill>
          <a:ln/>
        </p:spPr>
      </p:sp>
      <p:sp>
        <p:nvSpPr>
          <p:cNvPr id="28" name="Text 26"/>
          <p:cNvSpPr/>
          <p:nvPr/>
        </p:nvSpPr>
        <p:spPr>
          <a:xfrm>
            <a:off x="777240" y="4572000"/>
            <a:ext cx="2560320" cy="274320"/>
          </a:xfrm>
          <a:prstGeom prst="rect">
            <a:avLst/>
          </a:prstGeom>
          <a:noFill/>
          <a:ln/>
        </p:spPr>
        <p:txBody>
          <a:bodyPr wrap="square" lIns="0" tIns="0" rIns="0" bIns="0" rtlCol="0" anchor="ctr"/>
          <a:lstStyle/>
          <a:p>
            <a:pPr indent="0" marL="0">
              <a:buNone/>
            </a:pPr>
            <a:r>
              <a:rPr lang="en-US" sz="1250" b="1" dirty="0">
                <a:solidFill>
                  <a:srgbClr val="1A1A1A"/>
                </a:solidFill>
                <a:latin typeface="Calibri" pitchFamily="34" charset="0"/>
                <a:ea typeface="Calibri" pitchFamily="34" charset="-122"/>
                <a:cs typeface="Calibri" pitchFamily="34" charset="-120"/>
              </a:rPr>
              <a:t>Stage 2</a:t>
            </a:r>
            <a:endParaRPr lang="en-US" sz="1250" dirty="0"/>
          </a:p>
        </p:txBody>
      </p:sp>
      <p:sp>
        <p:nvSpPr>
          <p:cNvPr id="29" name="Text 27"/>
          <p:cNvSpPr/>
          <p:nvPr/>
        </p:nvSpPr>
        <p:spPr>
          <a:xfrm>
            <a:off x="3520440" y="4572000"/>
            <a:ext cx="5943600" cy="365760"/>
          </a:xfrm>
          <a:prstGeom prst="rect">
            <a:avLst/>
          </a:prstGeom>
          <a:noFill/>
          <a:ln/>
        </p:spPr>
        <p:txBody>
          <a:bodyPr wrap="square" lIns="0" tIns="0" rIns="0" bIns="0" rtlCol="0" anchor="ctr"/>
          <a:lstStyle/>
          <a:p>
            <a:pPr indent="0" marL="0">
              <a:lnSpc>
                <a:spcPts val="1600"/>
              </a:lnSpc>
              <a:buNone/>
            </a:pPr>
            <a:r>
              <a:rPr lang="en-US" sz="1150" dirty="0">
                <a:solidFill>
                  <a:srgbClr val="6E6E6E"/>
                </a:solidFill>
                <a:latin typeface="Calibri" pitchFamily="34" charset="0"/>
                <a:ea typeface="Calibri" pitchFamily="34" charset="-122"/>
                <a:cs typeface="Calibri" pitchFamily="34" charset="-120"/>
              </a:rPr>
              <a:t>Mask-conditioned diffusion with masked loss</a:t>
            </a:r>
            <a:endParaRPr lang="en-US" sz="1150" dirty="0"/>
          </a:p>
        </p:txBody>
      </p:sp>
      <p:sp>
        <p:nvSpPr>
          <p:cNvPr id="30" name="Text 28"/>
          <p:cNvSpPr/>
          <p:nvPr/>
        </p:nvSpPr>
        <p:spPr>
          <a:xfrm>
            <a:off x="9829800" y="4572000"/>
            <a:ext cx="1554480" cy="274320"/>
          </a:xfrm>
          <a:prstGeom prst="rect">
            <a:avLst/>
          </a:prstGeom>
          <a:noFill/>
          <a:ln/>
        </p:spPr>
        <p:txBody>
          <a:bodyPr wrap="square" lIns="0" tIns="0" rIns="0" bIns="0" rtlCol="0" anchor="ctr"/>
          <a:lstStyle/>
          <a:p>
            <a:pPr algn="r" indent="0" marL="0">
              <a:buNone/>
            </a:pPr>
            <a:r>
              <a:rPr lang="en-US" sz="1100" dirty="0">
                <a:solidFill>
                  <a:srgbClr val="9A9A9A"/>
                </a:solidFill>
                <a:latin typeface="Calibri" pitchFamily="34" charset="0"/>
                <a:ea typeface="Calibri" pitchFamily="34" charset="-122"/>
                <a:cs typeface="Calibri" pitchFamily="34" charset="-120"/>
              </a:rPr>
              <a:t>Not started</a:t>
            </a:r>
            <a:endParaRPr lang="en-US" sz="1100" dirty="0"/>
          </a:p>
        </p:txBody>
      </p:sp>
      <p:sp>
        <p:nvSpPr>
          <p:cNvPr id="31" name="Shape 29"/>
          <p:cNvSpPr/>
          <p:nvPr/>
        </p:nvSpPr>
        <p:spPr>
          <a:xfrm>
            <a:off x="777240" y="5001768"/>
            <a:ext cx="10637215" cy="5486"/>
          </a:xfrm>
          <a:prstGeom prst="rect">
            <a:avLst/>
          </a:prstGeom>
          <a:solidFill>
            <a:srgbClr val="DEDCD7"/>
          </a:solidFill>
          <a:ln/>
        </p:spPr>
      </p:sp>
      <p:sp>
        <p:nvSpPr>
          <p:cNvPr id="32" name="Text 30"/>
          <p:cNvSpPr/>
          <p:nvPr/>
        </p:nvSpPr>
        <p:spPr>
          <a:xfrm>
            <a:off x="777240" y="5230368"/>
            <a:ext cx="6400800" cy="237744"/>
          </a:xfrm>
          <a:prstGeom prst="rect">
            <a:avLst/>
          </a:prstGeom>
          <a:noFill/>
          <a:ln/>
        </p:spPr>
        <p:txBody>
          <a:bodyPr wrap="square" lIns="0" tIns="0" rIns="0" bIns="0" rtlCol="0" anchor="ctr"/>
          <a:lstStyle/>
          <a:p>
            <a:pPr indent="0" marL="0">
              <a:buNone/>
            </a:pPr>
            <a:r>
              <a:rPr lang="en-US" sz="1250" b="1" dirty="0">
                <a:solidFill>
                  <a:srgbClr val="1A1A1A"/>
                </a:solidFill>
                <a:latin typeface="Calibri" pitchFamily="34" charset="0"/>
                <a:ea typeface="Calibri" pitchFamily="34" charset="-122"/>
                <a:cs typeface="Calibri" pitchFamily="34" charset="-120"/>
              </a:rPr>
              <a:t>Verification on synthetic pairs with known ground truth</a:t>
            </a:r>
            <a:endParaRPr lang="en-US" sz="1250" dirty="0"/>
          </a:p>
        </p:txBody>
      </p:sp>
      <p:sp>
        <p:nvSpPr>
          <p:cNvPr id="33" name="Text 31"/>
          <p:cNvSpPr/>
          <p:nvPr/>
        </p:nvSpPr>
        <p:spPr>
          <a:xfrm>
            <a:off x="777240" y="5541264"/>
            <a:ext cx="3108960" cy="219456"/>
          </a:xfrm>
          <a:prstGeom prst="rect">
            <a:avLst/>
          </a:prstGeom>
          <a:noFill/>
          <a:ln/>
        </p:spPr>
        <p:txBody>
          <a:bodyPr wrap="square" lIns="0" tIns="0" rIns="0" bIns="0" rtlCol="0" anchor="ctr"/>
          <a:lstStyle/>
          <a:p>
            <a:pPr indent="0" marL="0">
              <a:buNone/>
            </a:pPr>
            <a:r>
              <a:rPr lang="en-US" sz="1100" dirty="0">
                <a:solidFill>
                  <a:srgbClr val="6E6E6E"/>
                </a:solidFill>
                <a:latin typeface="Calibri" pitchFamily="34" charset="0"/>
                <a:ea typeface="Calibri" pitchFamily="34" charset="-122"/>
                <a:cs typeface="Calibri" pitchFamily="34" charset="-120"/>
              </a:rPr>
              <a:t>Luminance edit</a:t>
            </a:r>
            <a:endParaRPr lang="en-US" sz="1100" dirty="0"/>
          </a:p>
        </p:txBody>
      </p:sp>
      <p:sp>
        <p:nvSpPr>
          <p:cNvPr id="34" name="Text 32"/>
          <p:cNvSpPr/>
          <p:nvPr/>
        </p:nvSpPr>
        <p:spPr>
          <a:xfrm>
            <a:off x="3977640" y="5541264"/>
            <a:ext cx="2011680" cy="219456"/>
          </a:xfrm>
          <a:prstGeom prst="rect">
            <a:avLst/>
          </a:prstGeom>
          <a:noFill/>
          <a:ln/>
        </p:spPr>
        <p:txBody>
          <a:bodyPr wrap="square" lIns="0" tIns="0" rIns="0" bIns="0" rtlCol="0" anchor="ctr"/>
          <a:lstStyle/>
          <a:p>
            <a:pPr indent="0" marL="0">
              <a:buNone/>
            </a:pPr>
            <a:r>
              <a:rPr lang="en-US" sz="1100" b="1" dirty="0">
                <a:solidFill>
                  <a:srgbClr val="1A1A1A"/>
                </a:solidFill>
                <a:latin typeface="Calibri" pitchFamily="34" charset="0"/>
                <a:ea typeface="Calibri" pitchFamily="34" charset="-122"/>
                <a:cs typeface="Calibri" pitchFamily="34" charset="-120"/>
              </a:rPr>
              <a:t>3.47% recovered</a:t>
            </a:r>
            <a:endParaRPr lang="en-US" sz="1100" dirty="0"/>
          </a:p>
        </p:txBody>
      </p:sp>
      <p:sp>
        <p:nvSpPr>
          <p:cNvPr id="35" name="Text 33"/>
          <p:cNvSpPr/>
          <p:nvPr/>
        </p:nvSpPr>
        <p:spPr>
          <a:xfrm>
            <a:off x="6080760" y="5541264"/>
            <a:ext cx="2377440" cy="219456"/>
          </a:xfrm>
          <a:prstGeom prst="rect">
            <a:avLst/>
          </a:prstGeom>
          <a:noFill/>
          <a:ln/>
        </p:spPr>
        <p:txBody>
          <a:bodyPr wrap="square" lIns="0" tIns="0" rIns="0" bIns="0" rtlCol="0" anchor="ctr"/>
          <a:lstStyle/>
          <a:p>
            <a:pPr indent="0" marL="0">
              <a:buNone/>
            </a:pPr>
            <a:r>
              <a:rPr lang="en-US" sz="1100" dirty="0">
                <a:solidFill>
                  <a:srgbClr val="9A9A9A"/>
                </a:solidFill>
                <a:latin typeface="Calibri" pitchFamily="34" charset="0"/>
                <a:ea typeface="Calibri" pitchFamily="34" charset="-122"/>
                <a:cs typeface="Calibri" pitchFamily="34" charset="-120"/>
              </a:rPr>
              <a:t>3.39% true</a:t>
            </a:r>
            <a:endParaRPr lang="en-US" sz="1100" dirty="0"/>
          </a:p>
        </p:txBody>
      </p:sp>
      <p:sp>
        <p:nvSpPr>
          <p:cNvPr id="36" name="Text 34"/>
          <p:cNvSpPr/>
          <p:nvPr/>
        </p:nvSpPr>
        <p:spPr>
          <a:xfrm>
            <a:off x="777240" y="5779008"/>
            <a:ext cx="3108960" cy="219456"/>
          </a:xfrm>
          <a:prstGeom prst="rect">
            <a:avLst/>
          </a:prstGeom>
          <a:noFill/>
          <a:ln/>
        </p:spPr>
        <p:txBody>
          <a:bodyPr wrap="square" lIns="0" tIns="0" rIns="0" bIns="0" rtlCol="0" anchor="ctr"/>
          <a:lstStyle/>
          <a:p>
            <a:pPr indent="0" marL="0">
              <a:buNone/>
            </a:pPr>
            <a:r>
              <a:rPr lang="en-US" sz="1100" dirty="0">
                <a:solidFill>
                  <a:srgbClr val="6E6E6E"/>
                </a:solidFill>
                <a:latin typeface="Calibri" pitchFamily="34" charset="0"/>
                <a:ea typeface="Calibri" pitchFamily="34" charset="-122"/>
                <a:cs typeface="Calibri" pitchFamily="34" charset="-120"/>
              </a:rPr>
              <a:t>Colour-only edit</a:t>
            </a:r>
            <a:endParaRPr lang="en-US" sz="1100" dirty="0"/>
          </a:p>
        </p:txBody>
      </p:sp>
      <p:sp>
        <p:nvSpPr>
          <p:cNvPr id="37" name="Text 35"/>
          <p:cNvSpPr/>
          <p:nvPr/>
        </p:nvSpPr>
        <p:spPr>
          <a:xfrm>
            <a:off x="3977640" y="5779008"/>
            <a:ext cx="2011680" cy="219456"/>
          </a:xfrm>
          <a:prstGeom prst="rect">
            <a:avLst/>
          </a:prstGeom>
          <a:noFill/>
          <a:ln/>
        </p:spPr>
        <p:txBody>
          <a:bodyPr wrap="square" lIns="0" tIns="0" rIns="0" bIns="0" rtlCol="0" anchor="ctr"/>
          <a:lstStyle/>
          <a:p>
            <a:pPr indent="0" marL="0">
              <a:buNone/>
            </a:pPr>
            <a:r>
              <a:rPr lang="en-US" sz="1100" b="1" dirty="0">
                <a:solidFill>
                  <a:srgbClr val="1A1A1A"/>
                </a:solidFill>
                <a:latin typeface="Calibri" pitchFamily="34" charset="0"/>
                <a:ea typeface="Calibri" pitchFamily="34" charset="-122"/>
                <a:cs typeface="Calibri" pitchFamily="34" charset="-120"/>
              </a:rPr>
              <a:t>5.28% recovered</a:t>
            </a:r>
            <a:endParaRPr lang="en-US" sz="1100" dirty="0"/>
          </a:p>
        </p:txBody>
      </p:sp>
      <p:sp>
        <p:nvSpPr>
          <p:cNvPr id="38" name="Text 36"/>
          <p:cNvSpPr/>
          <p:nvPr/>
        </p:nvSpPr>
        <p:spPr>
          <a:xfrm>
            <a:off x="6080760" y="5779008"/>
            <a:ext cx="2377440" cy="219456"/>
          </a:xfrm>
          <a:prstGeom prst="rect">
            <a:avLst/>
          </a:prstGeom>
          <a:noFill/>
          <a:ln/>
        </p:spPr>
        <p:txBody>
          <a:bodyPr wrap="square" lIns="0" tIns="0" rIns="0" bIns="0" rtlCol="0" anchor="ctr"/>
          <a:lstStyle/>
          <a:p>
            <a:pPr indent="0" marL="0">
              <a:buNone/>
            </a:pPr>
            <a:r>
              <a:rPr lang="en-US" sz="1100" dirty="0">
                <a:solidFill>
                  <a:srgbClr val="9A9A9A"/>
                </a:solidFill>
                <a:latin typeface="Calibri" pitchFamily="34" charset="0"/>
                <a:ea typeface="Calibri" pitchFamily="34" charset="-122"/>
                <a:cs typeface="Calibri" pitchFamily="34" charset="-120"/>
              </a:rPr>
              <a:t>5.19% true</a:t>
            </a:r>
            <a:endParaRPr lang="en-US" sz="1100" dirty="0"/>
          </a:p>
        </p:txBody>
      </p:sp>
      <p:sp>
        <p:nvSpPr>
          <p:cNvPr id="39" name="Text 37"/>
          <p:cNvSpPr/>
          <p:nvPr/>
        </p:nvSpPr>
        <p:spPr>
          <a:xfrm>
            <a:off x="777240" y="6016752"/>
            <a:ext cx="3108960" cy="219456"/>
          </a:xfrm>
          <a:prstGeom prst="rect">
            <a:avLst/>
          </a:prstGeom>
          <a:noFill/>
          <a:ln/>
        </p:spPr>
        <p:txBody>
          <a:bodyPr wrap="square" lIns="0" tIns="0" rIns="0" bIns="0" rtlCol="0" anchor="ctr"/>
          <a:lstStyle/>
          <a:p>
            <a:pPr indent="0" marL="0">
              <a:buNone/>
            </a:pPr>
            <a:r>
              <a:rPr lang="en-US" sz="1100" dirty="0">
                <a:solidFill>
                  <a:srgbClr val="6E6E6E"/>
                </a:solidFill>
                <a:latin typeface="Calibri" pitchFamily="34" charset="0"/>
                <a:ea typeface="Calibri" pitchFamily="34" charset="-122"/>
                <a:cs typeface="Calibri" pitchFamily="34" charset="-120"/>
              </a:rPr>
              <a:t>Same edit, grayscale method</a:t>
            </a:r>
            <a:endParaRPr lang="en-US" sz="1100" dirty="0"/>
          </a:p>
        </p:txBody>
      </p:sp>
      <p:sp>
        <p:nvSpPr>
          <p:cNvPr id="40" name="Text 38"/>
          <p:cNvSpPr/>
          <p:nvPr/>
        </p:nvSpPr>
        <p:spPr>
          <a:xfrm>
            <a:off x="3977640" y="6016752"/>
            <a:ext cx="2011680" cy="219456"/>
          </a:xfrm>
          <a:prstGeom prst="rect">
            <a:avLst/>
          </a:prstGeom>
          <a:noFill/>
          <a:ln/>
        </p:spPr>
        <p:txBody>
          <a:bodyPr wrap="square" lIns="0" tIns="0" rIns="0" bIns="0" rtlCol="0" anchor="ctr"/>
          <a:lstStyle/>
          <a:p>
            <a:pPr indent="0" marL="0">
              <a:buNone/>
            </a:pPr>
            <a:r>
              <a:rPr lang="en-US" sz="1100" b="1" dirty="0">
                <a:solidFill>
                  <a:srgbClr val="1A1A1A"/>
                </a:solidFill>
                <a:latin typeface="Calibri" pitchFamily="34" charset="0"/>
                <a:ea typeface="Calibri" pitchFamily="34" charset="-122"/>
                <a:cs typeface="Calibri" pitchFamily="34" charset="-120"/>
              </a:rPr>
              <a:t>0.00% recovered</a:t>
            </a:r>
            <a:endParaRPr lang="en-US" sz="1100" dirty="0"/>
          </a:p>
        </p:txBody>
      </p:sp>
      <p:sp>
        <p:nvSpPr>
          <p:cNvPr id="41" name="Text 39"/>
          <p:cNvSpPr/>
          <p:nvPr/>
        </p:nvSpPr>
        <p:spPr>
          <a:xfrm>
            <a:off x="6080760" y="6016752"/>
            <a:ext cx="2377440" cy="219456"/>
          </a:xfrm>
          <a:prstGeom prst="rect">
            <a:avLst/>
          </a:prstGeom>
          <a:noFill/>
          <a:ln/>
        </p:spPr>
        <p:txBody>
          <a:bodyPr wrap="square" lIns="0" tIns="0" rIns="0" bIns="0" rtlCol="0" anchor="ctr"/>
          <a:lstStyle/>
          <a:p>
            <a:pPr indent="0" marL="0">
              <a:buNone/>
            </a:pPr>
            <a:r>
              <a:rPr lang="en-US" sz="1100" dirty="0">
                <a:solidFill>
                  <a:srgbClr val="9A9A9A"/>
                </a:solidFill>
                <a:latin typeface="Calibri" pitchFamily="34" charset="0"/>
                <a:ea typeface="Calibri" pitchFamily="34" charset="-122"/>
                <a:cs typeface="Calibri" pitchFamily="34" charset="-120"/>
              </a:rPr>
              <a:t>missed entirely</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420624"/>
            <a:ext cx="8229600" cy="219456"/>
          </a:xfrm>
          <a:prstGeom prst="rect">
            <a:avLst/>
          </a:prstGeom>
          <a:noFill/>
          <a:ln/>
        </p:spPr>
        <p:txBody>
          <a:bodyPr wrap="square" lIns="0" tIns="0" rIns="0" bIns="0" rtlCol="0" anchor="ctr"/>
          <a:lstStyle/>
          <a:p>
            <a:pPr indent="0" marL="0">
              <a:buNone/>
            </a:pPr>
            <a:r>
              <a:rPr lang="en-US" sz="1050" b="1" spc="220" kern="0" dirty="0">
                <a:solidFill>
                  <a:srgbClr val="8C3A1E"/>
                </a:solidFill>
                <a:latin typeface="Calibri" pitchFamily="34" charset="0"/>
                <a:ea typeface="Calibri" pitchFamily="34" charset="-122"/>
                <a:cs typeface="Calibri" pitchFamily="34" charset="-120"/>
              </a:rPr>
              <a:t>EVALUATION</a:t>
            </a:r>
            <a:endParaRPr lang="en-US" sz="1050" dirty="0"/>
          </a:p>
        </p:txBody>
      </p:sp>
      <p:sp>
        <p:nvSpPr>
          <p:cNvPr id="3" name="Text 1"/>
          <p:cNvSpPr/>
          <p:nvPr/>
        </p:nvSpPr>
        <p:spPr>
          <a:xfrm>
            <a:off x="777240" y="694944"/>
            <a:ext cx="10637215" cy="603504"/>
          </a:xfrm>
          <a:prstGeom prst="rect">
            <a:avLst/>
          </a:prstGeom>
          <a:noFill/>
          <a:ln/>
        </p:spPr>
        <p:txBody>
          <a:bodyPr wrap="square" lIns="0" tIns="0" rIns="0" bIns="0" rtlCol="0" anchor="ctr"/>
          <a:lstStyle/>
          <a:p>
            <a:pPr indent="0" marL="0">
              <a:buNone/>
            </a:pPr>
            <a:r>
              <a:rPr lang="en-US" sz="3100" b="1" dirty="0">
                <a:solidFill>
                  <a:srgbClr val="1A1A1A"/>
                </a:solidFill>
                <a:latin typeface="Cambria" pitchFamily="34" charset="0"/>
                <a:ea typeface="Cambria" pitchFamily="34" charset="-122"/>
                <a:cs typeface="Cambria" pitchFamily="34" charset="-120"/>
              </a:rPr>
              <a:t>How success will be measured</a:t>
            </a:r>
            <a:endParaRPr lang="en-US" sz="3100" dirty="0"/>
          </a:p>
        </p:txBody>
      </p:sp>
      <p:sp>
        <p:nvSpPr>
          <p:cNvPr id="4" name="Text 2"/>
          <p:cNvSpPr/>
          <p:nvPr/>
        </p:nvSpPr>
        <p:spPr>
          <a:xfrm>
            <a:off x="777240" y="1335024"/>
            <a:ext cx="10637215" cy="347472"/>
          </a:xfrm>
          <a:prstGeom prst="rect">
            <a:avLst/>
          </a:prstGeom>
          <a:noFill/>
          <a:ln/>
        </p:spPr>
        <p:txBody>
          <a:bodyPr wrap="square" lIns="0" tIns="0" rIns="0" bIns="0" rtlCol="0" anchor="ctr"/>
          <a:lstStyle/>
          <a:p>
            <a:pPr indent="0" marL="0">
              <a:buNone/>
            </a:pPr>
            <a:r>
              <a:rPr lang="en-US" sz="1400" dirty="0">
                <a:solidFill>
                  <a:srgbClr val="6E6E6E"/>
                </a:solidFill>
                <a:latin typeface="Calibri" pitchFamily="34" charset="0"/>
                <a:ea typeface="Calibri" pitchFamily="34" charset="-122"/>
                <a:cs typeface="Calibri" pitchFamily="34" charset="-120"/>
              </a:rPr>
              <a:t>Localization and editing are measured separately — which is only possible because they are separate models.</a:t>
            </a:r>
            <a:endParaRPr lang="en-US" sz="1400" dirty="0"/>
          </a:p>
        </p:txBody>
      </p:sp>
      <p:sp>
        <p:nvSpPr>
          <p:cNvPr id="5" name="Shape 3"/>
          <p:cNvSpPr/>
          <p:nvPr/>
        </p:nvSpPr>
        <p:spPr>
          <a:xfrm>
            <a:off x="777240" y="6291072"/>
            <a:ext cx="10637215" cy="7315"/>
          </a:xfrm>
          <a:prstGeom prst="rect">
            <a:avLst/>
          </a:prstGeom>
          <a:solidFill>
            <a:srgbClr val="DEDCD7"/>
          </a:solidFill>
          <a:ln/>
        </p:spPr>
      </p:sp>
      <p:sp>
        <p:nvSpPr>
          <p:cNvPr id="6" name="Text 4"/>
          <p:cNvSpPr/>
          <p:nvPr/>
        </p:nvSpPr>
        <p:spPr>
          <a:xfrm>
            <a:off x="777240" y="6382512"/>
            <a:ext cx="7315200" cy="256032"/>
          </a:xfrm>
          <a:prstGeom prst="rect">
            <a:avLst/>
          </a:prstGeom>
          <a:noFill/>
          <a:ln/>
        </p:spPr>
        <p:txBody>
          <a:bodyPr wrap="square" lIns="0" tIns="0" rIns="0" bIns="0" rtlCol="0" anchor="ctr"/>
          <a:lstStyle/>
          <a:p>
            <a:pPr indent="0" marL="0">
              <a:buNone/>
            </a:pPr>
            <a:r>
              <a:rPr lang="en-US" sz="900" dirty="0">
                <a:solidFill>
                  <a:srgbClr val="9A9A9A"/>
                </a:solidFill>
                <a:latin typeface="Calibri" pitchFamily="34" charset="0"/>
                <a:ea typeface="Calibri" pitchFamily="34" charset="-122"/>
                <a:cs typeface="Calibri" pitchFamily="34" charset="-120"/>
              </a:rPr>
              <a:t>Instruct-Seg-Edit  ·  Foundations of Data Science  ·  Review 1</a:t>
            </a:r>
            <a:endParaRPr lang="en-US" sz="900" dirty="0"/>
          </a:p>
        </p:txBody>
      </p:sp>
      <p:sp>
        <p:nvSpPr>
          <p:cNvPr id="7" name="Text 5"/>
          <p:cNvSpPr/>
          <p:nvPr/>
        </p:nvSpPr>
        <p:spPr>
          <a:xfrm>
            <a:off x="10865815" y="6382512"/>
            <a:ext cx="548640" cy="256032"/>
          </a:xfrm>
          <a:prstGeom prst="rect">
            <a:avLst/>
          </a:prstGeom>
          <a:noFill/>
          <a:ln/>
        </p:spPr>
        <p:txBody>
          <a:bodyPr wrap="square" lIns="0" tIns="0" rIns="0" bIns="0" rtlCol="0" anchor="ctr"/>
          <a:lstStyle/>
          <a:p>
            <a:pPr algn="r" indent="0" marL="0">
              <a:buNone/>
            </a:pPr>
            <a:r>
              <a:rPr lang="en-US" sz="900" dirty="0">
                <a:solidFill>
                  <a:srgbClr val="9A9A9A"/>
                </a:solidFill>
                <a:latin typeface="Calibri" pitchFamily="34" charset="0"/>
                <a:ea typeface="Calibri" pitchFamily="34" charset="-122"/>
                <a:cs typeface="Calibri" pitchFamily="34" charset="-120"/>
              </a:rPr>
              <a:t>19</a:t>
            </a:r>
            <a:endParaRPr lang="en-US" sz="900" dirty="0"/>
          </a:p>
        </p:txBody>
      </p:sp>
      <p:sp>
        <p:nvSpPr>
          <p:cNvPr id="8" name="Text 6"/>
          <p:cNvSpPr/>
          <p:nvPr/>
        </p:nvSpPr>
        <p:spPr>
          <a:xfrm>
            <a:off x="777240" y="1965960"/>
            <a:ext cx="3291840" cy="365760"/>
          </a:xfrm>
          <a:prstGeom prst="rect">
            <a:avLst/>
          </a:prstGeom>
          <a:noFill/>
          <a:ln/>
        </p:spPr>
        <p:txBody>
          <a:bodyPr wrap="square" lIns="0" tIns="0" rIns="0" bIns="0" rtlCol="0" anchor="ctr"/>
          <a:lstStyle/>
          <a:p>
            <a:pPr indent="0" marL="0">
              <a:buNone/>
            </a:pPr>
            <a:r>
              <a:rPr lang="en-US" sz="1900" b="1" dirty="0">
                <a:solidFill>
                  <a:srgbClr val="1A1A1A"/>
                </a:solidFill>
                <a:latin typeface="Cambria" pitchFamily="34" charset="0"/>
                <a:ea typeface="Cambria" pitchFamily="34" charset="-122"/>
                <a:cs typeface="Cambria" pitchFamily="34" charset="-120"/>
              </a:rPr>
              <a:t>Localization</a:t>
            </a:r>
            <a:endParaRPr lang="en-US" sz="1900" dirty="0"/>
          </a:p>
        </p:txBody>
      </p:sp>
      <p:sp>
        <p:nvSpPr>
          <p:cNvPr id="9" name="Shape 7"/>
          <p:cNvSpPr/>
          <p:nvPr/>
        </p:nvSpPr>
        <p:spPr>
          <a:xfrm>
            <a:off x="777240" y="2432304"/>
            <a:ext cx="3291840" cy="7315"/>
          </a:xfrm>
          <a:prstGeom prst="rect">
            <a:avLst/>
          </a:prstGeom>
          <a:solidFill>
            <a:srgbClr val="DEDCD7"/>
          </a:solidFill>
          <a:ln/>
        </p:spPr>
      </p:sp>
      <p:sp>
        <p:nvSpPr>
          <p:cNvPr id="10" name="Text 8"/>
          <p:cNvSpPr/>
          <p:nvPr/>
        </p:nvSpPr>
        <p:spPr>
          <a:xfrm>
            <a:off x="795528" y="2596896"/>
            <a:ext cx="3200400" cy="1554480"/>
          </a:xfrm>
          <a:prstGeom prst="rect">
            <a:avLst/>
          </a:prstGeom>
          <a:noFill/>
          <a:ln/>
        </p:spPr>
        <p:txBody>
          <a:bodyPr wrap="square" lIns="0" tIns="0" rIns="0" bIns="0" rtlCol="0" anchor="ctr"/>
          <a:lstStyle/>
          <a:p>
            <a:pPr marL="342900" indent="-342900">
              <a:spcAft>
                <a:spcPts val="900"/>
              </a:spcAft>
              <a:buSzPct val="100000"/>
              <a:buChar char="•"/>
            </a:pPr>
            <a:r>
              <a:rPr lang="en-US" sz="1200" dirty="0">
                <a:solidFill>
                  <a:srgbClr val="6E6E6E"/>
                </a:solidFill>
                <a:latin typeface="Calibri" pitchFamily="34" charset="0"/>
                <a:ea typeface="Calibri" pitchFamily="34" charset="-122"/>
                <a:cs typeface="Calibri" pitchFamily="34" charset="-120"/>
              </a:rPr>
              <a:t>Intersection over Union of the predicted edit region</a:t>
            </a:r>
            <a:endParaRPr lang="en-US" sz="1200" dirty="0"/>
          </a:p>
          <a:p>
            <a:pPr marL="342900" indent="-342900">
              <a:spcAft>
                <a:spcPts val="900"/>
              </a:spcAft>
              <a:buSzPct val="100000"/>
              <a:buChar char="•"/>
            </a:pPr>
            <a:r>
              <a:rPr lang="en-US" sz="1200" dirty="0">
                <a:solidFill>
                  <a:srgbClr val="6E6E6E"/>
                </a:solidFill>
                <a:latin typeface="Calibri" pitchFamily="34" charset="0"/>
                <a:ea typeface="Calibri" pitchFamily="34" charset="-122"/>
                <a:cs typeface="Calibri" pitchFamily="34" charset="-120"/>
              </a:rPr>
              <a:t>Dice coefficient</a:t>
            </a:r>
            <a:endParaRPr lang="en-US" sz="1200" dirty="0"/>
          </a:p>
          <a:p>
            <a:pPr marL="342900" indent="-342900">
              <a:spcAft>
                <a:spcPts val="900"/>
              </a:spcAft>
              <a:buSzPct val="100000"/>
              <a:buChar char="•"/>
            </a:pPr>
            <a:r>
              <a:rPr lang="en-US" sz="1200" dirty="0">
                <a:solidFill>
                  <a:srgbClr val="6E6E6E"/>
                </a:solidFill>
                <a:latin typeface="Calibri" pitchFamily="34" charset="0"/>
                <a:ea typeface="Calibri" pitchFamily="34" charset="-122"/>
                <a:cs typeface="Calibri" pitchFamily="34" charset="-120"/>
              </a:rPr>
              <a:t>Precision and recall of the region</a:t>
            </a:r>
            <a:endParaRPr lang="en-US" sz="1200" dirty="0"/>
          </a:p>
        </p:txBody>
      </p:sp>
      <p:sp>
        <p:nvSpPr>
          <p:cNvPr id="11" name="Text 9"/>
          <p:cNvSpPr/>
          <p:nvPr/>
        </p:nvSpPr>
        <p:spPr>
          <a:xfrm>
            <a:off x="4453128" y="1965960"/>
            <a:ext cx="3291840" cy="365760"/>
          </a:xfrm>
          <a:prstGeom prst="rect">
            <a:avLst/>
          </a:prstGeom>
          <a:noFill/>
          <a:ln/>
        </p:spPr>
        <p:txBody>
          <a:bodyPr wrap="square" lIns="0" tIns="0" rIns="0" bIns="0" rtlCol="0" anchor="ctr"/>
          <a:lstStyle/>
          <a:p>
            <a:pPr indent="0" marL="0">
              <a:buNone/>
            </a:pPr>
            <a:r>
              <a:rPr lang="en-US" sz="1900" b="1" dirty="0">
                <a:solidFill>
                  <a:srgbClr val="1A1A1A"/>
                </a:solidFill>
                <a:latin typeface="Cambria" pitchFamily="34" charset="0"/>
                <a:ea typeface="Cambria" pitchFamily="34" charset="-122"/>
                <a:cs typeface="Cambria" pitchFamily="34" charset="-120"/>
              </a:rPr>
              <a:t>Editing</a:t>
            </a:r>
            <a:endParaRPr lang="en-US" sz="1900" dirty="0"/>
          </a:p>
        </p:txBody>
      </p:sp>
      <p:sp>
        <p:nvSpPr>
          <p:cNvPr id="12" name="Shape 10"/>
          <p:cNvSpPr/>
          <p:nvPr/>
        </p:nvSpPr>
        <p:spPr>
          <a:xfrm>
            <a:off x="4453128" y="2432304"/>
            <a:ext cx="3291840" cy="7315"/>
          </a:xfrm>
          <a:prstGeom prst="rect">
            <a:avLst/>
          </a:prstGeom>
          <a:solidFill>
            <a:srgbClr val="DEDCD7"/>
          </a:solidFill>
          <a:ln/>
        </p:spPr>
      </p:sp>
      <p:sp>
        <p:nvSpPr>
          <p:cNvPr id="13" name="Text 11"/>
          <p:cNvSpPr/>
          <p:nvPr/>
        </p:nvSpPr>
        <p:spPr>
          <a:xfrm>
            <a:off x="4471416" y="2596896"/>
            <a:ext cx="3200400" cy="1554480"/>
          </a:xfrm>
          <a:prstGeom prst="rect">
            <a:avLst/>
          </a:prstGeom>
          <a:noFill/>
          <a:ln/>
        </p:spPr>
        <p:txBody>
          <a:bodyPr wrap="square" lIns="0" tIns="0" rIns="0" bIns="0" rtlCol="0" anchor="ctr"/>
          <a:lstStyle/>
          <a:p>
            <a:pPr marL="342900" indent="-342900">
              <a:spcAft>
                <a:spcPts val="900"/>
              </a:spcAft>
              <a:buSzPct val="100000"/>
              <a:buChar char="•"/>
            </a:pPr>
            <a:r>
              <a:rPr lang="en-US" sz="1200" dirty="0">
                <a:solidFill>
                  <a:srgbClr val="6E6E6E"/>
                </a:solidFill>
                <a:latin typeface="Calibri" pitchFamily="34" charset="0"/>
                <a:ea typeface="Calibri" pitchFamily="34" charset="-122"/>
                <a:cs typeface="Calibri" pitchFamily="34" charset="-120"/>
              </a:rPr>
              <a:t>LPIPS computed inside the masked region</a:t>
            </a:r>
            <a:endParaRPr lang="en-US" sz="1200" dirty="0"/>
          </a:p>
          <a:p>
            <a:pPr marL="342900" indent="-342900">
              <a:spcAft>
                <a:spcPts val="900"/>
              </a:spcAft>
              <a:buSzPct val="100000"/>
              <a:buChar char="•"/>
            </a:pPr>
            <a:r>
              <a:rPr lang="en-US" sz="1200" dirty="0">
                <a:solidFill>
                  <a:srgbClr val="6E6E6E"/>
                </a:solidFill>
                <a:latin typeface="Calibri" pitchFamily="34" charset="0"/>
                <a:ea typeface="Calibri" pitchFamily="34" charset="-122"/>
                <a:cs typeface="Calibri" pitchFamily="34" charset="-120"/>
              </a:rPr>
              <a:t>FID for overall image quality</a:t>
            </a:r>
            <a:endParaRPr lang="en-US" sz="1200" dirty="0"/>
          </a:p>
          <a:p>
            <a:pPr marL="342900" indent="-342900">
              <a:spcAft>
                <a:spcPts val="900"/>
              </a:spcAft>
              <a:buSzPct val="100000"/>
              <a:buChar char="•"/>
            </a:pPr>
            <a:r>
              <a:rPr lang="en-US" sz="1200" dirty="0">
                <a:solidFill>
                  <a:srgbClr val="6E6E6E"/>
                </a:solidFill>
                <a:latin typeface="Calibri" pitchFamily="34" charset="0"/>
                <a:ea typeface="Calibri" pitchFamily="34" charset="-122"/>
                <a:cs typeface="Calibri" pitchFamily="34" charset="-120"/>
              </a:rPr>
              <a:t>CLIP similarity between edited image and instruction</a:t>
            </a:r>
            <a:endParaRPr lang="en-US" sz="1200" dirty="0"/>
          </a:p>
        </p:txBody>
      </p:sp>
      <p:sp>
        <p:nvSpPr>
          <p:cNvPr id="14" name="Text 12"/>
          <p:cNvSpPr/>
          <p:nvPr/>
        </p:nvSpPr>
        <p:spPr>
          <a:xfrm>
            <a:off x="8129016" y="1965960"/>
            <a:ext cx="3291840" cy="365760"/>
          </a:xfrm>
          <a:prstGeom prst="rect">
            <a:avLst/>
          </a:prstGeom>
          <a:noFill/>
          <a:ln/>
        </p:spPr>
        <p:txBody>
          <a:bodyPr wrap="square" lIns="0" tIns="0" rIns="0" bIns="0" rtlCol="0" anchor="ctr"/>
          <a:lstStyle/>
          <a:p>
            <a:pPr indent="0" marL="0">
              <a:buNone/>
            </a:pPr>
            <a:r>
              <a:rPr lang="en-US" sz="1900" b="1" dirty="0">
                <a:solidFill>
                  <a:srgbClr val="1A1A1A"/>
                </a:solidFill>
                <a:latin typeface="Cambria" pitchFamily="34" charset="0"/>
                <a:ea typeface="Cambria" pitchFamily="34" charset="-122"/>
                <a:cs typeface="Cambria" pitchFamily="34" charset="-120"/>
              </a:rPr>
              <a:t>Efficiency</a:t>
            </a:r>
            <a:endParaRPr lang="en-US" sz="1900" dirty="0"/>
          </a:p>
        </p:txBody>
      </p:sp>
      <p:sp>
        <p:nvSpPr>
          <p:cNvPr id="15" name="Shape 13"/>
          <p:cNvSpPr/>
          <p:nvPr/>
        </p:nvSpPr>
        <p:spPr>
          <a:xfrm>
            <a:off x="8129016" y="2432304"/>
            <a:ext cx="3291840" cy="7315"/>
          </a:xfrm>
          <a:prstGeom prst="rect">
            <a:avLst/>
          </a:prstGeom>
          <a:solidFill>
            <a:srgbClr val="DEDCD7"/>
          </a:solidFill>
          <a:ln/>
        </p:spPr>
      </p:sp>
      <p:sp>
        <p:nvSpPr>
          <p:cNvPr id="16" name="Text 14"/>
          <p:cNvSpPr/>
          <p:nvPr/>
        </p:nvSpPr>
        <p:spPr>
          <a:xfrm>
            <a:off x="8147304" y="2596896"/>
            <a:ext cx="3200400" cy="1554480"/>
          </a:xfrm>
          <a:prstGeom prst="rect">
            <a:avLst/>
          </a:prstGeom>
          <a:noFill/>
          <a:ln/>
        </p:spPr>
        <p:txBody>
          <a:bodyPr wrap="square" lIns="0" tIns="0" rIns="0" bIns="0" rtlCol="0" anchor="ctr"/>
          <a:lstStyle/>
          <a:p>
            <a:pPr marL="342900" indent="-342900">
              <a:spcAft>
                <a:spcPts val="900"/>
              </a:spcAft>
              <a:buSzPct val="100000"/>
              <a:buChar char="•"/>
            </a:pPr>
            <a:r>
              <a:rPr lang="en-US" sz="1200" dirty="0">
                <a:solidFill>
                  <a:srgbClr val="6E6E6E"/>
                </a:solidFill>
                <a:latin typeface="Calibri" pitchFamily="34" charset="0"/>
                <a:ea typeface="Calibri" pitchFamily="34" charset="-122"/>
                <a:cs typeface="Calibri" pitchFamily="34" charset="-120"/>
              </a:rPr>
              <a:t>Inference latency at batch size 1</a:t>
            </a:r>
            <a:endParaRPr lang="en-US" sz="1200" dirty="0"/>
          </a:p>
          <a:p>
            <a:pPr marL="342900" indent="-342900">
              <a:spcAft>
                <a:spcPts val="900"/>
              </a:spcAft>
              <a:buSzPct val="100000"/>
              <a:buChar char="•"/>
            </a:pPr>
            <a:r>
              <a:rPr lang="en-US" sz="1200" dirty="0">
                <a:solidFill>
                  <a:srgbClr val="6E6E6E"/>
                </a:solidFill>
                <a:latin typeface="Calibri" pitchFamily="34" charset="0"/>
                <a:ea typeface="Calibri" pitchFamily="34" charset="-122"/>
                <a:cs typeface="Calibri" pitchFamily="34" charset="-120"/>
              </a:rPr>
              <a:t>Frames per second</a:t>
            </a:r>
            <a:endParaRPr lang="en-US" sz="1200" dirty="0"/>
          </a:p>
          <a:p>
            <a:pPr marL="342900" indent="-342900">
              <a:spcAft>
                <a:spcPts val="900"/>
              </a:spcAft>
              <a:buSzPct val="100000"/>
              <a:buChar char="•"/>
            </a:pPr>
            <a:r>
              <a:rPr lang="en-US" sz="1200" dirty="0">
                <a:solidFill>
                  <a:srgbClr val="6E6E6E"/>
                </a:solidFill>
                <a:latin typeface="Calibri" pitchFamily="34" charset="0"/>
                <a:ea typeface="Calibri" pitchFamily="34" charset="-122"/>
                <a:cs typeface="Calibri" pitchFamily="34" charset="-120"/>
              </a:rPr>
              <a:t>Parameter count and peak VRAM</a:t>
            </a:r>
            <a:endParaRPr lang="en-US" sz="1200" dirty="0"/>
          </a:p>
        </p:txBody>
      </p:sp>
      <p:sp>
        <p:nvSpPr>
          <p:cNvPr id="17" name="Shape 15"/>
          <p:cNvSpPr/>
          <p:nvPr/>
        </p:nvSpPr>
        <p:spPr>
          <a:xfrm>
            <a:off x="777240" y="4315968"/>
            <a:ext cx="10637215" cy="1234440"/>
          </a:xfrm>
          <a:prstGeom prst="rect">
            <a:avLst/>
          </a:prstGeom>
          <a:solidFill>
            <a:srgbClr val="F6F5F2"/>
          </a:solidFill>
          <a:ln/>
        </p:spPr>
      </p:sp>
      <p:sp>
        <p:nvSpPr>
          <p:cNvPr id="18" name="Text 16"/>
          <p:cNvSpPr/>
          <p:nvPr/>
        </p:nvSpPr>
        <p:spPr>
          <a:xfrm>
            <a:off x="1069848" y="4498848"/>
            <a:ext cx="2743200" cy="256032"/>
          </a:xfrm>
          <a:prstGeom prst="rect">
            <a:avLst/>
          </a:prstGeom>
          <a:noFill/>
          <a:ln/>
        </p:spPr>
        <p:txBody>
          <a:bodyPr wrap="square" lIns="0" tIns="0" rIns="0" bIns="0" rtlCol="0" anchor="ctr"/>
          <a:lstStyle/>
          <a:p>
            <a:pPr indent="0" marL="0">
              <a:buNone/>
            </a:pPr>
            <a:r>
              <a:rPr lang="en-US" sz="1250" b="1" dirty="0">
                <a:solidFill>
                  <a:srgbClr val="1A1A1A"/>
                </a:solidFill>
                <a:latin typeface="Calibri" pitchFamily="34" charset="0"/>
                <a:ea typeface="Calibri" pitchFamily="34" charset="-122"/>
                <a:cs typeface="Calibri" pitchFamily="34" charset="-120"/>
              </a:rPr>
              <a:t>Baseline</a:t>
            </a:r>
            <a:endParaRPr lang="en-US" sz="1250" dirty="0"/>
          </a:p>
        </p:txBody>
      </p:sp>
      <p:sp>
        <p:nvSpPr>
          <p:cNvPr id="19" name="Text 17"/>
          <p:cNvSpPr/>
          <p:nvPr/>
        </p:nvSpPr>
        <p:spPr>
          <a:xfrm>
            <a:off x="1069848" y="4791456"/>
            <a:ext cx="10051999" cy="640080"/>
          </a:xfrm>
          <a:prstGeom prst="rect">
            <a:avLst/>
          </a:prstGeom>
          <a:noFill/>
          <a:ln/>
        </p:spPr>
        <p:txBody>
          <a:bodyPr wrap="square" lIns="0" tIns="0" rIns="0" bIns="0" rtlCol="0" anchor="ctr"/>
          <a:lstStyle/>
          <a:p>
            <a:pPr indent="0" marL="0">
              <a:lnSpc>
                <a:spcPts val="1700"/>
              </a:lnSpc>
              <a:buNone/>
            </a:pPr>
            <a:r>
              <a:rPr lang="en-US" sz="1200" dirty="0">
                <a:solidFill>
                  <a:srgbClr val="6E6E6E"/>
                </a:solidFill>
                <a:latin typeface="Calibri" pitchFamily="34" charset="0"/>
                <a:ea typeface="Calibri" pitchFamily="34" charset="-122"/>
                <a:cs typeface="Calibri" pitchFamily="34" charset="-120"/>
              </a:rPr>
              <a:t>End-to-end InstructPix2Pix, run on identical instructions without a mask. Measuring our own system alone would prove nothing; the comparison against an entangled editor is what actually tests the hypothesis that explicit separation improves both control and edit quality.</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420624"/>
            <a:ext cx="8229600" cy="219456"/>
          </a:xfrm>
          <a:prstGeom prst="rect">
            <a:avLst/>
          </a:prstGeom>
          <a:noFill/>
          <a:ln/>
        </p:spPr>
        <p:txBody>
          <a:bodyPr wrap="square" lIns="0" tIns="0" rIns="0" bIns="0" rtlCol="0" anchor="ctr"/>
          <a:lstStyle/>
          <a:p>
            <a:pPr indent="0" marL="0">
              <a:buNone/>
            </a:pPr>
            <a:r>
              <a:rPr lang="en-US" sz="1050" b="1" spc="220" kern="0" dirty="0">
                <a:solidFill>
                  <a:srgbClr val="8C3A1E"/>
                </a:solidFill>
                <a:latin typeface="Calibri" pitchFamily="34" charset="0"/>
                <a:ea typeface="Calibri" pitchFamily="34" charset="-122"/>
                <a:cs typeface="Calibri" pitchFamily="34" charset="-120"/>
              </a:rPr>
              <a:t>HONEST ASSESSMENT</a:t>
            </a:r>
            <a:endParaRPr lang="en-US" sz="1050" dirty="0"/>
          </a:p>
        </p:txBody>
      </p:sp>
      <p:sp>
        <p:nvSpPr>
          <p:cNvPr id="3" name="Text 1"/>
          <p:cNvSpPr/>
          <p:nvPr/>
        </p:nvSpPr>
        <p:spPr>
          <a:xfrm>
            <a:off x="777240" y="694944"/>
            <a:ext cx="10637215" cy="603504"/>
          </a:xfrm>
          <a:prstGeom prst="rect">
            <a:avLst/>
          </a:prstGeom>
          <a:noFill/>
          <a:ln/>
        </p:spPr>
        <p:txBody>
          <a:bodyPr wrap="square" lIns="0" tIns="0" rIns="0" bIns="0" rtlCol="0" anchor="ctr"/>
          <a:lstStyle/>
          <a:p>
            <a:pPr indent="0" marL="0">
              <a:buNone/>
            </a:pPr>
            <a:r>
              <a:rPr lang="en-US" sz="3100" b="1" dirty="0">
                <a:solidFill>
                  <a:srgbClr val="1A1A1A"/>
                </a:solidFill>
                <a:latin typeface="Cambria" pitchFamily="34" charset="0"/>
                <a:ea typeface="Cambria" pitchFamily="34" charset="-122"/>
                <a:cs typeface="Cambria" pitchFamily="34" charset="-120"/>
              </a:rPr>
              <a:t>Known limitations, and the experiment that closes each</a:t>
            </a:r>
            <a:endParaRPr lang="en-US" sz="3100" dirty="0"/>
          </a:p>
        </p:txBody>
      </p:sp>
      <p:sp>
        <p:nvSpPr>
          <p:cNvPr id="4" name="Text 2"/>
          <p:cNvSpPr/>
          <p:nvPr/>
        </p:nvSpPr>
        <p:spPr>
          <a:xfrm>
            <a:off x="777240" y="1335024"/>
            <a:ext cx="10637215" cy="347472"/>
          </a:xfrm>
          <a:prstGeom prst="rect">
            <a:avLst/>
          </a:prstGeom>
          <a:noFill/>
          <a:ln/>
        </p:spPr>
        <p:txBody>
          <a:bodyPr wrap="square" lIns="0" tIns="0" rIns="0" bIns="0" rtlCol="0" anchor="ctr"/>
          <a:lstStyle/>
          <a:p>
            <a:pPr indent="0" marL="0">
              <a:buNone/>
            </a:pPr>
            <a:r>
              <a:rPr lang="en-US" sz="1400" dirty="0">
                <a:solidFill>
                  <a:srgbClr val="6E6E6E"/>
                </a:solidFill>
                <a:latin typeface="Calibri" pitchFamily="34" charset="0"/>
                <a:ea typeface="Calibri" pitchFamily="34" charset="-122"/>
                <a:cs typeface="Calibri" pitchFamily="34" charset="-120"/>
              </a:rPr>
              <a:t>Stated before being asked, because each one has a concrete resolution.</a:t>
            </a:r>
            <a:endParaRPr lang="en-US" sz="1400" dirty="0"/>
          </a:p>
        </p:txBody>
      </p:sp>
      <p:sp>
        <p:nvSpPr>
          <p:cNvPr id="5" name="Shape 3"/>
          <p:cNvSpPr/>
          <p:nvPr/>
        </p:nvSpPr>
        <p:spPr>
          <a:xfrm>
            <a:off x="777240" y="6291072"/>
            <a:ext cx="10637215" cy="7315"/>
          </a:xfrm>
          <a:prstGeom prst="rect">
            <a:avLst/>
          </a:prstGeom>
          <a:solidFill>
            <a:srgbClr val="DEDCD7"/>
          </a:solidFill>
          <a:ln/>
        </p:spPr>
      </p:sp>
      <p:sp>
        <p:nvSpPr>
          <p:cNvPr id="6" name="Text 4"/>
          <p:cNvSpPr/>
          <p:nvPr/>
        </p:nvSpPr>
        <p:spPr>
          <a:xfrm>
            <a:off x="777240" y="6382512"/>
            <a:ext cx="7315200" cy="256032"/>
          </a:xfrm>
          <a:prstGeom prst="rect">
            <a:avLst/>
          </a:prstGeom>
          <a:noFill/>
          <a:ln/>
        </p:spPr>
        <p:txBody>
          <a:bodyPr wrap="square" lIns="0" tIns="0" rIns="0" bIns="0" rtlCol="0" anchor="ctr"/>
          <a:lstStyle/>
          <a:p>
            <a:pPr indent="0" marL="0">
              <a:buNone/>
            </a:pPr>
            <a:r>
              <a:rPr lang="en-US" sz="900" dirty="0">
                <a:solidFill>
                  <a:srgbClr val="9A9A9A"/>
                </a:solidFill>
                <a:latin typeface="Calibri" pitchFamily="34" charset="0"/>
                <a:ea typeface="Calibri" pitchFamily="34" charset="-122"/>
                <a:cs typeface="Calibri" pitchFamily="34" charset="-120"/>
              </a:rPr>
              <a:t>Instruct-Seg-Edit  ·  Foundations of Data Science  ·  Review 1</a:t>
            </a:r>
            <a:endParaRPr lang="en-US" sz="900" dirty="0"/>
          </a:p>
        </p:txBody>
      </p:sp>
      <p:sp>
        <p:nvSpPr>
          <p:cNvPr id="7" name="Text 5"/>
          <p:cNvSpPr/>
          <p:nvPr/>
        </p:nvSpPr>
        <p:spPr>
          <a:xfrm>
            <a:off x="10865815" y="6382512"/>
            <a:ext cx="548640" cy="256032"/>
          </a:xfrm>
          <a:prstGeom prst="rect">
            <a:avLst/>
          </a:prstGeom>
          <a:noFill/>
          <a:ln/>
        </p:spPr>
        <p:txBody>
          <a:bodyPr wrap="square" lIns="0" tIns="0" rIns="0" bIns="0" rtlCol="0" anchor="ctr"/>
          <a:lstStyle/>
          <a:p>
            <a:pPr algn="r" indent="0" marL="0">
              <a:buNone/>
            </a:pPr>
            <a:r>
              <a:rPr lang="en-US" sz="900" dirty="0">
                <a:solidFill>
                  <a:srgbClr val="9A9A9A"/>
                </a:solidFill>
                <a:latin typeface="Calibri" pitchFamily="34" charset="0"/>
                <a:ea typeface="Calibri" pitchFamily="34" charset="-122"/>
                <a:cs typeface="Calibri" pitchFamily="34" charset="-120"/>
              </a:rPr>
              <a:t>20</a:t>
            </a:r>
            <a:endParaRPr lang="en-US" sz="9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777240" y="1901952"/>
          <a:ext cx="10637215" cy="914400"/>
        </p:xfrm>
        <a:graphic>
          <a:graphicData uri="http://schemas.openxmlformats.org/drawingml/2006/table">
            <a:tbl>
              <a:tblPr/>
              <a:tblGrid>
                <a:gridCol w="2560320"/>
                <a:gridCol w="4480560"/>
                <a:gridCol w="3593592"/>
              </a:tblGrid>
              <a:tr h="777240">
                <a:tc>
                  <a:txBody>
                    <a:bodyPr/>
                    <a:lstStyle/>
                    <a:p>
                      <a:pPr indent="0" marL="0">
                        <a:buNone/>
                      </a:pPr>
                      <a:r>
                        <a:rPr lang="en-US" sz="1100" b="1" dirty="0">
                          <a:solidFill>
                            <a:srgbClr val="1A1A1A"/>
                          </a:solidFill>
                          <a:latin typeface="Calibri" pitchFamily="34" charset="0"/>
                          <a:ea typeface="Calibri" pitchFamily="34" charset="-122"/>
                          <a:cs typeface="Calibri" pitchFamily="34" charset="-120"/>
                        </a:rPr>
                        <a:t>Limitation</a:t>
                      </a:r>
                      <a:endParaRPr lang="en-US" sz="11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6F5F2"/>
                    </a:solidFill>
                  </a:tcPr>
                </a:tc>
                <a:tc>
                  <a:txBody>
                    <a:bodyPr/>
                    <a:lstStyle/>
                    <a:p>
                      <a:pPr indent="0" marL="0">
                        <a:buNone/>
                      </a:pPr>
                      <a:r>
                        <a:rPr lang="en-US" sz="1100" b="1" dirty="0">
                          <a:solidFill>
                            <a:srgbClr val="1A1A1A"/>
                          </a:solidFill>
                          <a:latin typeface="Calibri" pitchFamily="34" charset="0"/>
                          <a:ea typeface="Calibri" pitchFamily="34" charset="-122"/>
                          <a:cs typeface="Calibri" pitchFamily="34" charset="-120"/>
                        </a:rPr>
                        <a:t>Why it matters</a:t>
                      </a:r>
                      <a:endParaRPr lang="en-US" sz="11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6F5F2"/>
                    </a:solidFill>
                  </a:tcPr>
                </a:tc>
                <a:tc>
                  <a:txBody>
                    <a:bodyPr/>
                    <a:lstStyle/>
                    <a:p>
                      <a:pPr indent="0" marL="0">
                        <a:buNone/>
                      </a:pPr>
                      <a:r>
                        <a:rPr lang="en-US" sz="1100" b="1" dirty="0">
                          <a:solidFill>
                            <a:srgbClr val="1A1A1A"/>
                          </a:solidFill>
                          <a:latin typeface="Calibri" pitchFamily="34" charset="0"/>
                          <a:ea typeface="Calibri" pitchFamily="34" charset="-122"/>
                          <a:cs typeface="Calibri" pitchFamily="34" charset="-120"/>
                        </a:rPr>
                        <a:t>Planned resolution</a:t>
                      </a:r>
                      <a:endParaRPr lang="en-US" sz="11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6F5F2"/>
                    </a:solidFill>
                  </a:tcPr>
                </a:tc>
              </a:tr>
              <a:tr h="777240">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Supervision is partly circular</a:t>
                      </a:r>
                      <a:endParaRPr lang="en-US" sz="11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Masks are recovered from the output of an instruction-following editor, so Stage 1 learns where that editor makes changes and inherits its localization biases.</a:t>
                      </a:r>
                      <a:endParaRPr lang="en-US" sz="11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Validate a sample against human annotation and report the agreement rate.</a:t>
                      </a:r>
                      <a:endParaRPr lang="en-US" sz="11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r>
              <a:tr h="777240">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Threshold tuned on synthetic noise</a:t>
                      </a:r>
                      <a:endParaRPr lang="en-US" sz="11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ΔE = 12 and the 40 px component floor were chosen against simulated regeneration noise, not real generated pairs.</a:t>
                      </a:r>
                      <a:endParaRPr lang="en-US" sz="11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Sweep both against a small hand-labelled set once generation completes.</a:t>
                      </a:r>
                      <a:endParaRPr lang="en-US" sz="11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r>
              <a:tr h="777240">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Realized dataset size is unknown</a:t>
                      </a:r>
                      <a:endParaRPr lang="en-US" sz="11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RedCaps URLs rot and slow hosts are skipped by timeout, so the usable record count is below the 20,000 sampled.</a:t>
                      </a:r>
                      <a:endParaRPr lang="en-US" sz="11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Report the measured count rather than the sampled figure.</a:t>
                      </a:r>
                      <a:endParaRPr lang="en-US" sz="11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r>
              <a:tr h="777240">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Stage 2 is not yet built</a:t>
                      </a:r>
                      <a:endParaRPr lang="en-US" sz="11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The mask-conditioned diffusion half is specified but unimplemented, so no end-to-end result exists yet.</a:t>
                      </a:r>
                      <a:endParaRPr lang="en-US" sz="11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Target for Review 2, using the derived masks already produced.</a:t>
                      </a:r>
                      <a:endParaRPr lang="en-US" sz="11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420624"/>
            <a:ext cx="8229600" cy="219456"/>
          </a:xfrm>
          <a:prstGeom prst="rect">
            <a:avLst/>
          </a:prstGeom>
          <a:noFill/>
          <a:ln/>
        </p:spPr>
        <p:txBody>
          <a:bodyPr wrap="square" lIns="0" tIns="0" rIns="0" bIns="0" rtlCol="0" anchor="ctr"/>
          <a:lstStyle/>
          <a:p>
            <a:pPr indent="0" marL="0">
              <a:buNone/>
            </a:pPr>
            <a:r>
              <a:rPr lang="en-US" sz="1050" b="1" spc="220" kern="0" dirty="0">
                <a:solidFill>
                  <a:srgbClr val="8C3A1E"/>
                </a:solidFill>
                <a:latin typeface="Calibri" pitchFamily="34" charset="0"/>
                <a:ea typeface="Calibri" pitchFamily="34" charset="-122"/>
                <a:cs typeface="Calibri" pitchFamily="34" charset="-120"/>
              </a:rPr>
              <a:t>NEXT STEPS</a:t>
            </a:r>
            <a:endParaRPr lang="en-US" sz="1050" dirty="0"/>
          </a:p>
        </p:txBody>
      </p:sp>
      <p:sp>
        <p:nvSpPr>
          <p:cNvPr id="3" name="Text 1"/>
          <p:cNvSpPr/>
          <p:nvPr/>
        </p:nvSpPr>
        <p:spPr>
          <a:xfrm>
            <a:off x="777240" y="694944"/>
            <a:ext cx="10637215" cy="603504"/>
          </a:xfrm>
          <a:prstGeom prst="rect">
            <a:avLst/>
          </a:prstGeom>
          <a:noFill/>
          <a:ln/>
        </p:spPr>
        <p:txBody>
          <a:bodyPr wrap="square" lIns="0" tIns="0" rIns="0" bIns="0" rtlCol="0" anchor="ctr"/>
          <a:lstStyle/>
          <a:p>
            <a:pPr indent="0" marL="0">
              <a:buNone/>
            </a:pPr>
            <a:r>
              <a:rPr lang="en-US" sz="3100" b="1" dirty="0">
                <a:solidFill>
                  <a:srgbClr val="1A1A1A"/>
                </a:solidFill>
                <a:latin typeface="Cambria" pitchFamily="34" charset="0"/>
                <a:ea typeface="Cambria" pitchFamily="34" charset="-122"/>
                <a:cs typeface="Cambria" pitchFamily="34" charset="-120"/>
              </a:rPr>
              <a:t>Plan to Review 2</a:t>
            </a:r>
            <a:endParaRPr lang="en-US" sz="3100" dirty="0"/>
          </a:p>
        </p:txBody>
      </p:sp>
      <p:sp>
        <p:nvSpPr>
          <p:cNvPr id="4" name="Text 2"/>
          <p:cNvSpPr/>
          <p:nvPr/>
        </p:nvSpPr>
        <p:spPr>
          <a:xfrm>
            <a:off x="777240" y="1335024"/>
            <a:ext cx="10637215" cy="347472"/>
          </a:xfrm>
          <a:prstGeom prst="rect">
            <a:avLst/>
          </a:prstGeom>
          <a:noFill/>
          <a:ln/>
        </p:spPr>
        <p:txBody>
          <a:bodyPr wrap="square" lIns="0" tIns="0" rIns="0" bIns="0" rtlCol="0" anchor="ctr"/>
          <a:lstStyle/>
          <a:p>
            <a:pPr indent="0" marL="0">
              <a:buNone/>
            </a:pPr>
            <a:r>
              <a:rPr lang="en-US" sz="1400" dirty="0">
                <a:solidFill>
                  <a:srgbClr val="6E6E6E"/>
                </a:solidFill>
                <a:latin typeface="Calibri" pitchFamily="34" charset="0"/>
                <a:ea typeface="Calibri" pitchFamily="34" charset="-122"/>
                <a:cs typeface="Calibri" pitchFamily="34" charset="-120"/>
              </a:rPr>
              <a:t>Four phases, each with a deliverable the panel can check.</a:t>
            </a:r>
            <a:endParaRPr lang="en-US" sz="1400" dirty="0"/>
          </a:p>
        </p:txBody>
      </p:sp>
      <p:sp>
        <p:nvSpPr>
          <p:cNvPr id="5" name="Shape 3"/>
          <p:cNvSpPr/>
          <p:nvPr/>
        </p:nvSpPr>
        <p:spPr>
          <a:xfrm>
            <a:off x="777240" y="6291072"/>
            <a:ext cx="10637215" cy="7315"/>
          </a:xfrm>
          <a:prstGeom prst="rect">
            <a:avLst/>
          </a:prstGeom>
          <a:solidFill>
            <a:srgbClr val="DEDCD7"/>
          </a:solidFill>
          <a:ln/>
        </p:spPr>
      </p:sp>
      <p:sp>
        <p:nvSpPr>
          <p:cNvPr id="6" name="Text 4"/>
          <p:cNvSpPr/>
          <p:nvPr/>
        </p:nvSpPr>
        <p:spPr>
          <a:xfrm>
            <a:off x="777240" y="6382512"/>
            <a:ext cx="7315200" cy="256032"/>
          </a:xfrm>
          <a:prstGeom prst="rect">
            <a:avLst/>
          </a:prstGeom>
          <a:noFill/>
          <a:ln/>
        </p:spPr>
        <p:txBody>
          <a:bodyPr wrap="square" lIns="0" tIns="0" rIns="0" bIns="0" rtlCol="0" anchor="ctr"/>
          <a:lstStyle/>
          <a:p>
            <a:pPr indent="0" marL="0">
              <a:buNone/>
            </a:pPr>
            <a:r>
              <a:rPr lang="en-US" sz="900" dirty="0">
                <a:solidFill>
                  <a:srgbClr val="9A9A9A"/>
                </a:solidFill>
                <a:latin typeface="Calibri" pitchFamily="34" charset="0"/>
                <a:ea typeface="Calibri" pitchFamily="34" charset="-122"/>
                <a:cs typeface="Calibri" pitchFamily="34" charset="-120"/>
              </a:rPr>
              <a:t>Instruct-Seg-Edit  ·  Foundations of Data Science  ·  Review 1</a:t>
            </a:r>
            <a:endParaRPr lang="en-US" sz="900" dirty="0"/>
          </a:p>
        </p:txBody>
      </p:sp>
      <p:sp>
        <p:nvSpPr>
          <p:cNvPr id="7" name="Text 5"/>
          <p:cNvSpPr/>
          <p:nvPr/>
        </p:nvSpPr>
        <p:spPr>
          <a:xfrm>
            <a:off x="10865815" y="6382512"/>
            <a:ext cx="548640" cy="256032"/>
          </a:xfrm>
          <a:prstGeom prst="rect">
            <a:avLst/>
          </a:prstGeom>
          <a:noFill/>
          <a:ln/>
        </p:spPr>
        <p:txBody>
          <a:bodyPr wrap="square" lIns="0" tIns="0" rIns="0" bIns="0" rtlCol="0" anchor="ctr"/>
          <a:lstStyle/>
          <a:p>
            <a:pPr algn="r" indent="0" marL="0">
              <a:buNone/>
            </a:pPr>
            <a:r>
              <a:rPr lang="en-US" sz="900" dirty="0">
                <a:solidFill>
                  <a:srgbClr val="9A9A9A"/>
                </a:solidFill>
                <a:latin typeface="Calibri" pitchFamily="34" charset="0"/>
                <a:ea typeface="Calibri" pitchFamily="34" charset="-122"/>
                <a:cs typeface="Calibri" pitchFamily="34" charset="-120"/>
              </a:rPr>
              <a:t>21</a:t>
            </a:r>
            <a:endParaRPr lang="en-US" sz="900" dirty="0"/>
          </a:p>
        </p:txBody>
      </p:sp>
      <p:sp>
        <p:nvSpPr>
          <p:cNvPr id="8" name="Text 6"/>
          <p:cNvSpPr/>
          <p:nvPr/>
        </p:nvSpPr>
        <p:spPr>
          <a:xfrm>
            <a:off x="777240" y="1993392"/>
            <a:ext cx="1371600" cy="237744"/>
          </a:xfrm>
          <a:prstGeom prst="rect">
            <a:avLst/>
          </a:prstGeom>
          <a:noFill/>
          <a:ln/>
        </p:spPr>
        <p:txBody>
          <a:bodyPr wrap="square" lIns="0" tIns="0" rIns="0" bIns="0" rtlCol="0" anchor="ctr"/>
          <a:lstStyle/>
          <a:p>
            <a:pPr indent="0" marL="0">
              <a:buNone/>
            </a:pPr>
            <a:r>
              <a:rPr lang="en-US" sz="1000" b="1" spc="140" kern="0" dirty="0">
                <a:solidFill>
                  <a:srgbClr val="8C3A1E"/>
                </a:solidFill>
                <a:latin typeface="Calibri" pitchFamily="34" charset="0"/>
                <a:ea typeface="Calibri" pitchFamily="34" charset="-122"/>
                <a:cs typeface="Calibri" pitchFamily="34" charset="-120"/>
              </a:rPr>
              <a:t>NOW</a:t>
            </a:r>
            <a:endParaRPr lang="en-US" sz="1000" dirty="0"/>
          </a:p>
        </p:txBody>
      </p:sp>
      <p:sp>
        <p:nvSpPr>
          <p:cNvPr id="9" name="Text 7"/>
          <p:cNvSpPr/>
          <p:nvPr/>
        </p:nvSpPr>
        <p:spPr>
          <a:xfrm>
            <a:off x="2377440" y="1965960"/>
            <a:ext cx="3200400" cy="292608"/>
          </a:xfrm>
          <a:prstGeom prst="rect">
            <a:avLst/>
          </a:prstGeom>
          <a:noFill/>
          <a:ln/>
        </p:spPr>
        <p:txBody>
          <a:bodyPr wrap="square" lIns="0" tIns="0" rIns="0" bIns="0" rtlCol="0" anchor="ctr"/>
          <a:lstStyle/>
          <a:p>
            <a:pPr indent="0" marL="0">
              <a:buNone/>
            </a:pPr>
            <a:r>
              <a:rPr lang="en-US" sz="1350" b="1" dirty="0">
                <a:solidFill>
                  <a:srgbClr val="1A1A1A"/>
                </a:solidFill>
                <a:latin typeface="Calibri" pitchFamily="34" charset="0"/>
                <a:ea typeface="Calibri" pitchFamily="34" charset="-122"/>
                <a:cs typeface="Calibri" pitchFamily="34" charset="-120"/>
              </a:rPr>
              <a:t>Complete generation</a:t>
            </a:r>
            <a:endParaRPr lang="en-US" sz="1350" dirty="0"/>
          </a:p>
        </p:txBody>
      </p:sp>
      <p:sp>
        <p:nvSpPr>
          <p:cNvPr id="10" name="Text 8"/>
          <p:cNvSpPr/>
          <p:nvPr/>
        </p:nvSpPr>
        <p:spPr>
          <a:xfrm>
            <a:off x="5715000" y="1947672"/>
            <a:ext cx="5669280" cy="713232"/>
          </a:xfrm>
          <a:prstGeom prst="rect">
            <a:avLst/>
          </a:prstGeom>
          <a:noFill/>
          <a:ln/>
        </p:spPr>
        <p:txBody>
          <a:bodyPr wrap="square" lIns="0" tIns="0" rIns="0" bIns="0" rtlCol="0" anchor="ctr"/>
          <a:lstStyle/>
          <a:p>
            <a:pPr indent="0" marL="0">
              <a:lnSpc>
                <a:spcPts val="1600"/>
              </a:lnSpc>
              <a:buNone/>
            </a:pPr>
            <a:r>
              <a:rPr lang="en-US" sz="1150" dirty="0">
                <a:solidFill>
                  <a:srgbClr val="6E6E6E"/>
                </a:solidFill>
                <a:latin typeface="Calibri" pitchFamily="34" charset="0"/>
                <a:ea typeface="Calibri" pitchFamily="34" charset="-122"/>
                <a:cs typeface="Calibri" pitchFamily="34" charset="-120"/>
              </a:rPr>
              <a:t>Finish instruction and edit generation over the sampled records, then regenerate the corpus content analysis with the corrected word-boundary matching.</a:t>
            </a:r>
            <a:endParaRPr lang="en-US" sz="1150" dirty="0"/>
          </a:p>
        </p:txBody>
      </p:sp>
      <p:sp>
        <p:nvSpPr>
          <p:cNvPr id="11" name="Shape 9"/>
          <p:cNvSpPr/>
          <p:nvPr/>
        </p:nvSpPr>
        <p:spPr>
          <a:xfrm>
            <a:off x="777240" y="2734056"/>
            <a:ext cx="10637215" cy="5486"/>
          </a:xfrm>
          <a:prstGeom prst="rect">
            <a:avLst/>
          </a:prstGeom>
          <a:solidFill>
            <a:srgbClr val="DEDCD7"/>
          </a:solidFill>
          <a:ln/>
        </p:spPr>
      </p:sp>
      <p:sp>
        <p:nvSpPr>
          <p:cNvPr id="12" name="Text 10"/>
          <p:cNvSpPr/>
          <p:nvPr/>
        </p:nvSpPr>
        <p:spPr>
          <a:xfrm>
            <a:off x="777240" y="2926080"/>
            <a:ext cx="1371600" cy="237744"/>
          </a:xfrm>
          <a:prstGeom prst="rect">
            <a:avLst/>
          </a:prstGeom>
          <a:noFill/>
          <a:ln/>
        </p:spPr>
        <p:txBody>
          <a:bodyPr wrap="square" lIns="0" tIns="0" rIns="0" bIns="0" rtlCol="0" anchor="ctr"/>
          <a:lstStyle/>
          <a:p>
            <a:pPr indent="0" marL="0">
              <a:buNone/>
            </a:pPr>
            <a:r>
              <a:rPr lang="en-US" sz="1000" b="1" spc="140" kern="0" dirty="0">
                <a:solidFill>
                  <a:srgbClr val="8C3A1E"/>
                </a:solidFill>
                <a:latin typeface="Calibri" pitchFamily="34" charset="0"/>
                <a:ea typeface="Calibri" pitchFamily="34" charset="-122"/>
                <a:cs typeface="Calibri" pitchFamily="34" charset="-120"/>
              </a:rPr>
              <a:t>NEXT</a:t>
            </a:r>
            <a:endParaRPr lang="en-US" sz="1000" dirty="0"/>
          </a:p>
        </p:txBody>
      </p:sp>
      <p:sp>
        <p:nvSpPr>
          <p:cNvPr id="13" name="Text 11"/>
          <p:cNvSpPr/>
          <p:nvPr/>
        </p:nvSpPr>
        <p:spPr>
          <a:xfrm>
            <a:off x="2377440" y="2898648"/>
            <a:ext cx="3200400" cy="292608"/>
          </a:xfrm>
          <a:prstGeom prst="rect">
            <a:avLst/>
          </a:prstGeom>
          <a:noFill/>
          <a:ln/>
        </p:spPr>
        <p:txBody>
          <a:bodyPr wrap="square" lIns="0" tIns="0" rIns="0" bIns="0" rtlCol="0" anchor="ctr"/>
          <a:lstStyle/>
          <a:p>
            <a:pPr indent="0" marL="0">
              <a:buNone/>
            </a:pPr>
            <a:r>
              <a:rPr lang="en-US" sz="1350" b="1" dirty="0">
                <a:solidFill>
                  <a:srgbClr val="1A1A1A"/>
                </a:solidFill>
                <a:latin typeface="Calibri" pitchFamily="34" charset="0"/>
                <a:ea typeface="Calibri" pitchFamily="34" charset="-122"/>
                <a:cs typeface="Calibri" pitchFamily="34" charset="-120"/>
              </a:rPr>
              <a:t>Make it instruction-conditioned</a:t>
            </a:r>
            <a:endParaRPr lang="en-US" sz="1350" dirty="0"/>
          </a:p>
        </p:txBody>
      </p:sp>
      <p:sp>
        <p:nvSpPr>
          <p:cNvPr id="14" name="Text 12"/>
          <p:cNvSpPr/>
          <p:nvPr/>
        </p:nvSpPr>
        <p:spPr>
          <a:xfrm>
            <a:off x="5715000" y="2880360"/>
            <a:ext cx="5669280" cy="713232"/>
          </a:xfrm>
          <a:prstGeom prst="rect">
            <a:avLst/>
          </a:prstGeom>
          <a:noFill/>
          <a:ln/>
        </p:spPr>
        <p:txBody>
          <a:bodyPr wrap="square" lIns="0" tIns="0" rIns="0" bIns="0" rtlCol="0" anchor="ctr"/>
          <a:lstStyle/>
          <a:p>
            <a:pPr indent="0" marL="0">
              <a:lnSpc>
                <a:spcPts val="1600"/>
              </a:lnSpc>
              <a:buNone/>
            </a:pPr>
            <a:r>
              <a:rPr lang="en-US" sz="1150" dirty="0">
                <a:solidFill>
                  <a:srgbClr val="6E6E6E"/>
                </a:solidFill>
                <a:latin typeface="Calibri" pitchFamily="34" charset="0"/>
                <a:ea typeface="Calibri" pitchFamily="34" charset="-122"/>
                <a:cs typeface="Calibri" pitchFamily="34" charset="-120"/>
              </a:rPr>
              <a:t>Add the CLIP text encoder and the fusion module, so the localization network takes an instruction rather than a geometric prompt.</a:t>
            </a:r>
            <a:endParaRPr lang="en-US" sz="1150" dirty="0"/>
          </a:p>
        </p:txBody>
      </p:sp>
      <p:sp>
        <p:nvSpPr>
          <p:cNvPr id="15" name="Shape 13"/>
          <p:cNvSpPr/>
          <p:nvPr/>
        </p:nvSpPr>
        <p:spPr>
          <a:xfrm>
            <a:off x="777240" y="3666744"/>
            <a:ext cx="10637215" cy="5486"/>
          </a:xfrm>
          <a:prstGeom prst="rect">
            <a:avLst/>
          </a:prstGeom>
          <a:solidFill>
            <a:srgbClr val="DEDCD7"/>
          </a:solidFill>
          <a:ln/>
        </p:spPr>
      </p:sp>
      <p:sp>
        <p:nvSpPr>
          <p:cNvPr id="16" name="Text 14"/>
          <p:cNvSpPr/>
          <p:nvPr/>
        </p:nvSpPr>
        <p:spPr>
          <a:xfrm>
            <a:off x="777240" y="3858768"/>
            <a:ext cx="1371600" cy="237744"/>
          </a:xfrm>
          <a:prstGeom prst="rect">
            <a:avLst/>
          </a:prstGeom>
          <a:noFill/>
          <a:ln/>
        </p:spPr>
        <p:txBody>
          <a:bodyPr wrap="square" lIns="0" tIns="0" rIns="0" bIns="0" rtlCol="0" anchor="ctr"/>
          <a:lstStyle/>
          <a:p>
            <a:pPr indent="0" marL="0">
              <a:buNone/>
            </a:pPr>
            <a:r>
              <a:rPr lang="en-US" sz="1000" b="1" spc="140" kern="0" dirty="0">
                <a:solidFill>
                  <a:srgbClr val="8C3A1E"/>
                </a:solidFill>
                <a:latin typeface="Calibri" pitchFamily="34" charset="0"/>
                <a:ea typeface="Calibri" pitchFamily="34" charset="-122"/>
                <a:cs typeface="Calibri" pitchFamily="34" charset="-120"/>
              </a:rPr>
              <a:t>THEN</a:t>
            </a:r>
            <a:endParaRPr lang="en-US" sz="1000" dirty="0"/>
          </a:p>
        </p:txBody>
      </p:sp>
      <p:sp>
        <p:nvSpPr>
          <p:cNvPr id="17" name="Text 15"/>
          <p:cNvSpPr/>
          <p:nvPr/>
        </p:nvSpPr>
        <p:spPr>
          <a:xfrm>
            <a:off x="2377440" y="3831336"/>
            <a:ext cx="3200400" cy="292608"/>
          </a:xfrm>
          <a:prstGeom prst="rect">
            <a:avLst/>
          </a:prstGeom>
          <a:noFill/>
          <a:ln/>
        </p:spPr>
        <p:txBody>
          <a:bodyPr wrap="square" lIns="0" tIns="0" rIns="0" bIns="0" rtlCol="0" anchor="ctr"/>
          <a:lstStyle/>
          <a:p>
            <a:pPr indent="0" marL="0">
              <a:buNone/>
            </a:pPr>
            <a:r>
              <a:rPr lang="en-US" sz="1350" b="1" dirty="0">
                <a:solidFill>
                  <a:srgbClr val="1A1A1A"/>
                </a:solidFill>
                <a:latin typeface="Calibri" pitchFamily="34" charset="0"/>
                <a:ea typeface="Calibri" pitchFamily="34" charset="-122"/>
                <a:cs typeface="Calibri" pitchFamily="34" charset="-120"/>
              </a:rPr>
              <a:t>Train and measure</a:t>
            </a:r>
            <a:endParaRPr lang="en-US" sz="1350" dirty="0"/>
          </a:p>
        </p:txBody>
      </p:sp>
      <p:sp>
        <p:nvSpPr>
          <p:cNvPr id="18" name="Text 16"/>
          <p:cNvSpPr/>
          <p:nvPr/>
        </p:nvSpPr>
        <p:spPr>
          <a:xfrm>
            <a:off x="5715000" y="3813048"/>
            <a:ext cx="5669280" cy="713232"/>
          </a:xfrm>
          <a:prstGeom prst="rect">
            <a:avLst/>
          </a:prstGeom>
          <a:noFill/>
          <a:ln/>
        </p:spPr>
        <p:txBody>
          <a:bodyPr wrap="square" lIns="0" tIns="0" rIns="0" bIns="0" rtlCol="0" anchor="ctr"/>
          <a:lstStyle/>
          <a:p>
            <a:pPr indent="0" marL="0">
              <a:lnSpc>
                <a:spcPts val="1600"/>
              </a:lnSpc>
              <a:buNone/>
            </a:pPr>
            <a:r>
              <a:rPr lang="en-US" sz="1150" dirty="0">
                <a:solidFill>
                  <a:srgbClr val="6E6E6E"/>
                </a:solidFill>
                <a:latin typeface="Calibri" pitchFamily="34" charset="0"/>
                <a:ea typeface="Calibri" pitchFamily="34" charset="-122"/>
                <a:cs typeface="Calibri" pitchFamily="34" charset="-120"/>
              </a:rPr>
              <a:t>Pre-train the backbone and neck on MSCOCO-seg, fine-tune on the derived edit masks, and report IoU and Dice on a held-out split.</a:t>
            </a:r>
            <a:endParaRPr lang="en-US" sz="1150" dirty="0"/>
          </a:p>
        </p:txBody>
      </p:sp>
      <p:sp>
        <p:nvSpPr>
          <p:cNvPr id="19" name="Shape 17"/>
          <p:cNvSpPr/>
          <p:nvPr/>
        </p:nvSpPr>
        <p:spPr>
          <a:xfrm>
            <a:off x="777240" y="4599432"/>
            <a:ext cx="10637215" cy="5486"/>
          </a:xfrm>
          <a:prstGeom prst="rect">
            <a:avLst/>
          </a:prstGeom>
          <a:solidFill>
            <a:srgbClr val="DEDCD7"/>
          </a:solidFill>
          <a:ln/>
        </p:spPr>
      </p:sp>
      <p:sp>
        <p:nvSpPr>
          <p:cNvPr id="20" name="Text 18"/>
          <p:cNvSpPr/>
          <p:nvPr/>
        </p:nvSpPr>
        <p:spPr>
          <a:xfrm>
            <a:off x="777240" y="4791456"/>
            <a:ext cx="1371600" cy="237744"/>
          </a:xfrm>
          <a:prstGeom prst="rect">
            <a:avLst/>
          </a:prstGeom>
          <a:noFill/>
          <a:ln/>
        </p:spPr>
        <p:txBody>
          <a:bodyPr wrap="square" lIns="0" tIns="0" rIns="0" bIns="0" rtlCol="0" anchor="ctr"/>
          <a:lstStyle/>
          <a:p>
            <a:pPr indent="0" marL="0">
              <a:buNone/>
            </a:pPr>
            <a:r>
              <a:rPr lang="en-US" sz="1000" b="1" spc="140" kern="0" dirty="0">
                <a:solidFill>
                  <a:srgbClr val="8C3A1E"/>
                </a:solidFill>
                <a:latin typeface="Calibri" pitchFamily="34" charset="0"/>
                <a:ea typeface="Calibri" pitchFamily="34" charset="-122"/>
                <a:cs typeface="Calibri" pitchFamily="34" charset="-120"/>
              </a:rPr>
              <a:t>REVIEW 2</a:t>
            </a:r>
            <a:endParaRPr lang="en-US" sz="1000" dirty="0"/>
          </a:p>
        </p:txBody>
      </p:sp>
      <p:sp>
        <p:nvSpPr>
          <p:cNvPr id="21" name="Text 19"/>
          <p:cNvSpPr/>
          <p:nvPr/>
        </p:nvSpPr>
        <p:spPr>
          <a:xfrm>
            <a:off x="2377440" y="4764024"/>
            <a:ext cx="3200400" cy="292608"/>
          </a:xfrm>
          <a:prstGeom prst="rect">
            <a:avLst/>
          </a:prstGeom>
          <a:noFill/>
          <a:ln/>
        </p:spPr>
        <p:txBody>
          <a:bodyPr wrap="square" lIns="0" tIns="0" rIns="0" bIns="0" rtlCol="0" anchor="ctr"/>
          <a:lstStyle/>
          <a:p>
            <a:pPr indent="0" marL="0">
              <a:buNone/>
            </a:pPr>
            <a:r>
              <a:rPr lang="en-US" sz="1350" b="1" dirty="0">
                <a:solidFill>
                  <a:srgbClr val="1A1A1A"/>
                </a:solidFill>
                <a:latin typeface="Calibri" pitchFamily="34" charset="0"/>
                <a:ea typeface="Calibri" pitchFamily="34" charset="-122"/>
                <a:cs typeface="Calibri" pitchFamily="34" charset="-120"/>
              </a:rPr>
              <a:t>Close the loop</a:t>
            </a:r>
            <a:endParaRPr lang="en-US" sz="1350" dirty="0"/>
          </a:p>
        </p:txBody>
      </p:sp>
      <p:sp>
        <p:nvSpPr>
          <p:cNvPr id="22" name="Text 20"/>
          <p:cNvSpPr/>
          <p:nvPr/>
        </p:nvSpPr>
        <p:spPr>
          <a:xfrm>
            <a:off x="5715000" y="4745736"/>
            <a:ext cx="5669280" cy="713232"/>
          </a:xfrm>
          <a:prstGeom prst="rect">
            <a:avLst/>
          </a:prstGeom>
          <a:noFill/>
          <a:ln/>
        </p:spPr>
        <p:txBody>
          <a:bodyPr wrap="square" lIns="0" tIns="0" rIns="0" bIns="0" rtlCol="0" anchor="ctr"/>
          <a:lstStyle/>
          <a:p>
            <a:pPr indent="0" marL="0">
              <a:lnSpc>
                <a:spcPts val="1600"/>
              </a:lnSpc>
              <a:buNone/>
            </a:pPr>
            <a:r>
              <a:rPr lang="en-US" sz="1150" dirty="0">
                <a:solidFill>
                  <a:srgbClr val="6E6E6E"/>
                </a:solidFill>
                <a:latin typeface="Calibri" pitchFamily="34" charset="0"/>
                <a:ea typeface="Calibri" pitchFamily="34" charset="-122"/>
                <a:cs typeface="Calibri" pitchFamily="34" charset="-120"/>
              </a:rPr>
              <a:t>Implement Stage 2 with the masked reconstruction loss and run the end-to-end comparison against InstructPix2Pix.</a:t>
            </a:r>
            <a:endParaRPr lang="en-US" sz="1150" dirty="0"/>
          </a:p>
        </p:txBody>
      </p:sp>
      <p:sp>
        <p:nvSpPr>
          <p:cNvPr id="23" name="Shape 21"/>
          <p:cNvSpPr/>
          <p:nvPr/>
        </p:nvSpPr>
        <p:spPr>
          <a:xfrm>
            <a:off x="777240" y="5532120"/>
            <a:ext cx="10637215" cy="5486"/>
          </a:xfrm>
          <a:prstGeom prst="rect">
            <a:avLst/>
          </a:prstGeom>
          <a:solidFill>
            <a:srgbClr val="DEDCD7"/>
          </a:solidFill>
          <a:ln/>
        </p:spPr>
      </p:sp>
      <p:sp>
        <p:nvSpPr>
          <p:cNvPr id="24" name="Text 22"/>
          <p:cNvSpPr/>
          <p:nvPr/>
        </p:nvSpPr>
        <p:spPr>
          <a:xfrm>
            <a:off x="777240" y="5760720"/>
            <a:ext cx="10637215" cy="502920"/>
          </a:xfrm>
          <a:prstGeom prst="rect">
            <a:avLst/>
          </a:prstGeom>
          <a:noFill/>
          <a:ln/>
        </p:spPr>
        <p:txBody>
          <a:bodyPr wrap="square" lIns="0" tIns="0" rIns="0" bIns="0" rtlCol="0" anchor="ctr"/>
          <a:lstStyle/>
          <a:p>
            <a:pPr indent="0" marL="0">
              <a:lnSpc>
                <a:spcPts val="1600"/>
              </a:lnSpc>
              <a:buNone/>
            </a:pPr>
            <a:r>
              <a:rPr lang="en-US" sz="1150" dirty="0">
                <a:solidFill>
                  <a:srgbClr val="6E6E6E"/>
                </a:solidFill>
                <a:latin typeface="Calibri" pitchFamily="34" charset="0"/>
                <a:ea typeface="Calibri" pitchFamily="34" charset="-122"/>
                <a:cs typeface="Calibri" pitchFamily="34" charset="-120"/>
              </a:rPr>
              <a:t>The second phase is the honest one: the implemented segmenter and the specified architecture have to converge before any training result is meaningful.</a:t>
            </a:r>
            <a:endParaRPr lang="en-US" sz="11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420624"/>
            <a:ext cx="8229600" cy="219456"/>
          </a:xfrm>
          <a:prstGeom prst="rect">
            <a:avLst/>
          </a:prstGeom>
          <a:noFill/>
          <a:ln/>
        </p:spPr>
        <p:txBody>
          <a:bodyPr wrap="square" lIns="0" tIns="0" rIns="0" bIns="0" rtlCol="0" anchor="ctr"/>
          <a:lstStyle/>
          <a:p>
            <a:pPr indent="0" marL="0">
              <a:buNone/>
            </a:pPr>
            <a:r>
              <a:rPr lang="en-US" sz="1050" b="1" spc="220" kern="0" dirty="0">
                <a:solidFill>
                  <a:srgbClr val="8C3A1E"/>
                </a:solidFill>
                <a:latin typeface="Calibri" pitchFamily="34" charset="0"/>
                <a:ea typeface="Calibri" pitchFamily="34" charset="-122"/>
                <a:cs typeface="Calibri" pitchFamily="34" charset="-120"/>
              </a:rPr>
              <a:t>SUMMARY</a:t>
            </a:r>
            <a:endParaRPr lang="en-US" sz="1050" dirty="0"/>
          </a:p>
        </p:txBody>
      </p:sp>
      <p:sp>
        <p:nvSpPr>
          <p:cNvPr id="3" name="Text 1"/>
          <p:cNvSpPr/>
          <p:nvPr/>
        </p:nvSpPr>
        <p:spPr>
          <a:xfrm>
            <a:off x="777240" y="694944"/>
            <a:ext cx="10637215" cy="603504"/>
          </a:xfrm>
          <a:prstGeom prst="rect">
            <a:avLst/>
          </a:prstGeom>
          <a:noFill/>
          <a:ln/>
        </p:spPr>
        <p:txBody>
          <a:bodyPr wrap="square" lIns="0" tIns="0" rIns="0" bIns="0" rtlCol="0" anchor="ctr"/>
          <a:lstStyle/>
          <a:p>
            <a:pPr indent="0" marL="0">
              <a:buNone/>
            </a:pPr>
            <a:r>
              <a:rPr lang="en-US" sz="3100" b="1" dirty="0">
                <a:solidFill>
                  <a:srgbClr val="1A1A1A"/>
                </a:solidFill>
                <a:latin typeface="Cambria" pitchFamily="34" charset="0"/>
                <a:ea typeface="Cambria" pitchFamily="34" charset="-122"/>
                <a:cs typeface="Cambria" pitchFamily="34" charset="-120"/>
              </a:rPr>
              <a:t>Contributions</a:t>
            </a:r>
            <a:endParaRPr lang="en-US" sz="3100" dirty="0"/>
          </a:p>
        </p:txBody>
      </p:sp>
      <p:sp>
        <p:nvSpPr>
          <p:cNvPr id="4" name="Text 2"/>
          <p:cNvSpPr/>
          <p:nvPr/>
        </p:nvSpPr>
        <p:spPr>
          <a:xfrm>
            <a:off x="777240" y="1335024"/>
            <a:ext cx="10637215" cy="347472"/>
          </a:xfrm>
          <a:prstGeom prst="rect">
            <a:avLst/>
          </a:prstGeom>
          <a:noFill/>
          <a:ln/>
        </p:spPr>
        <p:txBody>
          <a:bodyPr wrap="square" lIns="0" tIns="0" rIns="0" bIns="0" rtlCol="0" anchor="ctr"/>
          <a:lstStyle/>
          <a:p>
            <a:pPr indent="0" marL="0">
              <a:buNone/>
            </a:pPr>
            <a:r>
              <a:rPr lang="en-US" sz="1400" dirty="0">
                <a:solidFill>
                  <a:srgbClr val="6E6E6E"/>
                </a:solidFill>
                <a:latin typeface="Calibri" pitchFamily="34" charset="0"/>
                <a:ea typeface="Calibri" pitchFamily="34" charset="-122"/>
                <a:cs typeface="Calibri" pitchFamily="34" charset="-120"/>
              </a:rPr>
              <a:t>What this project adds that the seventeen surveyed works do not.</a:t>
            </a:r>
            <a:endParaRPr lang="en-US" sz="1400" dirty="0"/>
          </a:p>
        </p:txBody>
      </p:sp>
      <p:sp>
        <p:nvSpPr>
          <p:cNvPr id="5" name="Shape 3"/>
          <p:cNvSpPr/>
          <p:nvPr/>
        </p:nvSpPr>
        <p:spPr>
          <a:xfrm>
            <a:off x="777240" y="6291072"/>
            <a:ext cx="10637215" cy="7315"/>
          </a:xfrm>
          <a:prstGeom prst="rect">
            <a:avLst/>
          </a:prstGeom>
          <a:solidFill>
            <a:srgbClr val="DEDCD7"/>
          </a:solidFill>
          <a:ln/>
        </p:spPr>
      </p:sp>
      <p:sp>
        <p:nvSpPr>
          <p:cNvPr id="6" name="Text 4"/>
          <p:cNvSpPr/>
          <p:nvPr/>
        </p:nvSpPr>
        <p:spPr>
          <a:xfrm>
            <a:off x="777240" y="6382512"/>
            <a:ext cx="7315200" cy="256032"/>
          </a:xfrm>
          <a:prstGeom prst="rect">
            <a:avLst/>
          </a:prstGeom>
          <a:noFill/>
          <a:ln/>
        </p:spPr>
        <p:txBody>
          <a:bodyPr wrap="square" lIns="0" tIns="0" rIns="0" bIns="0" rtlCol="0" anchor="ctr"/>
          <a:lstStyle/>
          <a:p>
            <a:pPr indent="0" marL="0">
              <a:buNone/>
            </a:pPr>
            <a:r>
              <a:rPr lang="en-US" sz="900" dirty="0">
                <a:solidFill>
                  <a:srgbClr val="9A9A9A"/>
                </a:solidFill>
                <a:latin typeface="Calibri" pitchFamily="34" charset="0"/>
                <a:ea typeface="Calibri" pitchFamily="34" charset="-122"/>
                <a:cs typeface="Calibri" pitchFamily="34" charset="-120"/>
              </a:rPr>
              <a:t>Instruct-Seg-Edit  ·  Foundations of Data Science  ·  Review 1</a:t>
            </a:r>
            <a:endParaRPr lang="en-US" sz="900" dirty="0"/>
          </a:p>
        </p:txBody>
      </p:sp>
      <p:sp>
        <p:nvSpPr>
          <p:cNvPr id="7" name="Text 5"/>
          <p:cNvSpPr/>
          <p:nvPr/>
        </p:nvSpPr>
        <p:spPr>
          <a:xfrm>
            <a:off x="10865815" y="6382512"/>
            <a:ext cx="548640" cy="256032"/>
          </a:xfrm>
          <a:prstGeom prst="rect">
            <a:avLst/>
          </a:prstGeom>
          <a:noFill/>
          <a:ln/>
        </p:spPr>
        <p:txBody>
          <a:bodyPr wrap="square" lIns="0" tIns="0" rIns="0" bIns="0" rtlCol="0" anchor="ctr"/>
          <a:lstStyle/>
          <a:p>
            <a:pPr algn="r" indent="0" marL="0">
              <a:buNone/>
            </a:pPr>
            <a:r>
              <a:rPr lang="en-US" sz="900" dirty="0">
                <a:solidFill>
                  <a:srgbClr val="9A9A9A"/>
                </a:solidFill>
                <a:latin typeface="Calibri" pitchFamily="34" charset="0"/>
                <a:ea typeface="Calibri" pitchFamily="34" charset="-122"/>
                <a:cs typeface="Calibri" pitchFamily="34" charset="-120"/>
              </a:rPr>
              <a:t>22</a:t>
            </a:r>
            <a:endParaRPr lang="en-US" sz="900" dirty="0"/>
          </a:p>
        </p:txBody>
      </p:sp>
      <p:sp>
        <p:nvSpPr>
          <p:cNvPr id="8" name="Text 6"/>
          <p:cNvSpPr/>
          <p:nvPr/>
        </p:nvSpPr>
        <p:spPr>
          <a:xfrm>
            <a:off x="777240" y="1920240"/>
            <a:ext cx="548640" cy="274320"/>
          </a:xfrm>
          <a:prstGeom prst="rect">
            <a:avLst/>
          </a:prstGeom>
          <a:noFill/>
          <a:ln/>
        </p:spPr>
        <p:txBody>
          <a:bodyPr wrap="square" lIns="0" tIns="0" rIns="0" bIns="0" rtlCol="0" anchor="ctr"/>
          <a:lstStyle/>
          <a:p>
            <a:pPr indent="0" marL="0">
              <a:buNone/>
            </a:pPr>
            <a:r>
              <a:rPr lang="en-US" sz="1500" b="1" dirty="0">
                <a:solidFill>
                  <a:srgbClr val="8C3A1E"/>
                </a:solidFill>
                <a:latin typeface="Cambria" pitchFamily="34" charset="0"/>
                <a:ea typeface="Cambria" pitchFamily="34" charset="-122"/>
                <a:cs typeface="Cambria" pitchFamily="34" charset="-120"/>
              </a:rPr>
              <a:t>01</a:t>
            </a:r>
            <a:endParaRPr lang="en-US" sz="1500" dirty="0"/>
          </a:p>
        </p:txBody>
      </p:sp>
      <p:sp>
        <p:nvSpPr>
          <p:cNvPr id="9" name="Text 7"/>
          <p:cNvSpPr/>
          <p:nvPr/>
        </p:nvSpPr>
        <p:spPr>
          <a:xfrm>
            <a:off x="1417320" y="1920240"/>
            <a:ext cx="2926080" cy="274320"/>
          </a:xfrm>
          <a:prstGeom prst="rect">
            <a:avLst/>
          </a:prstGeom>
          <a:noFill/>
          <a:ln/>
        </p:spPr>
        <p:txBody>
          <a:bodyPr wrap="square" lIns="0" tIns="0" rIns="0" bIns="0" rtlCol="0" anchor="ctr"/>
          <a:lstStyle/>
          <a:p>
            <a:pPr indent="0" marL="0">
              <a:buNone/>
            </a:pPr>
            <a:r>
              <a:rPr lang="en-US" sz="1300" b="1" dirty="0">
                <a:solidFill>
                  <a:srgbClr val="1A1A1A"/>
                </a:solidFill>
                <a:latin typeface="Calibri" pitchFamily="34" charset="0"/>
                <a:ea typeface="Calibri" pitchFamily="34" charset="-122"/>
                <a:cs typeface="Calibri" pitchFamily="34" charset="-120"/>
              </a:rPr>
              <a:t>Disentangled control</a:t>
            </a:r>
            <a:endParaRPr lang="en-US" sz="1300" dirty="0"/>
          </a:p>
        </p:txBody>
      </p:sp>
      <p:sp>
        <p:nvSpPr>
          <p:cNvPr id="10" name="Text 8"/>
          <p:cNvSpPr/>
          <p:nvPr/>
        </p:nvSpPr>
        <p:spPr>
          <a:xfrm>
            <a:off x="4526280" y="1901952"/>
            <a:ext cx="6858000" cy="566928"/>
          </a:xfrm>
          <a:prstGeom prst="rect">
            <a:avLst/>
          </a:prstGeom>
          <a:noFill/>
          <a:ln/>
        </p:spPr>
        <p:txBody>
          <a:bodyPr wrap="square" lIns="0" tIns="0" rIns="0" bIns="0" rtlCol="0" anchor="ctr"/>
          <a:lstStyle/>
          <a:p>
            <a:pPr indent="0" marL="0">
              <a:lnSpc>
                <a:spcPts val="1600"/>
              </a:lnSpc>
              <a:buNone/>
            </a:pPr>
            <a:r>
              <a:rPr lang="en-US" sz="1150" dirty="0">
                <a:solidFill>
                  <a:srgbClr val="6E6E6E"/>
                </a:solidFill>
                <a:latin typeface="Calibri" pitchFamily="34" charset="0"/>
                <a:ea typeface="Calibri" pitchFamily="34" charset="-122"/>
                <a:cs typeface="Calibri" pitchFamily="34" charset="-120"/>
              </a:rPr>
              <a:t>Localization and editing are two separate models rather than one denoiser, so the spatial decision exists as an object in its own right.</a:t>
            </a:r>
            <a:endParaRPr lang="en-US" sz="1150" dirty="0"/>
          </a:p>
        </p:txBody>
      </p:sp>
      <p:sp>
        <p:nvSpPr>
          <p:cNvPr id="11" name="Text 9"/>
          <p:cNvSpPr/>
          <p:nvPr/>
        </p:nvSpPr>
        <p:spPr>
          <a:xfrm>
            <a:off x="777240" y="2670048"/>
            <a:ext cx="548640" cy="274320"/>
          </a:xfrm>
          <a:prstGeom prst="rect">
            <a:avLst/>
          </a:prstGeom>
          <a:noFill/>
          <a:ln/>
        </p:spPr>
        <p:txBody>
          <a:bodyPr wrap="square" lIns="0" tIns="0" rIns="0" bIns="0" rtlCol="0" anchor="ctr"/>
          <a:lstStyle/>
          <a:p>
            <a:pPr indent="0" marL="0">
              <a:buNone/>
            </a:pPr>
            <a:r>
              <a:rPr lang="en-US" sz="1500" b="1" dirty="0">
                <a:solidFill>
                  <a:srgbClr val="8C3A1E"/>
                </a:solidFill>
                <a:latin typeface="Cambria" pitchFamily="34" charset="0"/>
                <a:ea typeface="Cambria" pitchFamily="34" charset="-122"/>
                <a:cs typeface="Cambria" pitchFamily="34" charset="-120"/>
              </a:rPr>
              <a:t>02</a:t>
            </a:r>
            <a:endParaRPr lang="en-US" sz="1500" dirty="0"/>
          </a:p>
        </p:txBody>
      </p:sp>
      <p:sp>
        <p:nvSpPr>
          <p:cNvPr id="12" name="Text 10"/>
          <p:cNvSpPr/>
          <p:nvPr/>
        </p:nvSpPr>
        <p:spPr>
          <a:xfrm>
            <a:off x="1417320" y="2670048"/>
            <a:ext cx="2926080" cy="274320"/>
          </a:xfrm>
          <a:prstGeom prst="rect">
            <a:avLst/>
          </a:prstGeom>
          <a:noFill/>
          <a:ln/>
        </p:spPr>
        <p:txBody>
          <a:bodyPr wrap="square" lIns="0" tIns="0" rIns="0" bIns="0" rtlCol="0" anchor="ctr"/>
          <a:lstStyle/>
          <a:p>
            <a:pPr indent="0" marL="0">
              <a:buNone/>
            </a:pPr>
            <a:r>
              <a:rPr lang="en-US" sz="1300" b="1" dirty="0">
                <a:solidFill>
                  <a:srgbClr val="1A1A1A"/>
                </a:solidFill>
                <a:latin typeface="Calibri" pitchFamily="34" charset="0"/>
                <a:ea typeface="Calibri" pitchFamily="34" charset="-122"/>
                <a:cs typeface="Calibri" pitchFamily="34" charset="-120"/>
              </a:rPr>
              <a:t>Supervised localization</a:t>
            </a:r>
            <a:endParaRPr lang="en-US" sz="1300" dirty="0"/>
          </a:p>
        </p:txBody>
      </p:sp>
      <p:sp>
        <p:nvSpPr>
          <p:cNvPr id="13" name="Text 11"/>
          <p:cNvSpPr/>
          <p:nvPr/>
        </p:nvSpPr>
        <p:spPr>
          <a:xfrm>
            <a:off x="4526280" y="2651760"/>
            <a:ext cx="6858000" cy="566928"/>
          </a:xfrm>
          <a:prstGeom prst="rect">
            <a:avLst/>
          </a:prstGeom>
          <a:noFill/>
          <a:ln/>
        </p:spPr>
        <p:txBody>
          <a:bodyPr wrap="square" lIns="0" tIns="0" rIns="0" bIns="0" rtlCol="0" anchor="ctr"/>
          <a:lstStyle/>
          <a:p>
            <a:pPr indent="0" marL="0">
              <a:lnSpc>
                <a:spcPts val="1600"/>
              </a:lnSpc>
              <a:buNone/>
            </a:pPr>
            <a:r>
              <a:rPr lang="en-US" sz="1150" dirty="0">
                <a:solidFill>
                  <a:srgbClr val="6E6E6E"/>
                </a:solidFill>
                <a:latin typeface="Calibri" pitchFamily="34" charset="0"/>
                <a:ea typeface="Calibri" pitchFamily="34" charset="-122"/>
                <a:cs typeface="Calibri" pitchFamily="34" charset="-120"/>
              </a:rPr>
              <a:t>The edit region receives direct ground truth from recovered before-and-after masks, instead of emerging unsupervised inside an attention map.</a:t>
            </a:r>
            <a:endParaRPr lang="en-US" sz="1150" dirty="0"/>
          </a:p>
        </p:txBody>
      </p:sp>
      <p:sp>
        <p:nvSpPr>
          <p:cNvPr id="14" name="Text 12"/>
          <p:cNvSpPr/>
          <p:nvPr/>
        </p:nvSpPr>
        <p:spPr>
          <a:xfrm>
            <a:off x="777240" y="3419856"/>
            <a:ext cx="548640" cy="274320"/>
          </a:xfrm>
          <a:prstGeom prst="rect">
            <a:avLst/>
          </a:prstGeom>
          <a:noFill/>
          <a:ln/>
        </p:spPr>
        <p:txBody>
          <a:bodyPr wrap="square" lIns="0" tIns="0" rIns="0" bIns="0" rtlCol="0" anchor="ctr"/>
          <a:lstStyle/>
          <a:p>
            <a:pPr indent="0" marL="0">
              <a:buNone/>
            </a:pPr>
            <a:r>
              <a:rPr lang="en-US" sz="1500" b="1" dirty="0">
                <a:solidFill>
                  <a:srgbClr val="8C3A1E"/>
                </a:solidFill>
                <a:latin typeface="Cambria" pitchFamily="34" charset="0"/>
                <a:ea typeface="Cambria" pitchFamily="34" charset="-122"/>
                <a:cs typeface="Cambria" pitchFamily="34" charset="-120"/>
              </a:rPr>
              <a:t>03</a:t>
            </a:r>
            <a:endParaRPr lang="en-US" sz="1500" dirty="0"/>
          </a:p>
        </p:txBody>
      </p:sp>
      <p:sp>
        <p:nvSpPr>
          <p:cNvPr id="15" name="Text 13"/>
          <p:cNvSpPr/>
          <p:nvPr/>
        </p:nvSpPr>
        <p:spPr>
          <a:xfrm>
            <a:off x="1417320" y="3419856"/>
            <a:ext cx="2926080" cy="274320"/>
          </a:xfrm>
          <a:prstGeom prst="rect">
            <a:avLst/>
          </a:prstGeom>
          <a:noFill/>
          <a:ln/>
        </p:spPr>
        <p:txBody>
          <a:bodyPr wrap="square" lIns="0" tIns="0" rIns="0" bIns="0" rtlCol="0" anchor="ctr"/>
          <a:lstStyle/>
          <a:p>
            <a:pPr indent="0" marL="0">
              <a:buNone/>
            </a:pPr>
            <a:r>
              <a:rPr lang="en-US" sz="1300" b="1" dirty="0">
                <a:solidFill>
                  <a:srgbClr val="1A1A1A"/>
                </a:solidFill>
                <a:latin typeface="Calibri" pitchFamily="34" charset="0"/>
                <a:ea typeface="Calibri" pitchFamily="34" charset="-122"/>
                <a:cs typeface="Calibri" pitchFamily="34" charset="-120"/>
              </a:rPr>
              <a:t>Human-in-the-loop interactivity</a:t>
            </a:r>
            <a:endParaRPr lang="en-US" sz="1300" dirty="0"/>
          </a:p>
        </p:txBody>
      </p:sp>
      <p:sp>
        <p:nvSpPr>
          <p:cNvPr id="16" name="Text 14"/>
          <p:cNvSpPr/>
          <p:nvPr/>
        </p:nvSpPr>
        <p:spPr>
          <a:xfrm>
            <a:off x="4526280" y="3401568"/>
            <a:ext cx="6858000" cy="566928"/>
          </a:xfrm>
          <a:prstGeom prst="rect">
            <a:avLst/>
          </a:prstGeom>
          <a:noFill/>
          <a:ln/>
        </p:spPr>
        <p:txBody>
          <a:bodyPr wrap="square" lIns="0" tIns="0" rIns="0" bIns="0" rtlCol="0" anchor="ctr"/>
          <a:lstStyle/>
          <a:p>
            <a:pPr indent="0" marL="0">
              <a:lnSpc>
                <a:spcPts val="1600"/>
              </a:lnSpc>
              <a:buNone/>
            </a:pPr>
            <a:r>
              <a:rPr lang="en-US" sz="1150" dirty="0">
                <a:solidFill>
                  <a:srgbClr val="6E6E6E"/>
                </a:solidFill>
                <a:latin typeface="Calibri" pitchFamily="34" charset="0"/>
                <a:ea typeface="Calibri" pitchFamily="34" charset="-122"/>
                <a:cs typeface="Calibri" pitchFamily="34" charset="-120"/>
              </a:rPr>
              <a:t>The predicted region is rendered and can be corrected before generation runs — the intervention point no end-to-end editor offers.</a:t>
            </a:r>
            <a:endParaRPr lang="en-US" sz="1150" dirty="0"/>
          </a:p>
        </p:txBody>
      </p:sp>
      <p:sp>
        <p:nvSpPr>
          <p:cNvPr id="17" name="Text 15"/>
          <p:cNvSpPr/>
          <p:nvPr/>
        </p:nvSpPr>
        <p:spPr>
          <a:xfrm>
            <a:off x="777240" y="4169664"/>
            <a:ext cx="548640" cy="274320"/>
          </a:xfrm>
          <a:prstGeom prst="rect">
            <a:avLst/>
          </a:prstGeom>
          <a:noFill/>
          <a:ln/>
        </p:spPr>
        <p:txBody>
          <a:bodyPr wrap="square" lIns="0" tIns="0" rIns="0" bIns="0" rtlCol="0" anchor="ctr"/>
          <a:lstStyle/>
          <a:p>
            <a:pPr indent="0" marL="0">
              <a:buNone/>
            </a:pPr>
            <a:r>
              <a:rPr lang="en-US" sz="1500" b="1" dirty="0">
                <a:solidFill>
                  <a:srgbClr val="8C3A1E"/>
                </a:solidFill>
                <a:latin typeface="Cambria" pitchFamily="34" charset="0"/>
                <a:ea typeface="Cambria" pitchFamily="34" charset="-122"/>
                <a:cs typeface="Cambria" pitchFamily="34" charset="-120"/>
              </a:rPr>
              <a:t>04</a:t>
            </a:r>
            <a:endParaRPr lang="en-US" sz="1500" dirty="0"/>
          </a:p>
        </p:txBody>
      </p:sp>
      <p:sp>
        <p:nvSpPr>
          <p:cNvPr id="18" name="Text 16"/>
          <p:cNvSpPr/>
          <p:nvPr/>
        </p:nvSpPr>
        <p:spPr>
          <a:xfrm>
            <a:off x="1417320" y="4169664"/>
            <a:ext cx="2926080" cy="274320"/>
          </a:xfrm>
          <a:prstGeom prst="rect">
            <a:avLst/>
          </a:prstGeom>
          <a:noFill/>
          <a:ln/>
        </p:spPr>
        <p:txBody>
          <a:bodyPr wrap="square" lIns="0" tIns="0" rIns="0" bIns="0" rtlCol="0" anchor="ctr"/>
          <a:lstStyle/>
          <a:p>
            <a:pPr indent="0" marL="0">
              <a:buNone/>
            </a:pPr>
            <a:r>
              <a:rPr lang="en-US" sz="1300" b="1" dirty="0">
                <a:solidFill>
                  <a:srgbClr val="1A1A1A"/>
                </a:solidFill>
                <a:latin typeface="Calibri" pitchFamily="34" charset="0"/>
                <a:ea typeface="Calibri" pitchFamily="34" charset="-122"/>
                <a:cs typeface="Calibri" pitchFamily="34" charset="-120"/>
              </a:rPr>
              <a:t>Interpretable editing</a:t>
            </a:r>
            <a:endParaRPr lang="en-US" sz="1300" dirty="0"/>
          </a:p>
        </p:txBody>
      </p:sp>
      <p:sp>
        <p:nvSpPr>
          <p:cNvPr id="19" name="Text 17"/>
          <p:cNvSpPr/>
          <p:nvPr/>
        </p:nvSpPr>
        <p:spPr>
          <a:xfrm>
            <a:off x="4526280" y="4151376"/>
            <a:ext cx="6858000" cy="566928"/>
          </a:xfrm>
          <a:prstGeom prst="rect">
            <a:avLst/>
          </a:prstGeom>
          <a:noFill/>
          <a:ln/>
        </p:spPr>
        <p:txBody>
          <a:bodyPr wrap="square" lIns="0" tIns="0" rIns="0" bIns="0" rtlCol="0" anchor="ctr"/>
          <a:lstStyle/>
          <a:p>
            <a:pPr indent="0" marL="0">
              <a:lnSpc>
                <a:spcPts val="1600"/>
              </a:lnSpc>
              <a:buNone/>
            </a:pPr>
            <a:r>
              <a:rPr lang="en-US" sz="1150" dirty="0">
                <a:solidFill>
                  <a:srgbClr val="6E6E6E"/>
                </a:solidFill>
                <a:latin typeface="Calibri" pitchFamily="34" charset="0"/>
                <a:ea typeface="Calibri" pitchFamily="34" charset="-122"/>
                <a:cs typeface="Calibri" pitchFamily="34" charset="-120"/>
              </a:rPr>
              <a:t>The mask is an explicit, inspectable picture of where the model believes the edit belongs, and can be measured independently of edit quality.</a:t>
            </a:r>
            <a:endParaRPr lang="en-US" sz="1150" dirty="0"/>
          </a:p>
        </p:txBody>
      </p:sp>
      <p:sp>
        <p:nvSpPr>
          <p:cNvPr id="20" name="Text 18"/>
          <p:cNvSpPr/>
          <p:nvPr/>
        </p:nvSpPr>
        <p:spPr>
          <a:xfrm>
            <a:off x="777240" y="4919472"/>
            <a:ext cx="548640" cy="274320"/>
          </a:xfrm>
          <a:prstGeom prst="rect">
            <a:avLst/>
          </a:prstGeom>
          <a:noFill/>
          <a:ln/>
        </p:spPr>
        <p:txBody>
          <a:bodyPr wrap="square" lIns="0" tIns="0" rIns="0" bIns="0" rtlCol="0" anchor="ctr"/>
          <a:lstStyle/>
          <a:p>
            <a:pPr indent="0" marL="0">
              <a:buNone/>
            </a:pPr>
            <a:r>
              <a:rPr lang="en-US" sz="1500" b="1" dirty="0">
                <a:solidFill>
                  <a:srgbClr val="8C3A1E"/>
                </a:solidFill>
                <a:latin typeface="Cambria" pitchFamily="34" charset="0"/>
                <a:ea typeface="Cambria" pitchFamily="34" charset="-122"/>
                <a:cs typeface="Cambria" pitchFamily="34" charset="-120"/>
              </a:rPr>
              <a:t>05</a:t>
            </a:r>
            <a:endParaRPr lang="en-US" sz="1500" dirty="0"/>
          </a:p>
        </p:txBody>
      </p:sp>
      <p:sp>
        <p:nvSpPr>
          <p:cNvPr id="21" name="Text 19"/>
          <p:cNvSpPr/>
          <p:nvPr/>
        </p:nvSpPr>
        <p:spPr>
          <a:xfrm>
            <a:off x="1417320" y="4919472"/>
            <a:ext cx="2926080" cy="274320"/>
          </a:xfrm>
          <a:prstGeom prst="rect">
            <a:avLst/>
          </a:prstGeom>
          <a:noFill/>
          <a:ln/>
        </p:spPr>
        <p:txBody>
          <a:bodyPr wrap="square" lIns="0" tIns="0" rIns="0" bIns="0" rtlCol="0" anchor="ctr"/>
          <a:lstStyle/>
          <a:p>
            <a:pPr indent="0" marL="0">
              <a:buNone/>
            </a:pPr>
            <a:r>
              <a:rPr lang="en-US" sz="1300" b="1" dirty="0">
                <a:solidFill>
                  <a:srgbClr val="1A1A1A"/>
                </a:solidFill>
                <a:latin typeface="Calibri" pitchFamily="34" charset="0"/>
                <a:ea typeface="Calibri" pitchFamily="34" charset="-122"/>
                <a:cs typeface="Calibri" pitchFamily="34" charset="-120"/>
              </a:rPr>
              <a:t>An efficient, itemised architecture</a:t>
            </a:r>
            <a:endParaRPr lang="en-US" sz="1300" dirty="0"/>
          </a:p>
        </p:txBody>
      </p:sp>
      <p:sp>
        <p:nvSpPr>
          <p:cNvPr id="22" name="Text 20"/>
          <p:cNvSpPr/>
          <p:nvPr/>
        </p:nvSpPr>
        <p:spPr>
          <a:xfrm>
            <a:off x="4526280" y="4901184"/>
            <a:ext cx="6858000" cy="566928"/>
          </a:xfrm>
          <a:prstGeom prst="rect">
            <a:avLst/>
          </a:prstGeom>
          <a:noFill/>
          <a:ln/>
        </p:spPr>
        <p:txBody>
          <a:bodyPr wrap="square" lIns="0" tIns="0" rIns="0" bIns="0" rtlCol="0" anchor="ctr"/>
          <a:lstStyle/>
          <a:p>
            <a:pPr indent="0" marL="0">
              <a:lnSpc>
                <a:spcPts val="1600"/>
              </a:lnSpc>
              <a:buNone/>
            </a:pPr>
            <a:r>
              <a:rPr lang="en-US" sz="1150" dirty="0">
                <a:solidFill>
                  <a:srgbClr val="6E6E6E"/>
                </a:solidFill>
                <a:latin typeface="Calibri" pitchFamily="34" charset="0"/>
                <a:ea typeface="Calibri" pitchFamily="34" charset="-122"/>
                <a:cs typeface="Calibri" pitchFamily="34" charset="-120"/>
              </a:rPr>
              <a:t>A 73.6M-parameter segmenter derived from YOLOv8, pre-trained on detection and fine-tuned for instruction conditioning, with a full parameter breakdown for reproducibility.</a:t>
            </a:r>
            <a:endParaRPr lang="en-US" sz="1150" dirty="0"/>
          </a:p>
        </p:txBody>
      </p:sp>
      <p:sp>
        <p:nvSpPr>
          <p:cNvPr id="23" name="Shape 21"/>
          <p:cNvSpPr/>
          <p:nvPr/>
        </p:nvSpPr>
        <p:spPr>
          <a:xfrm>
            <a:off x="777240" y="5486400"/>
            <a:ext cx="10637215" cy="658368"/>
          </a:xfrm>
          <a:prstGeom prst="rect">
            <a:avLst/>
          </a:prstGeom>
          <a:solidFill>
            <a:srgbClr val="F6F5F2"/>
          </a:solidFill>
          <a:ln/>
        </p:spPr>
      </p:sp>
      <p:sp>
        <p:nvSpPr>
          <p:cNvPr id="24" name="Text 22"/>
          <p:cNvSpPr/>
          <p:nvPr/>
        </p:nvSpPr>
        <p:spPr>
          <a:xfrm>
            <a:off x="1069848" y="5596128"/>
            <a:ext cx="10051999" cy="457200"/>
          </a:xfrm>
          <a:prstGeom prst="rect">
            <a:avLst/>
          </a:prstGeom>
          <a:noFill/>
          <a:ln/>
        </p:spPr>
        <p:txBody>
          <a:bodyPr wrap="square" lIns="0" tIns="0" rIns="0" bIns="0" rtlCol="0" anchor="ctr"/>
          <a:lstStyle/>
          <a:p>
            <a:pPr indent="0" marL="0">
              <a:lnSpc>
                <a:spcPts val="1600"/>
              </a:lnSpc>
              <a:buNone/>
            </a:pPr>
            <a:r>
              <a:rPr lang="en-US" sz="1200" dirty="0">
                <a:solidFill>
                  <a:srgbClr val="1A1A1A"/>
                </a:solidFill>
                <a:latin typeface="Calibri" pitchFamily="34" charset="0"/>
                <a:ea typeface="Calibri" pitchFamily="34" charset="-122"/>
                <a:cs typeface="Calibri" pitchFamily="34" charset="-120"/>
              </a:rPr>
              <a:t>No surveyed work reaches the full capability set. The closest, Grounded-SAM at 0.833, gets there by chaining two large frozen models and performs no edit at all.</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420624"/>
            <a:ext cx="8229600" cy="219456"/>
          </a:xfrm>
          <a:prstGeom prst="rect">
            <a:avLst/>
          </a:prstGeom>
          <a:noFill/>
          <a:ln/>
        </p:spPr>
        <p:txBody>
          <a:bodyPr wrap="square" lIns="0" tIns="0" rIns="0" bIns="0" rtlCol="0" anchor="ctr"/>
          <a:lstStyle/>
          <a:p>
            <a:pPr indent="0" marL="0">
              <a:buNone/>
            </a:pPr>
            <a:r>
              <a:rPr lang="en-US" sz="1050" b="1" spc="220" kern="0" dirty="0">
                <a:solidFill>
                  <a:srgbClr val="8C3A1E"/>
                </a:solidFill>
                <a:latin typeface="Calibri" pitchFamily="34" charset="0"/>
                <a:ea typeface="Calibri" pitchFamily="34" charset="-122"/>
                <a:cs typeface="Calibri" pitchFamily="34" charset="-120"/>
              </a:rPr>
              <a:t>REFERENCES</a:t>
            </a:r>
            <a:endParaRPr lang="en-US" sz="1050" dirty="0"/>
          </a:p>
        </p:txBody>
      </p:sp>
      <p:sp>
        <p:nvSpPr>
          <p:cNvPr id="3" name="Text 1"/>
          <p:cNvSpPr/>
          <p:nvPr/>
        </p:nvSpPr>
        <p:spPr>
          <a:xfrm>
            <a:off x="777240" y="694944"/>
            <a:ext cx="10637215" cy="603504"/>
          </a:xfrm>
          <a:prstGeom prst="rect">
            <a:avLst/>
          </a:prstGeom>
          <a:noFill/>
          <a:ln/>
        </p:spPr>
        <p:txBody>
          <a:bodyPr wrap="square" lIns="0" tIns="0" rIns="0" bIns="0" rtlCol="0" anchor="ctr"/>
          <a:lstStyle/>
          <a:p>
            <a:pPr indent="0" marL="0">
              <a:buNone/>
            </a:pPr>
            <a:r>
              <a:rPr lang="en-US" sz="3100" b="1" dirty="0">
                <a:solidFill>
                  <a:srgbClr val="1A1A1A"/>
                </a:solidFill>
                <a:latin typeface="Cambria" pitchFamily="34" charset="0"/>
                <a:ea typeface="Cambria" pitchFamily="34" charset="-122"/>
                <a:cs typeface="Cambria" pitchFamily="34" charset="-120"/>
              </a:rPr>
              <a:t>Selected</a:t>
            </a:r>
            <a:endParaRPr lang="en-US" sz="3100" dirty="0"/>
          </a:p>
        </p:txBody>
      </p:sp>
      <p:sp>
        <p:nvSpPr>
          <p:cNvPr id="4" name="Shape 2"/>
          <p:cNvSpPr/>
          <p:nvPr/>
        </p:nvSpPr>
        <p:spPr>
          <a:xfrm>
            <a:off x="777240" y="6291072"/>
            <a:ext cx="10637215" cy="7315"/>
          </a:xfrm>
          <a:prstGeom prst="rect">
            <a:avLst/>
          </a:prstGeom>
          <a:solidFill>
            <a:srgbClr val="DEDCD7"/>
          </a:solidFill>
          <a:ln/>
        </p:spPr>
      </p:sp>
      <p:sp>
        <p:nvSpPr>
          <p:cNvPr id="5" name="Text 3"/>
          <p:cNvSpPr/>
          <p:nvPr/>
        </p:nvSpPr>
        <p:spPr>
          <a:xfrm>
            <a:off x="777240" y="6382512"/>
            <a:ext cx="7315200" cy="256032"/>
          </a:xfrm>
          <a:prstGeom prst="rect">
            <a:avLst/>
          </a:prstGeom>
          <a:noFill/>
          <a:ln/>
        </p:spPr>
        <p:txBody>
          <a:bodyPr wrap="square" lIns="0" tIns="0" rIns="0" bIns="0" rtlCol="0" anchor="ctr"/>
          <a:lstStyle/>
          <a:p>
            <a:pPr indent="0" marL="0">
              <a:buNone/>
            </a:pPr>
            <a:r>
              <a:rPr lang="en-US" sz="900" dirty="0">
                <a:solidFill>
                  <a:srgbClr val="9A9A9A"/>
                </a:solidFill>
                <a:latin typeface="Calibri" pitchFamily="34" charset="0"/>
                <a:ea typeface="Calibri" pitchFamily="34" charset="-122"/>
                <a:cs typeface="Calibri" pitchFamily="34" charset="-120"/>
              </a:rPr>
              <a:t>Instruct-Seg-Edit  ·  Foundations of Data Science  ·  Review 1</a:t>
            </a:r>
            <a:endParaRPr lang="en-US" sz="900" dirty="0"/>
          </a:p>
        </p:txBody>
      </p:sp>
      <p:sp>
        <p:nvSpPr>
          <p:cNvPr id="6" name="Text 4"/>
          <p:cNvSpPr/>
          <p:nvPr/>
        </p:nvSpPr>
        <p:spPr>
          <a:xfrm>
            <a:off x="10865815" y="6382512"/>
            <a:ext cx="548640" cy="256032"/>
          </a:xfrm>
          <a:prstGeom prst="rect">
            <a:avLst/>
          </a:prstGeom>
          <a:noFill/>
          <a:ln/>
        </p:spPr>
        <p:txBody>
          <a:bodyPr wrap="square" lIns="0" tIns="0" rIns="0" bIns="0" rtlCol="0" anchor="ctr"/>
          <a:lstStyle/>
          <a:p>
            <a:pPr algn="r" indent="0" marL="0">
              <a:buNone/>
            </a:pPr>
            <a:r>
              <a:rPr lang="en-US" sz="900" dirty="0">
                <a:solidFill>
                  <a:srgbClr val="9A9A9A"/>
                </a:solidFill>
                <a:latin typeface="Calibri" pitchFamily="34" charset="0"/>
                <a:ea typeface="Calibri" pitchFamily="34" charset="-122"/>
                <a:cs typeface="Calibri" pitchFamily="34" charset="-120"/>
              </a:rPr>
              <a:t>23</a:t>
            </a:r>
            <a:endParaRPr lang="en-US" sz="900" dirty="0"/>
          </a:p>
        </p:txBody>
      </p:sp>
      <p:sp>
        <p:nvSpPr>
          <p:cNvPr id="7" name="Text 5"/>
          <p:cNvSpPr/>
          <p:nvPr/>
        </p:nvSpPr>
        <p:spPr>
          <a:xfrm>
            <a:off x="777240" y="1828800"/>
            <a:ext cx="5212080" cy="3657600"/>
          </a:xfrm>
          <a:prstGeom prst="rect">
            <a:avLst/>
          </a:prstGeom>
          <a:noFill/>
          <a:ln/>
        </p:spPr>
        <p:txBody>
          <a:bodyPr wrap="square" lIns="0" tIns="0" rIns="0" bIns="0" rtlCol="0" anchor="ctr"/>
          <a:lstStyle/>
          <a:p>
            <a:pPr indent="0" marL="0">
              <a:spcAft>
                <a:spcPts val="1000"/>
              </a:spcAft>
              <a:buNone/>
            </a:pPr>
            <a:r>
              <a:rPr lang="en-US" sz="1100" dirty="0">
                <a:solidFill>
                  <a:srgbClr val="6E6E6E"/>
                </a:solidFill>
                <a:latin typeface="Calibri" pitchFamily="34" charset="0"/>
                <a:ea typeface="Calibri" pitchFamily="34" charset="-122"/>
                <a:cs typeface="Calibri" pitchFamily="34" charset="-120"/>
              </a:rPr>
              <a:t>[1]   Lin et al., “Microsoft COCO: Common Objects in Context,” ECCV, 2014.</a:t>
            </a:r>
            <a:endParaRPr lang="en-US" sz="1100" dirty="0"/>
          </a:p>
          <a:p>
            <a:pPr indent="0" marL="0">
              <a:spcAft>
                <a:spcPts val="1000"/>
              </a:spcAft>
              <a:buNone/>
            </a:pPr>
            <a:r>
              <a:rPr lang="en-US" sz="1100" dirty="0">
                <a:solidFill>
                  <a:srgbClr val="6E6E6E"/>
                </a:solidFill>
                <a:latin typeface="Calibri" pitchFamily="34" charset="0"/>
                <a:ea typeface="Calibri" pitchFamily="34" charset="-122"/>
                <a:cs typeface="Calibri" pitchFamily="34" charset="-120"/>
              </a:rPr>
              <a:t>[2]   He, Gkioxari, Dollár, Girshick, “Mask R-CNN,” ICCV, 2017.</a:t>
            </a:r>
            <a:endParaRPr lang="en-US" sz="1100" dirty="0"/>
          </a:p>
          <a:p>
            <a:pPr indent="0" marL="0">
              <a:spcAft>
                <a:spcPts val="1000"/>
              </a:spcAft>
              <a:buNone/>
            </a:pPr>
            <a:r>
              <a:rPr lang="en-US" sz="1100" dirty="0">
                <a:solidFill>
                  <a:srgbClr val="6E6E6E"/>
                </a:solidFill>
                <a:latin typeface="Calibri" pitchFamily="34" charset="0"/>
                <a:ea typeface="Calibri" pitchFamily="34" charset="-122"/>
                <a:cs typeface="Calibri" pitchFamily="34" charset="-120"/>
              </a:rPr>
              <a:t>[3]   Bolya, Zhou, Xiao, Lee, “YOLACT: Real-time Instance Segmentation,” ICCV, 2019.</a:t>
            </a:r>
            <a:endParaRPr lang="en-US" sz="1100" dirty="0"/>
          </a:p>
          <a:p>
            <a:pPr indent="0" marL="0">
              <a:spcAft>
                <a:spcPts val="1000"/>
              </a:spcAft>
              <a:buNone/>
            </a:pPr>
            <a:r>
              <a:rPr lang="en-US" sz="1100" dirty="0">
                <a:solidFill>
                  <a:srgbClr val="6E6E6E"/>
                </a:solidFill>
                <a:latin typeface="Calibri" pitchFamily="34" charset="0"/>
                <a:ea typeface="Calibri" pitchFamily="34" charset="-122"/>
                <a:cs typeface="Calibri" pitchFamily="34" charset="-120"/>
              </a:rPr>
              <a:t>[4]   Wang et al., “SOLOv2: Dynamic and Fast Instance Segmentation,” NeurIPS, 2020.</a:t>
            </a:r>
            <a:endParaRPr lang="en-US" sz="1100" dirty="0"/>
          </a:p>
          <a:p>
            <a:pPr indent="0" marL="0">
              <a:spcAft>
                <a:spcPts val="1000"/>
              </a:spcAft>
              <a:buNone/>
            </a:pPr>
            <a:r>
              <a:rPr lang="en-US" sz="1100" dirty="0">
                <a:solidFill>
                  <a:srgbClr val="6E6E6E"/>
                </a:solidFill>
                <a:latin typeface="Calibri" pitchFamily="34" charset="0"/>
                <a:ea typeface="Calibri" pitchFamily="34" charset="-122"/>
                <a:cs typeface="Calibri" pitchFamily="34" charset="-120"/>
              </a:rPr>
              <a:t>[5]   Cheng et al., “Masked-attention Mask Transformer,” CVPR, 2022.</a:t>
            </a:r>
            <a:endParaRPr lang="en-US" sz="1100" dirty="0"/>
          </a:p>
          <a:p>
            <a:pPr indent="0" marL="0">
              <a:spcAft>
                <a:spcPts val="1000"/>
              </a:spcAft>
              <a:buNone/>
            </a:pPr>
            <a:r>
              <a:rPr lang="en-US" sz="1100" dirty="0">
                <a:solidFill>
                  <a:srgbClr val="6E6E6E"/>
                </a:solidFill>
                <a:latin typeface="Calibri" pitchFamily="34" charset="0"/>
                <a:ea typeface="Calibri" pitchFamily="34" charset="-122"/>
                <a:cs typeface="Calibri" pitchFamily="34" charset="-120"/>
              </a:rPr>
              <a:t>[6]   Jocher, Chaurasia, Qiu, “Ultralytics YOLOv8,” 2023.</a:t>
            </a:r>
            <a:endParaRPr lang="en-US" sz="1100" dirty="0"/>
          </a:p>
          <a:p>
            <a:pPr indent="0" marL="0">
              <a:spcAft>
                <a:spcPts val="1000"/>
              </a:spcAft>
              <a:buNone/>
            </a:pPr>
            <a:r>
              <a:rPr lang="en-US" sz="1100" dirty="0">
                <a:solidFill>
                  <a:srgbClr val="6E6E6E"/>
                </a:solidFill>
                <a:latin typeface="Calibri" pitchFamily="34" charset="0"/>
                <a:ea typeface="Calibri" pitchFamily="34" charset="-122"/>
                <a:cs typeface="Calibri" pitchFamily="34" charset="-120"/>
              </a:rPr>
              <a:t>[7]   Lüddecke, Ecker, “Image Segmentation Using Text and Image Prompts,” CVPR, 2022.</a:t>
            </a:r>
            <a:endParaRPr lang="en-US" sz="1100" dirty="0"/>
          </a:p>
          <a:p>
            <a:pPr indent="0" marL="0">
              <a:spcAft>
                <a:spcPts val="1000"/>
              </a:spcAft>
              <a:buNone/>
            </a:pPr>
            <a:r>
              <a:rPr lang="en-US" sz="1100" dirty="0">
                <a:solidFill>
                  <a:srgbClr val="6E6E6E"/>
                </a:solidFill>
                <a:latin typeface="Calibri" pitchFamily="34" charset="0"/>
                <a:ea typeface="Calibri" pitchFamily="34" charset="-122"/>
                <a:cs typeface="Calibri" pitchFamily="34" charset="-120"/>
              </a:rPr>
              <a:t>[8]   Yang et al., “LAVT: Language-Aware Vision Transformer,” CVPR, 2022.</a:t>
            </a:r>
            <a:endParaRPr lang="en-US" sz="1100" dirty="0"/>
          </a:p>
          <a:p>
            <a:pPr indent="0" marL="0">
              <a:spcAft>
                <a:spcPts val="1000"/>
              </a:spcAft>
              <a:buNone/>
            </a:pPr>
            <a:r>
              <a:rPr lang="en-US" sz="1100" dirty="0">
                <a:solidFill>
                  <a:srgbClr val="6E6E6E"/>
                </a:solidFill>
                <a:latin typeface="Calibri" pitchFamily="34" charset="0"/>
                <a:ea typeface="Calibri" pitchFamily="34" charset="-122"/>
                <a:cs typeface="Calibri" pitchFamily="34" charset="-120"/>
              </a:rPr>
              <a:t>[9]   Kirillov et al., “Segment Anything,” ICCV, 2023.</a:t>
            </a:r>
            <a:endParaRPr lang="en-US" sz="1100" dirty="0"/>
          </a:p>
          <a:p>
            <a:pPr indent="0" marL="0">
              <a:spcAft>
                <a:spcPts val="1000"/>
              </a:spcAft>
              <a:buNone/>
            </a:pPr>
            <a:r>
              <a:rPr lang="en-US" sz="1100" dirty="0">
                <a:solidFill>
                  <a:srgbClr val="6E6E6E"/>
                </a:solidFill>
                <a:latin typeface="Calibri" pitchFamily="34" charset="0"/>
                <a:ea typeface="Calibri" pitchFamily="34" charset="-122"/>
                <a:cs typeface="Calibri" pitchFamily="34" charset="-120"/>
              </a:rPr>
              <a:t>[10]  Ren et al., “Grounded SAM,” arXiv, 2024.</a:t>
            </a:r>
            <a:endParaRPr lang="en-US" sz="1100" dirty="0"/>
          </a:p>
        </p:txBody>
      </p:sp>
      <p:sp>
        <p:nvSpPr>
          <p:cNvPr id="8" name="Text 6"/>
          <p:cNvSpPr/>
          <p:nvPr/>
        </p:nvSpPr>
        <p:spPr>
          <a:xfrm>
            <a:off x="6263640" y="1828800"/>
            <a:ext cx="5120640" cy="3657600"/>
          </a:xfrm>
          <a:prstGeom prst="rect">
            <a:avLst/>
          </a:prstGeom>
          <a:noFill/>
          <a:ln/>
        </p:spPr>
        <p:txBody>
          <a:bodyPr wrap="square" lIns="0" tIns="0" rIns="0" bIns="0" rtlCol="0" anchor="ctr"/>
          <a:lstStyle/>
          <a:p>
            <a:pPr indent="0" marL="0">
              <a:spcAft>
                <a:spcPts val="1000"/>
              </a:spcAft>
              <a:buNone/>
            </a:pPr>
            <a:r>
              <a:rPr lang="en-US" sz="1100" dirty="0">
                <a:solidFill>
                  <a:srgbClr val="6E6E6E"/>
                </a:solidFill>
                <a:latin typeface="Calibri" pitchFamily="34" charset="0"/>
                <a:ea typeface="Calibri" pitchFamily="34" charset="-122"/>
                <a:cs typeface="Calibri" pitchFamily="34" charset="-120"/>
              </a:rPr>
              <a:t>[11]  Lai et al., “LISA: Reasoning Segmentation via LLM,” CVPR, 2024.</a:t>
            </a:r>
            <a:endParaRPr lang="en-US" sz="1100" dirty="0"/>
          </a:p>
          <a:p>
            <a:pPr indent="0" marL="0">
              <a:spcAft>
                <a:spcPts val="1000"/>
              </a:spcAft>
              <a:buNone/>
            </a:pPr>
            <a:r>
              <a:rPr lang="en-US" sz="1100" dirty="0">
                <a:solidFill>
                  <a:srgbClr val="6E6E6E"/>
                </a:solidFill>
                <a:latin typeface="Calibri" pitchFamily="34" charset="0"/>
                <a:ea typeface="Calibri" pitchFamily="34" charset="-122"/>
                <a:cs typeface="Calibri" pitchFamily="34" charset="-120"/>
              </a:rPr>
              <a:t>[12]  Brooks, Holynski, Efros, “InstructPix2Pix,” CVPR, 2023.</a:t>
            </a:r>
            <a:endParaRPr lang="en-US" sz="1100" dirty="0"/>
          </a:p>
          <a:p>
            <a:pPr indent="0" marL="0">
              <a:spcAft>
                <a:spcPts val="1000"/>
              </a:spcAft>
              <a:buNone/>
            </a:pPr>
            <a:r>
              <a:rPr lang="en-US" sz="1100" dirty="0">
                <a:solidFill>
                  <a:srgbClr val="6E6E6E"/>
                </a:solidFill>
                <a:latin typeface="Calibri" pitchFamily="34" charset="0"/>
                <a:ea typeface="Calibri" pitchFamily="34" charset="-122"/>
                <a:cs typeface="Calibri" pitchFamily="34" charset="-120"/>
              </a:rPr>
              <a:t>[13]  Rombach et al., “High-Resolution Image Synthesis with Latent Diffusion,” CVPR, 2022.</a:t>
            </a:r>
            <a:endParaRPr lang="en-US" sz="1100" dirty="0"/>
          </a:p>
          <a:p>
            <a:pPr indent="0" marL="0">
              <a:spcAft>
                <a:spcPts val="1000"/>
              </a:spcAft>
              <a:buNone/>
            </a:pPr>
            <a:r>
              <a:rPr lang="en-US" sz="1100" dirty="0">
                <a:solidFill>
                  <a:srgbClr val="6E6E6E"/>
                </a:solidFill>
                <a:latin typeface="Calibri" pitchFamily="34" charset="0"/>
                <a:ea typeface="Calibri" pitchFamily="34" charset="-122"/>
                <a:cs typeface="Calibri" pitchFamily="34" charset="-120"/>
              </a:rPr>
              <a:t>[14]  Zhang, Rao, Agrawala, “Adding Conditional Control,” ICCV, 2023.</a:t>
            </a:r>
            <a:endParaRPr lang="en-US" sz="1100" dirty="0"/>
          </a:p>
          <a:p>
            <a:pPr indent="0" marL="0">
              <a:spcAft>
                <a:spcPts val="1000"/>
              </a:spcAft>
              <a:buNone/>
            </a:pPr>
            <a:r>
              <a:rPr lang="en-US" sz="1100" dirty="0">
                <a:solidFill>
                  <a:srgbClr val="6E6E6E"/>
                </a:solidFill>
                <a:latin typeface="Calibri" pitchFamily="34" charset="0"/>
                <a:ea typeface="Calibri" pitchFamily="34" charset="-122"/>
                <a:cs typeface="Calibri" pitchFamily="34" charset="-120"/>
              </a:rPr>
              <a:t>[15]  Couairon et al., “DiffEdit,” ICLR, 2023.</a:t>
            </a:r>
            <a:endParaRPr lang="en-US" sz="1100" dirty="0"/>
          </a:p>
          <a:p>
            <a:pPr indent="0" marL="0">
              <a:spcAft>
                <a:spcPts val="1000"/>
              </a:spcAft>
              <a:buNone/>
            </a:pPr>
            <a:r>
              <a:rPr lang="en-US" sz="1100" dirty="0">
                <a:solidFill>
                  <a:srgbClr val="6E6E6E"/>
                </a:solidFill>
                <a:latin typeface="Calibri" pitchFamily="34" charset="0"/>
                <a:ea typeface="Calibri" pitchFamily="34" charset="-122"/>
                <a:cs typeface="Calibri" pitchFamily="34" charset="-120"/>
              </a:rPr>
              <a:t>[16]  Hertz et al., “Prompt-to-Prompt,” ICLR, 2023.</a:t>
            </a:r>
            <a:endParaRPr lang="en-US" sz="1100" dirty="0"/>
          </a:p>
          <a:p>
            <a:pPr indent="0" marL="0">
              <a:spcAft>
                <a:spcPts val="1000"/>
              </a:spcAft>
              <a:buNone/>
            </a:pPr>
            <a:r>
              <a:rPr lang="en-US" sz="1100" dirty="0">
                <a:solidFill>
                  <a:srgbClr val="6E6E6E"/>
                </a:solidFill>
                <a:latin typeface="Calibri" pitchFamily="34" charset="0"/>
                <a:ea typeface="Calibri" pitchFamily="34" charset="-122"/>
                <a:cs typeface="Calibri" pitchFamily="34" charset="-120"/>
              </a:rPr>
              <a:t>[17]  Singla et al., “From Pixels to Prose (PixelProse),” arXiv, 2024.</a:t>
            </a:r>
            <a:endParaRPr lang="en-US" sz="1100" dirty="0"/>
          </a:p>
          <a:p>
            <a:pPr indent="0" marL="0">
              <a:spcAft>
                <a:spcPts val="1000"/>
              </a:spcAft>
              <a:buNone/>
            </a:pPr>
            <a:r>
              <a:rPr lang="en-US" sz="1100" dirty="0">
                <a:solidFill>
                  <a:srgbClr val="6E6E6E"/>
                </a:solidFill>
                <a:latin typeface="Calibri" pitchFamily="34" charset="0"/>
                <a:ea typeface="Calibri" pitchFamily="34" charset="-122"/>
                <a:cs typeface="Calibri" pitchFamily="34" charset="-120"/>
              </a:rPr>
              <a:t>[18]  Gemma Team, “Gemma 3 Technical Report,” Google DeepMind, 2025.</a:t>
            </a:r>
            <a:endParaRPr lang="en-US" sz="1100" dirty="0"/>
          </a:p>
          <a:p>
            <a:pPr indent="0" marL="0">
              <a:spcAft>
                <a:spcPts val="1000"/>
              </a:spcAft>
              <a:buNone/>
            </a:pPr>
            <a:r>
              <a:rPr lang="en-US" sz="1100" dirty="0">
                <a:solidFill>
                  <a:srgbClr val="6E6E6E"/>
                </a:solidFill>
                <a:latin typeface="Calibri" pitchFamily="34" charset="0"/>
                <a:ea typeface="Calibri" pitchFamily="34" charset="-122"/>
                <a:cs typeface="Calibri" pitchFamily="34" charset="-120"/>
              </a:rPr>
              <a:t>[19]  Radford et al., “Learning Transferable Visual Models (CLIP),” ICML, 2021.</a:t>
            </a:r>
            <a:endParaRPr lang="en-US" sz="1100" dirty="0"/>
          </a:p>
          <a:p>
            <a:pPr indent="0" marL="0">
              <a:spcAft>
                <a:spcPts val="1000"/>
              </a:spcAft>
              <a:buNone/>
            </a:pPr>
            <a:r>
              <a:rPr lang="en-US" sz="1100" dirty="0">
                <a:solidFill>
                  <a:srgbClr val="6E6E6E"/>
                </a:solidFill>
                <a:latin typeface="Calibri" pitchFamily="34" charset="0"/>
                <a:ea typeface="Calibri" pitchFamily="34" charset="-122"/>
                <a:cs typeface="Calibri" pitchFamily="34" charset="-120"/>
              </a:rPr>
              <a:t>[20]  Dosovitskiy et al., “An Image is Worth 16x16 Words (ViT),” ICLR, 2021.</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Instruct-Seg-Edit — Review 1</dc:title>
  <dc:subject>PptxGenJS Presentation</dc:subject>
  <dc:creator>Amritha S; Yugeshwaran P</dc:creator>
  <cp:lastModifiedBy>Amritha S; Yugeshwaran P</cp:lastModifiedBy>
  <cp:revision>1</cp:revision>
  <dcterms:created xsi:type="dcterms:W3CDTF">2026-08-17T19:34:36Z</dcterms:created>
  <dcterms:modified xsi:type="dcterms:W3CDTF">2026-08-17T19:34:36Z</dcterms:modified>
</cp:coreProperties>
</file>